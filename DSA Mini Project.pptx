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ptos Bold" charset="1" panose="020B0004020202020204"/>
      <p:regular r:id="rId18"/>
    </p:embeddedFont>
    <p:embeddedFont>
      <p:font typeface="Aptos" charset="1" panose="020B0004020202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121F37"/>
            </a:solidFill>
          </p:spPr>
        </p:sp>
      </p:grpSp>
      <p:grpSp>
        <p:nvGrpSpPr>
          <p:cNvPr name="Group 4" id="4"/>
          <p:cNvGrpSpPr/>
          <p:nvPr/>
        </p:nvGrpSpPr>
        <p:grpSpPr>
          <a:xfrm rot="0">
            <a:off x="12765853" y="0"/>
            <a:ext cx="5490686" cy="247079"/>
            <a:chOff x="0" y="0"/>
            <a:chExt cx="7320915" cy="329438"/>
          </a:xfrm>
        </p:grpSpPr>
        <p:sp>
          <p:nvSpPr>
            <p:cNvPr name="Freeform 5" id="5"/>
            <p:cNvSpPr/>
            <p:nvPr/>
          </p:nvSpPr>
          <p:spPr>
            <a:xfrm flipH="false" flipV="false" rot="0">
              <a:off x="0" y="0"/>
              <a:ext cx="7320915" cy="329438"/>
            </a:xfrm>
            <a:custGeom>
              <a:avLst/>
              <a:gdLst/>
              <a:ahLst/>
              <a:cxnLst/>
              <a:rect r="r" b="b" t="t" l="l"/>
              <a:pathLst>
                <a:path h="329438" w="7320915">
                  <a:moveTo>
                    <a:pt x="0" y="0"/>
                  </a:moveTo>
                  <a:lnTo>
                    <a:pt x="7320915" y="0"/>
                  </a:lnTo>
                  <a:lnTo>
                    <a:pt x="7320915" y="329438"/>
                  </a:lnTo>
                  <a:lnTo>
                    <a:pt x="0" y="329438"/>
                  </a:lnTo>
                  <a:close/>
                </a:path>
              </a:pathLst>
            </a:custGeom>
            <a:solidFill>
              <a:srgbClr val="1A9191"/>
            </a:solidFill>
          </p:spPr>
        </p:sp>
      </p:grpSp>
      <p:grpSp>
        <p:nvGrpSpPr>
          <p:cNvPr name="Group 6" id="6"/>
          <p:cNvGrpSpPr/>
          <p:nvPr/>
        </p:nvGrpSpPr>
        <p:grpSpPr>
          <a:xfrm rot="0">
            <a:off x="14413059" y="247079"/>
            <a:ext cx="3843480" cy="109814"/>
            <a:chOff x="0" y="0"/>
            <a:chExt cx="5124640" cy="146418"/>
          </a:xfrm>
        </p:grpSpPr>
        <p:sp>
          <p:nvSpPr>
            <p:cNvPr name="Freeform 7" id="7"/>
            <p:cNvSpPr/>
            <p:nvPr/>
          </p:nvSpPr>
          <p:spPr>
            <a:xfrm flipH="false" flipV="false" rot="0">
              <a:off x="0" y="0"/>
              <a:ext cx="5124704" cy="146431"/>
            </a:xfrm>
            <a:custGeom>
              <a:avLst/>
              <a:gdLst/>
              <a:ahLst/>
              <a:cxnLst/>
              <a:rect r="r" b="b" t="t" l="l"/>
              <a:pathLst>
                <a:path h="146431" w="5124704">
                  <a:moveTo>
                    <a:pt x="0" y="0"/>
                  </a:moveTo>
                  <a:lnTo>
                    <a:pt x="5124704" y="0"/>
                  </a:lnTo>
                  <a:lnTo>
                    <a:pt x="5124704" y="146431"/>
                  </a:lnTo>
                  <a:lnTo>
                    <a:pt x="0" y="146431"/>
                  </a:lnTo>
                  <a:close/>
                </a:path>
              </a:pathLst>
            </a:custGeom>
            <a:solidFill>
              <a:srgbClr val="46B5C4"/>
            </a:solidFill>
          </p:spPr>
        </p:sp>
      </p:grpSp>
      <p:grpSp>
        <p:nvGrpSpPr>
          <p:cNvPr name="Group 8" id="8"/>
          <p:cNvGrpSpPr/>
          <p:nvPr/>
        </p:nvGrpSpPr>
        <p:grpSpPr>
          <a:xfrm rot="0">
            <a:off x="12216784" y="9540069"/>
            <a:ext cx="6039755" cy="754971"/>
            <a:chOff x="0" y="0"/>
            <a:chExt cx="8053006" cy="1006627"/>
          </a:xfrm>
        </p:grpSpPr>
        <p:sp>
          <p:nvSpPr>
            <p:cNvPr name="Freeform 9" id="9"/>
            <p:cNvSpPr/>
            <p:nvPr/>
          </p:nvSpPr>
          <p:spPr>
            <a:xfrm flipH="false" flipV="false" rot="0">
              <a:off x="0" y="0"/>
              <a:ext cx="8053070" cy="1006602"/>
            </a:xfrm>
            <a:custGeom>
              <a:avLst/>
              <a:gdLst/>
              <a:ahLst/>
              <a:cxnLst/>
              <a:rect r="r" b="b" t="t" l="l"/>
              <a:pathLst>
                <a:path h="1006602" w="8053070">
                  <a:moveTo>
                    <a:pt x="0" y="0"/>
                  </a:moveTo>
                  <a:lnTo>
                    <a:pt x="8053070" y="0"/>
                  </a:lnTo>
                  <a:lnTo>
                    <a:pt x="8053070" y="1006602"/>
                  </a:lnTo>
                  <a:lnTo>
                    <a:pt x="0" y="1006602"/>
                  </a:lnTo>
                  <a:close/>
                </a:path>
              </a:pathLst>
            </a:custGeom>
            <a:solidFill>
              <a:srgbClr val="2B5DA6"/>
            </a:solidFill>
          </p:spPr>
        </p:sp>
      </p:grpSp>
      <p:sp>
        <p:nvSpPr>
          <p:cNvPr name="TextBox 10" id="10"/>
          <p:cNvSpPr txBox="true"/>
          <p:nvPr/>
        </p:nvSpPr>
        <p:spPr>
          <a:xfrm rot="0">
            <a:off x="1189577" y="1898828"/>
            <a:ext cx="10112159" cy="663531"/>
          </a:xfrm>
          <a:prstGeom prst="rect">
            <a:avLst/>
          </a:prstGeom>
        </p:spPr>
        <p:txBody>
          <a:bodyPr anchor="t" rtlCol="false" tIns="0" lIns="0" bIns="0" rIns="0">
            <a:spAutoFit/>
          </a:bodyPr>
          <a:lstStyle/>
          <a:p>
            <a:pPr algn="l">
              <a:lnSpc>
                <a:spcPts val="3062"/>
              </a:lnSpc>
            </a:pPr>
            <a:r>
              <a:rPr lang="en-US" sz="2551" b="true">
                <a:solidFill>
                  <a:srgbClr val="46B5C4"/>
                </a:solidFill>
                <a:latin typeface="Aptos Bold"/>
                <a:ea typeface="Aptos Bold"/>
                <a:cs typeface="Aptos Bold"/>
                <a:sym typeface="Aptos Bold"/>
              </a:rPr>
              <a:t>SMART STUDENT</a:t>
            </a:r>
          </a:p>
        </p:txBody>
      </p:sp>
      <p:sp>
        <p:nvSpPr>
          <p:cNvPr name="TextBox 11" id="11"/>
          <p:cNvSpPr txBox="true"/>
          <p:nvPr/>
        </p:nvSpPr>
        <p:spPr>
          <a:xfrm rot="0">
            <a:off x="1189577" y="2712911"/>
            <a:ext cx="14641982" cy="1359389"/>
          </a:xfrm>
          <a:prstGeom prst="rect">
            <a:avLst/>
          </a:prstGeom>
        </p:spPr>
        <p:txBody>
          <a:bodyPr anchor="t" rtlCol="false" tIns="0" lIns="0" bIns="0" rIns="0">
            <a:spAutoFit/>
          </a:bodyPr>
          <a:lstStyle/>
          <a:p>
            <a:pPr algn="l">
              <a:lnSpc>
                <a:spcPts val="5944"/>
              </a:lnSpc>
            </a:pPr>
            <a:r>
              <a:rPr lang="en-US" sz="4953" b="true">
                <a:solidFill>
                  <a:srgbClr val="FFFFFF"/>
                </a:solidFill>
                <a:latin typeface="Aptos Bold"/>
                <a:ea typeface="Aptos Bold"/>
                <a:cs typeface="Aptos Bold"/>
                <a:sym typeface="Aptos Bold"/>
              </a:rPr>
              <a:t>SEARCH &amp; RANKING SYSTEM</a:t>
            </a:r>
          </a:p>
        </p:txBody>
      </p:sp>
      <p:sp>
        <p:nvSpPr>
          <p:cNvPr name="TextBox 12" id="12"/>
          <p:cNvSpPr txBox="true"/>
          <p:nvPr/>
        </p:nvSpPr>
        <p:spPr>
          <a:xfrm rot="0">
            <a:off x="1217028" y="4301004"/>
            <a:ext cx="11347571" cy="1281236"/>
          </a:xfrm>
          <a:prstGeom prst="rect">
            <a:avLst/>
          </a:prstGeom>
        </p:spPr>
        <p:txBody>
          <a:bodyPr anchor="t" rtlCol="false" tIns="0" lIns="0" bIns="0" rIns="0">
            <a:spAutoFit/>
          </a:bodyPr>
          <a:lstStyle/>
          <a:p>
            <a:pPr algn="l">
              <a:lnSpc>
                <a:spcPts val="2882"/>
              </a:lnSpc>
            </a:pPr>
            <a:r>
              <a:rPr lang="en-US" sz="2401">
                <a:solidFill>
                  <a:srgbClr val="DEE6F0"/>
                </a:solidFill>
                <a:latin typeface="Aptos"/>
                <a:ea typeface="Aptos"/>
                <a:cs typeface="Aptos"/>
                <a:sym typeface="Aptos"/>
              </a:rPr>
              <a:t>A C-based console project for storing, searching, sorting,</a:t>
            </a:r>
          </a:p>
          <a:p>
            <a:pPr algn="l">
              <a:lnSpc>
                <a:spcPts val="2882"/>
              </a:lnSpc>
            </a:pPr>
            <a:r>
              <a:rPr lang="en-US" sz="2401">
                <a:solidFill>
                  <a:srgbClr val="DEE6F0"/>
                </a:solidFill>
                <a:latin typeface="Aptos"/>
                <a:ea typeface="Aptos"/>
                <a:cs typeface="Aptos"/>
                <a:sym typeface="Aptos"/>
              </a:rPr>
              <a:t>ranking and comparing student records.</a:t>
            </a:r>
          </a:p>
        </p:txBody>
      </p:sp>
      <p:grpSp>
        <p:nvGrpSpPr>
          <p:cNvPr name="Group 13" id="13"/>
          <p:cNvGrpSpPr/>
          <p:nvPr/>
        </p:nvGrpSpPr>
        <p:grpSpPr>
          <a:xfrm rot="0">
            <a:off x="1125588" y="6245657"/>
            <a:ext cx="2264912" cy="521618"/>
            <a:chOff x="0" y="0"/>
            <a:chExt cx="3019882" cy="695490"/>
          </a:xfrm>
        </p:grpSpPr>
        <p:sp>
          <p:nvSpPr>
            <p:cNvPr name="Freeform 14" id="14"/>
            <p:cNvSpPr/>
            <p:nvPr/>
          </p:nvSpPr>
          <p:spPr>
            <a:xfrm flipH="false" flipV="false" rot="0">
              <a:off x="0" y="0"/>
              <a:ext cx="3019933" cy="695579"/>
            </a:xfrm>
            <a:custGeom>
              <a:avLst/>
              <a:gdLst/>
              <a:ahLst/>
              <a:cxnLst/>
              <a:rect r="r" b="b" t="t" l="l"/>
              <a:pathLst>
                <a:path h="695579" w="3019933">
                  <a:moveTo>
                    <a:pt x="0" y="115951"/>
                  </a:moveTo>
                  <a:cubicBezTo>
                    <a:pt x="0" y="51943"/>
                    <a:pt x="51943" y="0"/>
                    <a:pt x="115951" y="0"/>
                  </a:cubicBezTo>
                  <a:lnTo>
                    <a:pt x="2903982" y="0"/>
                  </a:lnTo>
                  <a:cubicBezTo>
                    <a:pt x="2967990" y="0"/>
                    <a:pt x="3019933" y="51943"/>
                    <a:pt x="3019933" y="115951"/>
                  </a:cubicBezTo>
                  <a:lnTo>
                    <a:pt x="3019933" y="579628"/>
                  </a:lnTo>
                  <a:cubicBezTo>
                    <a:pt x="3019933" y="643636"/>
                    <a:pt x="2967990" y="695579"/>
                    <a:pt x="2903982" y="695579"/>
                  </a:cubicBezTo>
                  <a:lnTo>
                    <a:pt x="115951" y="695579"/>
                  </a:lnTo>
                  <a:cubicBezTo>
                    <a:pt x="51943" y="695452"/>
                    <a:pt x="0" y="643636"/>
                    <a:pt x="0" y="579628"/>
                  </a:cubicBezTo>
                  <a:close/>
                </a:path>
              </a:pathLst>
            </a:custGeom>
            <a:solidFill>
              <a:srgbClr val="1A9191"/>
            </a:solidFill>
          </p:spPr>
        </p:sp>
      </p:grpSp>
      <p:grpSp>
        <p:nvGrpSpPr>
          <p:cNvPr name="Group 15" id="15"/>
          <p:cNvGrpSpPr/>
          <p:nvPr/>
        </p:nvGrpSpPr>
        <p:grpSpPr>
          <a:xfrm rot="0">
            <a:off x="1125588" y="6273108"/>
            <a:ext cx="2264912" cy="411804"/>
            <a:chOff x="0" y="0"/>
            <a:chExt cx="3019882" cy="549072"/>
          </a:xfrm>
        </p:grpSpPr>
        <p:sp>
          <p:nvSpPr>
            <p:cNvPr name="Freeform 16" id="16"/>
            <p:cNvSpPr/>
            <p:nvPr/>
          </p:nvSpPr>
          <p:spPr>
            <a:xfrm flipH="false" flipV="false" rot="0">
              <a:off x="0" y="0"/>
              <a:ext cx="3019879" cy="549069"/>
            </a:xfrm>
            <a:custGeom>
              <a:avLst/>
              <a:gdLst/>
              <a:ahLst/>
              <a:cxnLst/>
              <a:rect r="r" b="b" t="t" l="l"/>
              <a:pathLst>
                <a:path h="549069" w="3019879">
                  <a:moveTo>
                    <a:pt x="0" y="0"/>
                  </a:moveTo>
                  <a:lnTo>
                    <a:pt x="3019879" y="0"/>
                  </a:lnTo>
                  <a:lnTo>
                    <a:pt x="3019879" y="549069"/>
                  </a:lnTo>
                  <a:lnTo>
                    <a:pt x="0" y="549069"/>
                  </a:lnTo>
                  <a:close/>
                </a:path>
              </a:pathLst>
            </a:custGeom>
            <a:blipFill>
              <a:blip r:embed="rId2">
                <a:alphaModFix amt="0"/>
              </a:blip>
              <a:stretch>
                <a:fillRect l="0" t="-57167" r="0" b="-57168"/>
              </a:stretch>
            </a:blipFill>
          </p:spPr>
        </p:sp>
        <p:sp>
          <p:nvSpPr>
            <p:cNvPr name="TextBox 17" id="17"/>
            <p:cNvSpPr txBox="true"/>
            <p:nvPr/>
          </p:nvSpPr>
          <p:spPr>
            <a:xfrm>
              <a:off x="0" y="0"/>
              <a:ext cx="3019882" cy="549072"/>
            </a:xfrm>
            <a:prstGeom prst="rect">
              <a:avLst/>
            </a:prstGeom>
          </p:spPr>
          <p:txBody>
            <a:bodyPr anchor="ctr" rtlCol="false" tIns="0" lIns="0" bIns="0" rIns="0"/>
            <a:lstStyle/>
            <a:p>
              <a:pPr algn="ctr">
                <a:lnSpc>
                  <a:spcPts val="1801"/>
                </a:lnSpc>
              </a:pPr>
              <a:r>
                <a:rPr lang="en-US" sz="1501" b="true">
                  <a:solidFill>
                    <a:srgbClr val="FFFFFF"/>
                  </a:solidFill>
                  <a:latin typeface="Aptos Bold"/>
                  <a:ea typeface="Aptos Bold"/>
                  <a:cs typeface="Aptos Bold"/>
                  <a:sym typeface="Aptos Bold"/>
                </a:rPr>
                <a:t>C + STRUCTURES</a:t>
              </a:r>
            </a:p>
          </p:txBody>
        </p:sp>
      </p:grpSp>
      <p:grpSp>
        <p:nvGrpSpPr>
          <p:cNvPr name="Group 18" id="18"/>
          <p:cNvGrpSpPr/>
          <p:nvPr/>
        </p:nvGrpSpPr>
        <p:grpSpPr>
          <a:xfrm rot="0">
            <a:off x="3596402" y="6245657"/>
            <a:ext cx="2813980" cy="521618"/>
            <a:chOff x="0" y="0"/>
            <a:chExt cx="3751974" cy="695490"/>
          </a:xfrm>
        </p:grpSpPr>
        <p:sp>
          <p:nvSpPr>
            <p:cNvPr name="Freeform 19" id="19"/>
            <p:cNvSpPr/>
            <p:nvPr/>
          </p:nvSpPr>
          <p:spPr>
            <a:xfrm flipH="false" flipV="false" rot="0">
              <a:off x="0" y="0"/>
              <a:ext cx="3751961" cy="695579"/>
            </a:xfrm>
            <a:custGeom>
              <a:avLst/>
              <a:gdLst/>
              <a:ahLst/>
              <a:cxnLst/>
              <a:rect r="r" b="b" t="t" l="l"/>
              <a:pathLst>
                <a:path h="695579" w="3751961">
                  <a:moveTo>
                    <a:pt x="0" y="115951"/>
                  </a:moveTo>
                  <a:cubicBezTo>
                    <a:pt x="0" y="51943"/>
                    <a:pt x="51943" y="0"/>
                    <a:pt x="115951" y="0"/>
                  </a:cubicBezTo>
                  <a:lnTo>
                    <a:pt x="3636010" y="0"/>
                  </a:lnTo>
                  <a:cubicBezTo>
                    <a:pt x="3700018" y="0"/>
                    <a:pt x="3751961" y="51943"/>
                    <a:pt x="3751961" y="115951"/>
                  </a:cubicBezTo>
                  <a:lnTo>
                    <a:pt x="3751961" y="579628"/>
                  </a:lnTo>
                  <a:cubicBezTo>
                    <a:pt x="3751961" y="643636"/>
                    <a:pt x="3700018" y="695579"/>
                    <a:pt x="3636010" y="695579"/>
                  </a:cubicBezTo>
                  <a:lnTo>
                    <a:pt x="115951" y="695579"/>
                  </a:lnTo>
                  <a:cubicBezTo>
                    <a:pt x="51943" y="695452"/>
                    <a:pt x="0" y="643636"/>
                    <a:pt x="0" y="579628"/>
                  </a:cubicBezTo>
                  <a:close/>
                </a:path>
              </a:pathLst>
            </a:custGeom>
            <a:solidFill>
              <a:srgbClr val="2B5DA6"/>
            </a:solidFill>
          </p:spPr>
        </p:sp>
      </p:grpSp>
      <p:grpSp>
        <p:nvGrpSpPr>
          <p:cNvPr name="Group 20" id="20"/>
          <p:cNvGrpSpPr/>
          <p:nvPr/>
        </p:nvGrpSpPr>
        <p:grpSpPr>
          <a:xfrm rot="0">
            <a:off x="3596402" y="6273108"/>
            <a:ext cx="2813980" cy="411804"/>
            <a:chOff x="0" y="0"/>
            <a:chExt cx="3751974" cy="549072"/>
          </a:xfrm>
        </p:grpSpPr>
        <p:sp>
          <p:nvSpPr>
            <p:cNvPr name="Freeform 21" id="21"/>
            <p:cNvSpPr/>
            <p:nvPr/>
          </p:nvSpPr>
          <p:spPr>
            <a:xfrm flipH="false" flipV="false" rot="0">
              <a:off x="0" y="0"/>
              <a:ext cx="3751969" cy="549069"/>
            </a:xfrm>
            <a:custGeom>
              <a:avLst/>
              <a:gdLst/>
              <a:ahLst/>
              <a:cxnLst/>
              <a:rect r="r" b="b" t="t" l="l"/>
              <a:pathLst>
                <a:path h="549069" w="3751969">
                  <a:moveTo>
                    <a:pt x="0" y="0"/>
                  </a:moveTo>
                  <a:lnTo>
                    <a:pt x="3751969" y="0"/>
                  </a:lnTo>
                  <a:lnTo>
                    <a:pt x="3751969" y="549069"/>
                  </a:lnTo>
                  <a:lnTo>
                    <a:pt x="0" y="549069"/>
                  </a:lnTo>
                  <a:close/>
                </a:path>
              </a:pathLst>
            </a:custGeom>
            <a:blipFill>
              <a:blip r:embed="rId2">
                <a:alphaModFix amt="0"/>
              </a:blip>
              <a:stretch>
                <a:fillRect l="0" t="-83147" r="0" b="-83148"/>
              </a:stretch>
            </a:blipFill>
          </p:spPr>
        </p:sp>
        <p:sp>
          <p:nvSpPr>
            <p:cNvPr name="TextBox 22" id="22"/>
            <p:cNvSpPr txBox="true"/>
            <p:nvPr/>
          </p:nvSpPr>
          <p:spPr>
            <a:xfrm>
              <a:off x="0" y="0"/>
              <a:ext cx="3751974" cy="549072"/>
            </a:xfrm>
            <a:prstGeom prst="rect">
              <a:avLst/>
            </a:prstGeom>
          </p:spPr>
          <p:txBody>
            <a:bodyPr anchor="ctr" rtlCol="false" tIns="0" lIns="0" bIns="0" rIns="0"/>
            <a:lstStyle/>
            <a:p>
              <a:pPr algn="ctr">
                <a:lnSpc>
                  <a:spcPts val="1801"/>
                </a:lnSpc>
              </a:pPr>
              <a:r>
                <a:rPr lang="en-US" sz="1501" b="true">
                  <a:solidFill>
                    <a:srgbClr val="FFFFFF"/>
                  </a:solidFill>
                  <a:latin typeface="Aptos Bold"/>
                  <a:ea typeface="Aptos Bold"/>
                  <a:cs typeface="Aptos Bold"/>
                  <a:sym typeface="Aptos Bold"/>
                </a:rPr>
                <a:t>4 SEARCH ALGORITHMS</a:t>
              </a:r>
            </a:p>
          </p:txBody>
        </p:sp>
      </p:grpSp>
      <p:grpSp>
        <p:nvGrpSpPr>
          <p:cNvPr name="Group 23" id="23"/>
          <p:cNvGrpSpPr/>
          <p:nvPr/>
        </p:nvGrpSpPr>
        <p:grpSpPr>
          <a:xfrm rot="0">
            <a:off x="6616284" y="6245657"/>
            <a:ext cx="2910068" cy="521618"/>
            <a:chOff x="0" y="0"/>
            <a:chExt cx="3880091" cy="695490"/>
          </a:xfrm>
        </p:grpSpPr>
        <p:sp>
          <p:nvSpPr>
            <p:cNvPr name="Freeform 24" id="24"/>
            <p:cNvSpPr/>
            <p:nvPr/>
          </p:nvSpPr>
          <p:spPr>
            <a:xfrm flipH="false" flipV="false" rot="0">
              <a:off x="0" y="0"/>
              <a:ext cx="3880104" cy="695579"/>
            </a:xfrm>
            <a:custGeom>
              <a:avLst/>
              <a:gdLst/>
              <a:ahLst/>
              <a:cxnLst/>
              <a:rect r="r" b="b" t="t" l="l"/>
              <a:pathLst>
                <a:path h="695579" w="3880104">
                  <a:moveTo>
                    <a:pt x="0" y="115951"/>
                  </a:moveTo>
                  <a:cubicBezTo>
                    <a:pt x="0" y="51943"/>
                    <a:pt x="51943" y="0"/>
                    <a:pt x="115951" y="0"/>
                  </a:cubicBezTo>
                  <a:lnTo>
                    <a:pt x="3764153" y="0"/>
                  </a:lnTo>
                  <a:cubicBezTo>
                    <a:pt x="3828161" y="0"/>
                    <a:pt x="3880104" y="51943"/>
                    <a:pt x="3880104" y="115951"/>
                  </a:cubicBezTo>
                  <a:lnTo>
                    <a:pt x="3880104" y="579628"/>
                  </a:lnTo>
                  <a:cubicBezTo>
                    <a:pt x="3880104" y="643636"/>
                    <a:pt x="3828161" y="695579"/>
                    <a:pt x="3764153" y="695579"/>
                  </a:cubicBezTo>
                  <a:lnTo>
                    <a:pt x="115951" y="695579"/>
                  </a:lnTo>
                  <a:cubicBezTo>
                    <a:pt x="51943" y="695452"/>
                    <a:pt x="0" y="643636"/>
                    <a:pt x="0" y="579628"/>
                  </a:cubicBezTo>
                  <a:close/>
                </a:path>
              </a:pathLst>
            </a:custGeom>
            <a:solidFill>
              <a:srgbClr val="EF8F3E"/>
            </a:solidFill>
          </p:spPr>
        </p:sp>
      </p:grpSp>
      <p:grpSp>
        <p:nvGrpSpPr>
          <p:cNvPr name="Group 25" id="25"/>
          <p:cNvGrpSpPr/>
          <p:nvPr/>
        </p:nvGrpSpPr>
        <p:grpSpPr>
          <a:xfrm rot="0">
            <a:off x="6616284" y="6273108"/>
            <a:ext cx="2910068" cy="411804"/>
            <a:chOff x="0" y="0"/>
            <a:chExt cx="3880091" cy="549072"/>
          </a:xfrm>
        </p:grpSpPr>
        <p:sp>
          <p:nvSpPr>
            <p:cNvPr name="Freeform 26" id="26"/>
            <p:cNvSpPr/>
            <p:nvPr/>
          </p:nvSpPr>
          <p:spPr>
            <a:xfrm flipH="false" flipV="false" rot="0">
              <a:off x="0" y="0"/>
              <a:ext cx="3880087" cy="549069"/>
            </a:xfrm>
            <a:custGeom>
              <a:avLst/>
              <a:gdLst/>
              <a:ahLst/>
              <a:cxnLst/>
              <a:rect r="r" b="b" t="t" l="l"/>
              <a:pathLst>
                <a:path h="549069" w="3880087">
                  <a:moveTo>
                    <a:pt x="0" y="0"/>
                  </a:moveTo>
                  <a:lnTo>
                    <a:pt x="3880087" y="0"/>
                  </a:lnTo>
                  <a:lnTo>
                    <a:pt x="3880087" y="549069"/>
                  </a:lnTo>
                  <a:lnTo>
                    <a:pt x="0" y="549069"/>
                  </a:lnTo>
                  <a:close/>
                </a:path>
              </a:pathLst>
            </a:custGeom>
            <a:blipFill>
              <a:blip r:embed="rId2">
                <a:alphaModFix amt="0"/>
              </a:blip>
              <a:stretch>
                <a:fillRect l="0" t="-87694" r="0" b="-87694"/>
              </a:stretch>
            </a:blipFill>
          </p:spPr>
        </p:sp>
        <p:sp>
          <p:nvSpPr>
            <p:cNvPr name="TextBox 27" id="27"/>
            <p:cNvSpPr txBox="true"/>
            <p:nvPr/>
          </p:nvSpPr>
          <p:spPr>
            <a:xfrm>
              <a:off x="0" y="0"/>
              <a:ext cx="3880091" cy="549072"/>
            </a:xfrm>
            <a:prstGeom prst="rect">
              <a:avLst/>
            </a:prstGeom>
          </p:spPr>
          <p:txBody>
            <a:bodyPr anchor="ctr" rtlCol="false" tIns="0" lIns="0" bIns="0" rIns="0"/>
            <a:lstStyle/>
            <a:p>
              <a:pPr algn="ctr">
                <a:lnSpc>
                  <a:spcPts val="1801"/>
                </a:lnSpc>
              </a:pPr>
              <a:r>
                <a:rPr lang="en-US" sz="1501" b="true">
                  <a:solidFill>
                    <a:srgbClr val="FFFFFF"/>
                  </a:solidFill>
                  <a:latin typeface="Aptos Bold"/>
                  <a:ea typeface="Aptos Bold"/>
                  <a:cs typeface="Aptos Bold"/>
                  <a:sym typeface="Aptos Bold"/>
                </a:rPr>
                <a:t>8 SORTING ALGORITHMS</a:t>
              </a:r>
            </a:p>
          </p:txBody>
        </p:sp>
      </p:grpSp>
      <p:grpSp>
        <p:nvGrpSpPr>
          <p:cNvPr name="Group 28" id="28"/>
          <p:cNvGrpSpPr/>
          <p:nvPr/>
        </p:nvGrpSpPr>
        <p:grpSpPr>
          <a:xfrm rot="0">
            <a:off x="9745970" y="6245657"/>
            <a:ext cx="2264912" cy="521618"/>
            <a:chOff x="0" y="0"/>
            <a:chExt cx="3019882" cy="695490"/>
          </a:xfrm>
        </p:grpSpPr>
        <p:sp>
          <p:nvSpPr>
            <p:cNvPr name="Freeform 29" id="29"/>
            <p:cNvSpPr/>
            <p:nvPr/>
          </p:nvSpPr>
          <p:spPr>
            <a:xfrm flipH="false" flipV="false" rot="0">
              <a:off x="0" y="0"/>
              <a:ext cx="3019933" cy="695579"/>
            </a:xfrm>
            <a:custGeom>
              <a:avLst/>
              <a:gdLst/>
              <a:ahLst/>
              <a:cxnLst/>
              <a:rect r="r" b="b" t="t" l="l"/>
              <a:pathLst>
                <a:path h="695579" w="3019933">
                  <a:moveTo>
                    <a:pt x="0" y="115951"/>
                  </a:moveTo>
                  <a:cubicBezTo>
                    <a:pt x="0" y="51943"/>
                    <a:pt x="51943" y="0"/>
                    <a:pt x="115951" y="0"/>
                  </a:cubicBezTo>
                  <a:lnTo>
                    <a:pt x="2903982" y="0"/>
                  </a:lnTo>
                  <a:cubicBezTo>
                    <a:pt x="2967990" y="0"/>
                    <a:pt x="3019933" y="51943"/>
                    <a:pt x="3019933" y="115951"/>
                  </a:cubicBezTo>
                  <a:lnTo>
                    <a:pt x="3019933" y="579628"/>
                  </a:lnTo>
                  <a:cubicBezTo>
                    <a:pt x="3019933" y="643636"/>
                    <a:pt x="2967990" y="695579"/>
                    <a:pt x="2903982" y="695579"/>
                  </a:cubicBezTo>
                  <a:lnTo>
                    <a:pt x="115951" y="695579"/>
                  </a:lnTo>
                  <a:cubicBezTo>
                    <a:pt x="51943" y="695452"/>
                    <a:pt x="0" y="643636"/>
                    <a:pt x="0" y="579628"/>
                  </a:cubicBezTo>
                  <a:close/>
                </a:path>
              </a:pathLst>
            </a:custGeom>
            <a:solidFill>
              <a:srgbClr val="339D67"/>
            </a:solidFill>
          </p:spPr>
        </p:sp>
      </p:grpSp>
      <p:grpSp>
        <p:nvGrpSpPr>
          <p:cNvPr name="Group 30" id="30"/>
          <p:cNvGrpSpPr/>
          <p:nvPr/>
        </p:nvGrpSpPr>
        <p:grpSpPr>
          <a:xfrm rot="0">
            <a:off x="9745970" y="6273108"/>
            <a:ext cx="2264912" cy="411804"/>
            <a:chOff x="0" y="0"/>
            <a:chExt cx="3019882" cy="549072"/>
          </a:xfrm>
        </p:grpSpPr>
        <p:sp>
          <p:nvSpPr>
            <p:cNvPr name="Freeform 31" id="31"/>
            <p:cNvSpPr/>
            <p:nvPr/>
          </p:nvSpPr>
          <p:spPr>
            <a:xfrm flipH="false" flipV="false" rot="0">
              <a:off x="0" y="0"/>
              <a:ext cx="3019879" cy="549069"/>
            </a:xfrm>
            <a:custGeom>
              <a:avLst/>
              <a:gdLst/>
              <a:ahLst/>
              <a:cxnLst/>
              <a:rect r="r" b="b" t="t" l="l"/>
              <a:pathLst>
                <a:path h="549069" w="3019879">
                  <a:moveTo>
                    <a:pt x="0" y="0"/>
                  </a:moveTo>
                  <a:lnTo>
                    <a:pt x="3019879" y="0"/>
                  </a:lnTo>
                  <a:lnTo>
                    <a:pt x="3019879" y="549069"/>
                  </a:lnTo>
                  <a:lnTo>
                    <a:pt x="0" y="549069"/>
                  </a:lnTo>
                  <a:close/>
                </a:path>
              </a:pathLst>
            </a:custGeom>
            <a:blipFill>
              <a:blip r:embed="rId2">
                <a:alphaModFix amt="0"/>
              </a:blip>
              <a:stretch>
                <a:fillRect l="0" t="-57167" r="0" b="-57168"/>
              </a:stretch>
            </a:blipFill>
          </p:spPr>
        </p:sp>
        <p:sp>
          <p:nvSpPr>
            <p:cNvPr name="TextBox 32" id="32"/>
            <p:cNvSpPr txBox="true"/>
            <p:nvPr/>
          </p:nvSpPr>
          <p:spPr>
            <a:xfrm>
              <a:off x="0" y="0"/>
              <a:ext cx="3019882" cy="549072"/>
            </a:xfrm>
            <a:prstGeom prst="rect">
              <a:avLst/>
            </a:prstGeom>
          </p:spPr>
          <p:txBody>
            <a:bodyPr anchor="ctr" rtlCol="false" tIns="0" lIns="0" bIns="0" rIns="0"/>
            <a:lstStyle/>
            <a:p>
              <a:pPr algn="ctr">
                <a:lnSpc>
                  <a:spcPts val="1801"/>
                </a:lnSpc>
              </a:pPr>
              <a:r>
                <a:rPr lang="en-US" sz="1501" b="true">
                  <a:solidFill>
                    <a:srgbClr val="FFFFFF"/>
                  </a:solidFill>
                  <a:latin typeface="Aptos Bold"/>
                  <a:ea typeface="Aptos Bold"/>
                  <a:cs typeface="Aptos Bold"/>
                  <a:sym typeface="Aptos Bold"/>
                </a:rPr>
                <a:t>REAL COMPARISON</a:t>
              </a:r>
            </a:p>
          </p:txBody>
        </p:sp>
      </p:grpSp>
      <p:grpSp>
        <p:nvGrpSpPr>
          <p:cNvPr name="Group 33" id="33"/>
          <p:cNvGrpSpPr/>
          <p:nvPr/>
        </p:nvGrpSpPr>
        <p:grpSpPr>
          <a:xfrm rot="0">
            <a:off x="1139372" y="7232171"/>
            <a:ext cx="5307806" cy="1820753"/>
            <a:chOff x="0" y="0"/>
            <a:chExt cx="7077075" cy="2427671"/>
          </a:xfrm>
        </p:grpSpPr>
        <p:sp>
          <p:nvSpPr>
            <p:cNvPr name="TextBox 34" id="34"/>
            <p:cNvSpPr txBox="true"/>
            <p:nvPr/>
          </p:nvSpPr>
          <p:spPr>
            <a:xfrm rot="0">
              <a:off x="0" y="594462"/>
              <a:ext cx="7077075" cy="330200"/>
            </a:xfrm>
            <a:prstGeom prst="rect">
              <a:avLst/>
            </a:prstGeom>
          </p:spPr>
          <p:txBody>
            <a:bodyPr anchor="t" rtlCol="false" tIns="0" lIns="0" bIns="0" rIns="0">
              <a:spAutoFit/>
            </a:bodyPr>
            <a:lstStyle/>
            <a:p>
              <a:pPr algn="l">
                <a:lnSpc>
                  <a:spcPts val="1981"/>
                </a:lnSpc>
              </a:pPr>
              <a:r>
                <a:rPr lang="en-US" sz="1651">
                  <a:solidFill>
                    <a:srgbClr val="B9C4D4"/>
                  </a:solidFill>
                  <a:latin typeface="Aptos"/>
                  <a:ea typeface="Aptos"/>
                  <a:cs typeface="Aptos"/>
                  <a:sym typeface="Aptos"/>
                </a:rPr>
                <a:t>Vedant Puri                       1262252793</a:t>
              </a:r>
            </a:p>
          </p:txBody>
        </p:sp>
        <p:sp>
          <p:nvSpPr>
            <p:cNvPr name="TextBox 35" id="35"/>
            <p:cNvSpPr txBox="true"/>
            <p:nvPr/>
          </p:nvSpPr>
          <p:spPr>
            <a:xfrm rot="0">
              <a:off x="0" y="1302019"/>
              <a:ext cx="7077075" cy="330200"/>
            </a:xfrm>
            <a:prstGeom prst="rect">
              <a:avLst/>
            </a:prstGeom>
          </p:spPr>
          <p:txBody>
            <a:bodyPr anchor="t" rtlCol="false" tIns="0" lIns="0" bIns="0" rIns="0">
              <a:spAutoFit/>
            </a:bodyPr>
            <a:lstStyle/>
            <a:p>
              <a:pPr algn="l">
                <a:lnSpc>
                  <a:spcPts val="1981"/>
                </a:lnSpc>
              </a:pPr>
              <a:r>
                <a:rPr lang="en-US" sz="1651">
                  <a:solidFill>
                    <a:srgbClr val="B9C4D4"/>
                  </a:solidFill>
                  <a:latin typeface="Aptos"/>
                  <a:ea typeface="Aptos"/>
                  <a:cs typeface="Aptos"/>
                  <a:sym typeface="Aptos"/>
                </a:rPr>
                <a:t>Bhumil Kiyada                 1262253311</a:t>
              </a:r>
            </a:p>
          </p:txBody>
        </p:sp>
        <p:sp>
          <p:nvSpPr>
            <p:cNvPr name="TextBox 36" id="36"/>
            <p:cNvSpPr txBox="true"/>
            <p:nvPr/>
          </p:nvSpPr>
          <p:spPr>
            <a:xfrm rot="0">
              <a:off x="0" y="950062"/>
              <a:ext cx="7077075" cy="330200"/>
            </a:xfrm>
            <a:prstGeom prst="rect">
              <a:avLst/>
            </a:prstGeom>
          </p:spPr>
          <p:txBody>
            <a:bodyPr anchor="t" rtlCol="false" tIns="0" lIns="0" bIns="0" rIns="0">
              <a:spAutoFit/>
            </a:bodyPr>
            <a:lstStyle/>
            <a:p>
              <a:pPr algn="l">
                <a:lnSpc>
                  <a:spcPts val="1981"/>
                </a:lnSpc>
              </a:pPr>
              <a:r>
                <a:rPr lang="en-US" sz="1651">
                  <a:solidFill>
                    <a:srgbClr val="B9C4D4"/>
                  </a:solidFill>
                  <a:latin typeface="Aptos"/>
                  <a:ea typeface="Aptos"/>
                  <a:cs typeface="Aptos"/>
                  <a:sym typeface="Aptos"/>
                </a:rPr>
                <a:t>Manav Nalkande            1262252526</a:t>
              </a:r>
            </a:p>
          </p:txBody>
        </p:sp>
        <p:sp>
          <p:nvSpPr>
            <p:cNvPr name="TextBox 37" id="37"/>
            <p:cNvSpPr txBox="true"/>
            <p:nvPr/>
          </p:nvSpPr>
          <p:spPr>
            <a:xfrm rot="0">
              <a:off x="0" y="1729171"/>
              <a:ext cx="7077075" cy="330200"/>
            </a:xfrm>
            <a:prstGeom prst="rect">
              <a:avLst/>
            </a:prstGeom>
          </p:spPr>
          <p:txBody>
            <a:bodyPr anchor="t" rtlCol="false" tIns="0" lIns="0" bIns="0" rIns="0">
              <a:spAutoFit/>
            </a:bodyPr>
            <a:lstStyle/>
            <a:p>
              <a:pPr algn="l">
                <a:lnSpc>
                  <a:spcPts val="1981"/>
                </a:lnSpc>
              </a:pPr>
              <a:r>
                <a:rPr lang="en-US" sz="1651">
                  <a:solidFill>
                    <a:srgbClr val="B9C4D4"/>
                  </a:solidFill>
                  <a:latin typeface="Aptos"/>
                  <a:ea typeface="Aptos"/>
                  <a:cs typeface="Aptos"/>
                  <a:sym typeface="Aptos"/>
                </a:rPr>
                <a:t>Sanskar Thitame            1262252947</a:t>
              </a:r>
            </a:p>
          </p:txBody>
        </p:sp>
        <p:sp>
          <p:nvSpPr>
            <p:cNvPr name="TextBox 38" id="38"/>
            <p:cNvSpPr txBox="true"/>
            <p:nvPr/>
          </p:nvSpPr>
          <p:spPr>
            <a:xfrm rot="0">
              <a:off x="0" y="2097471"/>
              <a:ext cx="7077075" cy="330200"/>
            </a:xfrm>
            <a:prstGeom prst="rect">
              <a:avLst/>
            </a:prstGeom>
          </p:spPr>
          <p:txBody>
            <a:bodyPr anchor="t" rtlCol="false" tIns="0" lIns="0" bIns="0" rIns="0">
              <a:spAutoFit/>
            </a:bodyPr>
            <a:lstStyle/>
            <a:p>
              <a:pPr algn="l">
                <a:lnSpc>
                  <a:spcPts val="1981"/>
                </a:lnSpc>
              </a:pPr>
              <a:r>
                <a:rPr lang="en-US" sz="1651">
                  <a:solidFill>
                    <a:srgbClr val="B9C4D4"/>
                  </a:solidFill>
                  <a:latin typeface="Aptos"/>
                  <a:ea typeface="Aptos"/>
                  <a:cs typeface="Aptos"/>
                  <a:sym typeface="Aptos"/>
                </a:rPr>
                <a:t>Soham Nalawade          1262252642</a:t>
              </a:r>
            </a:p>
          </p:txBody>
        </p:sp>
        <p:sp>
          <p:nvSpPr>
            <p:cNvPr name="TextBox 39" id="39"/>
            <p:cNvSpPr txBox="true"/>
            <p:nvPr/>
          </p:nvSpPr>
          <p:spPr>
            <a:xfrm rot="0">
              <a:off x="0" y="0"/>
              <a:ext cx="7077075" cy="368300"/>
            </a:xfrm>
            <a:prstGeom prst="rect">
              <a:avLst/>
            </a:prstGeom>
          </p:spPr>
          <p:txBody>
            <a:bodyPr anchor="t" rtlCol="false" tIns="0" lIns="0" bIns="0" rIns="0">
              <a:spAutoFit/>
            </a:bodyPr>
            <a:lstStyle/>
            <a:p>
              <a:pPr algn="l">
                <a:lnSpc>
                  <a:spcPts val="2221"/>
                </a:lnSpc>
              </a:pPr>
              <a:r>
                <a:rPr lang="en-US" sz="1851" b="true">
                  <a:solidFill>
                    <a:srgbClr val="B9C4D4"/>
                  </a:solidFill>
                  <a:latin typeface="Aptos Bold"/>
                  <a:ea typeface="Aptos Bold"/>
                  <a:cs typeface="Aptos Bold"/>
                  <a:sym typeface="Aptos Bold"/>
                </a:rPr>
                <a:t>Members                       PRN</a:t>
              </a:r>
            </a:p>
          </p:txBody>
        </p:sp>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4" id="4"/>
          <p:cNvGrpSpPr/>
          <p:nvPr/>
        </p:nvGrpSpPr>
        <p:grpSpPr>
          <a:xfrm rot="0">
            <a:off x="0" y="0"/>
            <a:ext cx="18301840" cy="178451"/>
            <a:chOff x="0" y="0"/>
            <a:chExt cx="24402453" cy="237934"/>
          </a:xfrm>
        </p:grpSpPr>
        <p:sp>
          <p:nvSpPr>
            <p:cNvPr name="Freeform 5" id="5"/>
            <p:cNvSpPr/>
            <p:nvPr/>
          </p:nvSpPr>
          <p:spPr>
            <a:xfrm flipH="false" flipV="false" rot="0">
              <a:off x="0" y="0"/>
              <a:ext cx="24402414" cy="237871"/>
            </a:xfrm>
            <a:custGeom>
              <a:avLst/>
              <a:gdLst/>
              <a:ahLst/>
              <a:cxnLst/>
              <a:rect r="r" b="b" t="t" l="l"/>
              <a:pathLst>
                <a:path h="237871" w="24402414">
                  <a:moveTo>
                    <a:pt x="0" y="0"/>
                  </a:moveTo>
                  <a:lnTo>
                    <a:pt x="24402414" y="0"/>
                  </a:lnTo>
                  <a:lnTo>
                    <a:pt x="24402414" y="237871"/>
                  </a:lnTo>
                  <a:lnTo>
                    <a:pt x="0" y="237871"/>
                  </a:lnTo>
                  <a:close/>
                </a:path>
              </a:pathLst>
            </a:custGeom>
            <a:solidFill>
              <a:srgbClr val="1A9191"/>
            </a:solidFill>
          </p:spPr>
        </p:sp>
      </p:grpSp>
      <p:sp>
        <p:nvSpPr>
          <p:cNvPr name="TextBox 6" id="6"/>
          <p:cNvSpPr txBox="true"/>
          <p:nvPr/>
        </p:nvSpPr>
        <p:spPr>
          <a:xfrm rot="0">
            <a:off x="983675" y="420548"/>
            <a:ext cx="6131414" cy="329889"/>
          </a:xfrm>
          <a:prstGeom prst="rect">
            <a:avLst/>
          </a:prstGeom>
        </p:spPr>
        <p:txBody>
          <a:bodyPr anchor="t" rtlCol="false" tIns="0" lIns="0" bIns="0" rIns="0">
            <a:spAutoFit/>
          </a:bodyPr>
          <a:lstStyle/>
          <a:p>
            <a:pPr algn="l">
              <a:lnSpc>
                <a:spcPts val="1621"/>
              </a:lnSpc>
            </a:pPr>
            <a:r>
              <a:rPr lang="en-US" sz="1351" b="true">
                <a:solidFill>
                  <a:srgbClr val="1A9191"/>
                </a:solidFill>
                <a:latin typeface="Aptos Bold"/>
                <a:ea typeface="Aptos Bold"/>
                <a:cs typeface="Aptos Bold"/>
                <a:sym typeface="Aptos Bold"/>
              </a:rPr>
              <a:t>PROBLEM</a:t>
            </a:r>
          </a:p>
        </p:txBody>
      </p:sp>
      <p:sp>
        <p:nvSpPr>
          <p:cNvPr name="TextBox 7" id="7"/>
          <p:cNvSpPr txBox="true"/>
          <p:nvPr/>
        </p:nvSpPr>
        <p:spPr>
          <a:xfrm rot="0">
            <a:off x="16700773" y="420548"/>
            <a:ext cx="572091" cy="329889"/>
          </a:xfrm>
          <a:prstGeom prst="rect">
            <a:avLst/>
          </a:prstGeom>
        </p:spPr>
        <p:txBody>
          <a:bodyPr anchor="t" rtlCol="false" tIns="0" lIns="0" bIns="0" rIns="0">
            <a:spAutoFit/>
          </a:bodyPr>
          <a:lstStyle/>
          <a:p>
            <a:pPr algn="r">
              <a:lnSpc>
                <a:spcPts val="1621"/>
              </a:lnSpc>
            </a:pPr>
            <a:r>
              <a:rPr lang="en-US" sz="1351" b="true">
                <a:solidFill>
                  <a:srgbClr val="667180"/>
                </a:solidFill>
                <a:latin typeface="Aptos Bold"/>
                <a:ea typeface="Aptos Bold"/>
                <a:cs typeface="Aptos Bold"/>
                <a:sym typeface="Aptos Bold"/>
              </a:rPr>
              <a:t>02</a:t>
            </a:r>
          </a:p>
        </p:txBody>
      </p:sp>
      <p:sp>
        <p:nvSpPr>
          <p:cNvPr name="TextBox 8" id="8"/>
          <p:cNvSpPr txBox="true"/>
          <p:nvPr/>
        </p:nvSpPr>
        <p:spPr>
          <a:xfrm rot="0">
            <a:off x="983675" y="1034044"/>
            <a:ext cx="16289188" cy="938060"/>
          </a:xfrm>
          <a:prstGeom prst="rect">
            <a:avLst/>
          </a:prstGeom>
        </p:spPr>
        <p:txBody>
          <a:bodyPr anchor="t" rtlCol="false" tIns="0" lIns="0" bIns="0" rIns="0">
            <a:spAutoFit/>
          </a:bodyPr>
          <a:lstStyle/>
          <a:p>
            <a:pPr algn="l">
              <a:lnSpc>
                <a:spcPts val="5043"/>
              </a:lnSpc>
            </a:pPr>
            <a:r>
              <a:rPr lang="en-US" sz="4203" b="true">
                <a:solidFill>
                  <a:srgbClr val="121F37"/>
                </a:solidFill>
                <a:latin typeface="Aptos Bold"/>
                <a:ea typeface="Aptos Bold"/>
                <a:cs typeface="Aptos Bold"/>
                <a:sym typeface="Aptos Bold"/>
              </a:rPr>
              <a:t>Problem Statement &amp; Objective</a:t>
            </a:r>
          </a:p>
        </p:txBody>
      </p:sp>
      <p:sp>
        <p:nvSpPr>
          <p:cNvPr name="TextBox 9" id="9"/>
          <p:cNvSpPr txBox="true"/>
          <p:nvPr/>
        </p:nvSpPr>
        <p:spPr>
          <a:xfrm rot="0">
            <a:off x="1011126" y="1967465"/>
            <a:ext cx="15877384" cy="567442"/>
          </a:xfrm>
          <a:prstGeom prst="rect">
            <a:avLst/>
          </a:prstGeom>
        </p:spPr>
        <p:txBody>
          <a:bodyPr anchor="t" rtlCol="false" tIns="0" lIns="0" bIns="0" rIns="0">
            <a:spAutoFit/>
          </a:bodyPr>
          <a:lstStyle/>
          <a:p>
            <a:pPr algn="l">
              <a:lnSpc>
                <a:spcPts val="2251"/>
              </a:lnSpc>
            </a:pPr>
            <a:r>
              <a:rPr lang="en-US" sz="1876">
                <a:solidFill>
                  <a:srgbClr val="667180"/>
                </a:solidFill>
                <a:latin typeface="Aptos"/>
                <a:ea typeface="Aptos"/>
                <a:cs typeface="Aptos"/>
                <a:sym typeface="Aptos"/>
              </a:rPr>
              <a:t>A student record system becomes more useful when search, sorting and ranking can be tested on the same real dataset.</a:t>
            </a:r>
          </a:p>
        </p:txBody>
      </p:sp>
      <p:grpSp>
        <p:nvGrpSpPr>
          <p:cNvPr name="Group 10" id="10"/>
          <p:cNvGrpSpPr/>
          <p:nvPr/>
        </p:nvGrpSpPr>
        <p:grpSpPr>
          <a:xfrm rot="0">
            <a:off x="882701" y="2392642"/>
            <a:ext cx="7911932" cy="3107579"/>
            <a:chOff x="0" y="0"/>
            <a:chExt cx="10549242" cy="4143438"/>
          </a:xfrm>
        </p:grpSpPr>
        <p:sp>
          <p:nvSpPr>
            <p:cNvPr name="Freeform 11" id="11"/>
            <p:cNvSpPr/>
            <p:nvPr/>
          </p:nvSpPr>
          <p:spPr>
            <a:xfrm flipH="false" flipV="false" rot="0">
              <a:off x="0" y="0"/>
              <a:ext cx="10549382" cy="4143502"/>
            </a:xfrm>
            <a:custGeom>
              <a:avLst/>
              <a:gdLst/>
              <a:ahLst/>
              <a:cxnLst/>
              <a:rect r="r" b="b" t="t" l="l"/>
              <a:pathLst>
                <a:path h="4143502" w="10549382">
                  <a:moveTo>
                    <a:pt x="0" y="690626"/>
                  </a:moveTo>
                  <a:cubicBezTo>
                    <a:pt x="0" y="309245"/>
                    <a:pt x="309245" y="0"/>
                    <a:pt x="690626" y="0"/>
                  </a:cubicBezTo>
                  <a:lnTo>
                    <a:pt x="9858756" y="0"/>
                  </a:lnTo>
                  <a:cubicBezTo>
                    <a:pt x="10240137" y="0"/>
                    <a:pt x="10549382" y="309245"/>
                    <a:pt x="10549382" y="690626"/>
                  </a:cubicBezTo>
                  <a:lnTo>
                    <a:pt x="10549382" y="3452876"/>
                  </a:lnTo>
                  <a:cubicBezTo>
                    <a:pt x="10549382" y="3834257"/>
                    <a:pt x="10240137" y="4143502"/>
                    <a:pt x="9858756" y="4143502"/>
                  </a:cubicBezTo>
                  <a:lnTo>
                    <a:pt x="690626" y="4143502"/>
                  </a:lnTo>
                  <a:cubicBezTo>
                    <a:pt x="309245" y="4143375"/>
                    <a:pt x="0" y="3834257"/>
                    <a:pt x="0" y="3452876"/>
                  </a:cubicBezTo>
                  <a:close/>
                </a:path>
              </a:pathLst>
            </a:custGeom>
            <a:solidFill>
              <a:srgbClr val="F5F8FC"/>
            </a:solidFill>
            <a:ln w="19065" cap="sq">
              <a:solidFill>
                <a:srgbClr val="DEE6F0"/>
              </a:solidFill>
              <a:prstDash val="solid"/>
              <a:miter/>
            </a:ln>
          </p:spPr>
        </p:sp>
      </p:grpSp>
      <p:grpSp>
        <p:nvGrpSpPr>
          <p:cNvPr name="Group 12" id="12"/>
          <p:cNvGrpSpPr/>
          <p:nvPr/>
        </p:nvGrpSpPr>
        <p:grpSpPr>
          <a:xfrm rot="0">
            <a:off x="892235" y="2402176"/>
            <a:ext cx="96088" cy="3088510"/>
            <a:chOff x="0" y="0"/>
            <a:chExt cx="128118" cy="4118013"/>
          </a:xfrm>
        </p:grpSpPr>
        <p:sp>
          <p:nvSpPr>
            <p:cNvPr name="Freeform 13" id="13"/>
            <p:cNvSpPr/>
            <p:nvPr/>
          </p:nvSpPr>
          <p:spPr>
            <a:xfrm flipH="false" flipV="false" rot="0">
              <a:off x="0" y="0"/>
              <a:ext cx="128143" cy="4117975"/>
            </a:xfrm>
            <a:custGeom>
              <a:avLst/>
              <a:gdLst/>
              <a:ahLst/>
              <a:cxnLst/>
              <a:rect r="r" b="b" t="t" l="l"/>
              <a:pathLst>
                <a:path h="4117975" w="128143">
                  <a:moveTo>
                    <a:pt x="0" y="0"/>
                  </a:moveTo>
                  <a:lnTo>
                    <a:pt x="128143" y="0"/>
                  </a:lnTo>
                  <a:lnTo>
                    <a:pt x="128143" y="4117975"/>
                  </a:lnTo>
                  <a:lnTo>
                    <a:pt x="0" y="4117975"/>
                  </a:lnTo>
                  <a:close/>
                </a:path>
              </a:pathLst>
            </a:custGeom>
            <a:solidFill>
              <a:srgbClr val="1A9191"/>
            </a:solidFill>
          </p:spPr>
        </p:sp>
      </p:grpSp>
      <p:sp>
        <p:nvSpPr>
          <p:cNvPr name="TextBox 14" id="14"/>
          <p:cNvSpPr txBox="true"/>
          <p:nvPr/>
        </p:nvSpPr>
        <p:spPr>
          <a:xfrm rot="0">
            <a:off x="1285665" y="2681249"/>
            <a:ext cx="7188375" cy="388991"/>
          </a:xfrm>
          <a:prstGeom prst="rect">
            <a:avLst/>
          </a:prstGeom>
        </p:spPr>
        <p:txBody>
          <a:bodyPr anchor="t" rtlCol="false" tIns="0" lIns="0" bIns="0" rIns="0">
            <a:spAutoFit/>
          </a:bodyPr>
          <a:lstStyle/>
          <a:p>
            <a:pPr algn="l">
              <a:lnSpc>
                <a:spcPts val="3062"/>
              </a:lnSpc>
            </a:pPr>
            <a:r>
              <a:rPr lang="en-US" sz="2551" b="true">
                <a:solidFill>
                  <a:srgbClr val="121F37"/>
                </a:solidFill>
                <a:latin typeface="Aptos Bold"/>
                <a:ea typeface="Aptos Bold"/>
                <a:cs typeface="Aptos Bold"/>
                <a:sym typeface="Aptos Bold"/>
              </a:rPr>
              <a:t>The problem</a:t>
            </a:r>
          </a:p>
        </p:txBody>
      </p:sp>
      <p:sp>
        <p:nvSpPr>
          <p:cNvPr name="TextBox 15" id="15"/>
          <p:cNvSpPr txBox="true"/>
          <p:nvPr/>
        </p:nvSpPr>
        <p:spPr>
          <a:xfrm rot="0">
            <a:off x="1285665" y="3298955"/>
            <a:ext cx="7188375" cy="1926393"/>
          </a:xfrm>
          <a:prstGeom prst="rect">
            <a:avLst/>
          </a:prstGeom>
        </p:spPr>
        <p:txBody>
          <a:bodyPr anchor="t" rtlCol="false" tIns="0" lIns="0" bIns="0" rIns="0">
            <a:spAutoFit/>
          </a:bodyPr>
          <a:lstStyle/>
          <a:p>
            <a:pPr algn="l">
              <a:lnSpc>
                <a:spcPts val="2341"/>
              </a:lnSpc>
            </a:pPr>
            <a:r>
              <a:rPr lang="en-US" sz="1951">
                <a:solidFill>
                  <a:srgbClr val="273140"/>
                </a:solidFill>
                <a:latin typeface="Aptos"/>
                <a:ea typeface="Aptos"/>
                <a:cs typeface="Aptos"/>
                <a:sym typeface="Aptos"/>
              </a:rPr>
              <a:t>A student record system should store IDs, names, branches, semesters and marks, then quickly find students, organize records and generate ranks. The project also needs to show how much work each algorithm performs instead of relying only on theory.</a:t>
            </a:r>
          </a:p>
        </p:txBody>
      </p:sp>
      <p:grpSp>
        <p:nvGrpSpPr>
          <p:cNvPr name="Group 16" id="16"/>
          <p:cNvGrpSpPr/>
          <p:nvPr/>
        </p:nvGrpSpPr>
        <p:grpSpPr>
          <a:xfrm rot="0">
            <a:off x="9118740" y="2392642"/>
            <a:ext cx="8255098" cy="3107579"/>
            <a:chOff x="0" y="0"/>
            <a:chExt cx="11006798" cy="4143438"/>
          </a:xfrm>
        </p:grpSpPr>
        <p:sp>
          <p:nvSpPr>
            <p:cNvPr name="Freeform 17" id="17"/>
            <p:cNvSpPr/>
            <p:nvPr/>
          </p:nvSpPr>
          <p:spPr>
            <a:xfrm flipH="false" flipV="false" rot="0">
              <a:off x="0" y="0"/>
              <a:ext cx="11006836" cy="4143502"/>
            </a:xfrm>
            <a:custGeom>
              <a:avLst/>
              <a:gdLst/>
              <a:ahLst/>
              <a:cxnLst/>
              <a:rect r="r" b="b" t="t" l="l"/>
              <a:pathLst>
                <a:path h="4143502" w="11006836">
                  <a:moveTo>
                    <a:pt x="0" y="690626"/>
                  </a:moveTo>
                  <a:cubicBezTo>
                    <a:pt x="0" y="309245"/>
                    <a:pt x="309245" y="0"/>
                    <a:pt x="690626" y="0"/>
                  </a:cubicBezTo>
                  <a:lnTo>
                    <a:pt x="10316210" y="0"/>
                  </a:lnTo>
                  <a:cubicBezTo>
                    <a:pt x="10697591" y="0"/>
                    <a:pt x="11006836" y="309245"/>
                    <a:pt x="11006836" y="690626"/>
                  </a:cubicBezTo>
                  <a:lnTo>
                    <a:pt x="11006836" y="3452876"/>
                  </a:lnTo>
                  <a:cubicBezTo>
                    <a:pt x="11006836" y="3834257"/>
                    <a:pt x="10697591" y="4143502"/>
                    <a:pt x="10316210" y="4143502"/>
                  </a:cubicBezTo>
                  <a:lnTo>
                    <a:pt x="690626" y="4143502"/>
                  </a:lnTo>
                  <a:cubicBezTo>
                    <a:pt x="309245" y="4143375"/>
                    <a:pt x="0" y="3834257"/>
                    <a:pt x="0" y="3452876"/>
                  </a:cubicBezTo>
                  <a:close/>
                </a:path>
              </a:pathLst>
            </a:custGeom>
            <a:solidFill>
              <a:srgbClr val="F5F8FC"/>
            </a:solidFill>
            <a:ln w="19065" cap="sq">
              <a:solidFill>
                <a:srgbClr val="DEE6F0"/>
              </a:solidFill>
              <a:prstDash val="solid"/>
              <a:miter/>
            </a:ln>
          </p:spPr>
        </p:sp>
      </p:grpSp>
      <p:grpSp>
        <p:nvGrpSpPr>
          <p:cNvPr name="Group 18" id="18"/>
          <p:cNvGrpSpPr/>
          <p:nvPr/>
        </p:nvGrpSpPr>
        <p:grpSpPr>
          <a:xfrm rot="0">
            <a:off x="9128274" y="2402176"/>
            <a:ext cx="96088" cy="3088510"/>
            <a:chOff x="0" y="0"/>
            <a:chExt cx="128118" cy="4118013"/>
          </a:xfrm>
        </p:grpSpPr>
        <p:sp>
          <p:nvSpPr>
            <p:cNvPr name="Freeform 19" id="19"/>
            <p:cNvSpPr/>
            <p:nvPr/>
          </p:nvSpPr>
          <p:spPr>
            <a:xfrm flipH="false" flipV="false" rot="0">
              <a:off x="0" y="0"/>
              <a:ext cx="128143" cy="4117975"/>
            </a:xfrm>
            <a:custGeom>
              <a:avLst/>
              <a:gdLst/>
              <a:ahLst/>
              <a:cxnLst/>
              <a:rect r="r" b="b" t="t" l="l"/>
              <a:pathLst>
                <a:path h="4117975" w="128143">
                  <a:moveTo>
                    <a:pt x="0" y="0"/>
                  </a:moveTo>
                  <a:lnTo>
                    <a:pt x="128143" y="0"/>
                  </a:lnTo>
                  <a:lnTo>
                    <a:pt x="128143" y="4117975"/>
                  </a:lnTo>
                  <a:lnTo>
                    <a:pt x="0" y="4117975"/>
                  </a:lnTo>
                  <a:close/>
                </a:path>
              </a:pathLst>
            </a:custGeom>
            <a:solidFill>
              <a:srgbClr val="2B5DA6"/>
            </a:solidFill>
          </p:spPr>
        </p:sp>
      </p:grpSp>
      <p:sp>
        <p:nvSpPr>
          <p:cNvPr name="TextBox 20" id="20"/>
          <p:cNvSpPr txBox="true"/>
          <p:nvPr/>
        </p:nvSpPr>
        <p:spPr>
          <a:xfrm rot="0">
            <a:off x="9521695" y="2681249"/>
            <a:ext cx="7531541" cy="388991"/>
          </a:xfrm>
          <a:prstGeom prst="rect">
            <a:avLst/>
          </a:prstGeom>
        </p:spPr>
        <p:txBody>
          <a:bodyPr anchor="t" rtlCol="false" tIns="0" lIns="0" bIns="0" rIns="0">
            <a:spAutoFit/>
          </a:bodyPr>
          <a:lstStyle/>
          <a:p>
            <a:pPr algn="l">
              <a:lnSpc>
                <a:spcPts val="3062"/>
              </a:lnSpc>
            </a:pPr>
            <a:r>
              <a:rPr lang="en-US" sz="2551" b="true">
                <a:solidFill>
                  <a:srgbClr val="121F37"/>
                </a:solidFill>
                <a:latin typeface="Aptos Bold"/>
                <a:ea typeface="Aptos Bold"/>
                <a:cs typeface="Aptos Bold"/>
                <a:sym typeface="Aptos Bold"/>
              </a:rPr>
              <a:t>Our objective</a:t>
            </a:r>
          </a:p>
        </p:txBody>
      </p:sp>
      <p:sp>
        <p:nvSpPr>
          <p:cNvPr name="TextBox 21" id="21"/>
          <p:cNvSpPr txBox="true"/>
          <p:nvPr/>
        </p:nvSpPr>
        <p:spPr>
          <a:xfrm rot="0">
            <a:off x="9521695" y="3298955"/>
            <a:ext cx="7531541" cy="1926393"/>
          </a:xfrm>
          <a:prstGeom prst="rect">
            <a:avLst/>
          </a:prstGeom>
        </p:spPr>
        <p:txBody>
          <a:bodyPr anchor="t" rtlCol="false" tIns="0" lIns="0" bIns="0" rIns="0">
            <a:spAutoFit/>
          </a:bodyPr>
          <a:lstStyle/>
          <a:p>
            <a:pPr algn="l">
              <a:lnSpc>
                <a:spcPts val="2341"/>
              </a:lnSpc>
            </a:pPr>
            <a:r>
              <a:rPr lang="en-US" sz="1951">
                <a:solidFill>
                  <a:srgbClr val="273140"/>
                </a:solidFill>
                <a:latin typeface="Aptos"/>
                <a:ea typeface="Aptos"/>
                <a:cs typeface="Aptos"/>
                <a:sym typeface="Aptos"/>
              </a:rPr>
              <a:t>Build one console program in C that lets the user add and display records, search by ID, sort by different fields, generate rankings and compare algorithms using actual operation counts and measured time.</a:t>
            </a:r>
          </a:p>
        </p:txBody>
      </p:sp>
      <p:sp>
        <p:nvSpPr>
          <p:cNvPr name="TextBox 22" id="22"/>
          <p:cNvSpPr txBox="true"/>
          <p:nvPr/>
        </p:nvSpPr>
        <p:spPr>
          <a:xfrm rot="0">
            <a:off x="1011126" y="6016847"/>
            <a:ext cx="7366816" cy="457629"/>
          </a:xfrm>
          <a:prstGeom prst="rect">
            <a:avLst/>
          </a:prstGeom>
        </p:spPr>
        <p:txBody>
          <a:bodyPr anchor="t" rtlCol="false" tIns="0" lIns="0" bIns="0" rIns="0">
            <a:spAutoFit/>
          </a:bodyPr>
          <a:lstStyle/>
          <a:p>
            <a:pPr algn="l">
              <a:lnSpc>
                <a:spcPts val="2882"/>
              </a:lnSpc>
            </a:pPr>
            <a:r>
              <a:rPr lang="en-US" sz="2401" b="true">
                <a:solidFill>
                  <a:srgbClr val="121F37"/>
                </a:solidFill>
                <a:latin typeface="Aptos Bold"/>
                <a:ea typeface="Aptos Bold"/>
                <a:cs typeface="Aptos Bold"/>
                <a:sym typeface="Aptos Bold"/>
              </a:rPr>
              <a:t>Core questions the system answers</a:t>
            </a:r>
          </a:p>
        </p:txBody>
      </p:sp>
      <p:sp>
        <p:nvSpPr>
          <p:cNvPr name="TextBox 23" id="23"/>
          <p:cNvSpPr txBox="true"/>
          <p:nvPr/>
        </p:nvSpPr>
        <p:spPr>
          <a:xfrm rot="0">
            <a:off x="1189577" y="6662004"/>
            <a:ext cx="15877384" cy="2173472"/>
          </a:xfrm>
          <a:prstGeom prst="rect">
            <a:avLst/>
          </a:prstGeom>
        </p:spPr>
        <p:txBody>
          <a:bodyPr anchor="t" rtlCol="false" tIns="0" lIns="0" bIns="0" rIns="0">
            <a:spAutoFit/>
          </a:bodyPr>
          <a:lstStyle/>
          <a:p>
            <a:pPr algn="l">
              <a:lnSpc>
                <a:spcPts val="2431"/>
              </a:lnSpc>
            </a:pPr>
            <a:r>
              <a:rPr lang="en-US" sz="2026">
                <a:solidFill>
                  <a:srgbClr val="273140"/>
                </a:solidFill>
                <a:latin typeface="Aptos"/>
                <a:ea typeface="Aptos"/>
                <a:cs typeface="Aptos"/>
                <a:sym typeface="Aptos"/>
              </a:rPr>
              <a:t>• Can the same student data be searched using four different methods?</a:t>
            </a:r>
          </a:p>
          <a:p>
            <a:pPr algn="l">
              <a:lnSpc>
                <a:spcPts val="2431"/>
              </a:lnSpc>
            </a:pPr>
            <a:r>
              <a:rPr lang="en-US" sz="2026">
                <a:solidFill>
                  <a:srgbClr val="273140"/>
                </a:solidFill>
                <a:latin typeface="Aptos"/>
                <a:ea typeface="Aptos"/>
                <a:cs typeface="Aptos"/>
                <a:sym typeface="Aptos"/>
              </a:rPr>
              <a:t>• How do eight sorting algorithms behave on the same records?</a:t>
            </a:r>
          </a:p>
          <a:p>
            <a:pPr algn="l">
              <a:lnSpc>
                <a:spcPts val="2431"/>
              </a:lnSpc>
            </a:pPr>
            <a:r>
              <a:rPr lang="en-US" sz="2026">
                <a:solidFill>
                  <a:srgbClr val="273140"/>
                </a:solidFill>
                <a:latin typeface="Aptos"/>
                <a:ea typeface="Aptos"/>
                <a:cs typeface="Aptos"/>
                <a:sym typeface="Aptos"/>
              </a:rPr>
              <a:t>• How can equal marks receive the same rank?</a:t>
            </a:r>
          </a:p>
          <a:p>
            <a:pPr algn="l">
              <a:lnSpc>
                <a:spcPts val="2431"/>
              </a:lnSpc>
            </a:pPr>
            <a:r>
              <a:rPr lang="en-US" sz="2026">
                <a:solidFill>
                  <a:srgbClr val="273140"/>
                </a:solidFill>
                <a:latin typeface="Aptos"/>
                <a:ea typeface="Aptos"/>
                <a:cs typeface="Aptos"/>
                <a:sym typeface="Aptos"/>
              </a:rPr>
              <a:t>• What do real comparison and swap counts tell us about performance?</a:t>
            </a:r>
          </a:p>
        </p:txBody>
      </p:sp>
      <p:grpSp>
        <p:nvGrpSpPr>
          <p:cNvPr name="Group 24" id="24"/>
          <p:cNvGrpSpPr/>
          <p:nvPr/>
        </p:nvGrpSpPr>
        <p:grpSpPr>
          <a:xfrm rot="0">
            <a:off x="892235" y="9800882"/>
            <a:ext cx="16472068" cy="13726"/>
            <a:chOff x="0" y="0"/>
            <a:chExt cx="21962758" cy="18301"/>
          </a:xfrm>
        </p:grpSpPr>
        <p:sp>
          <p:nvSpPr>
            <p:cNvPr name="Freeform 25" id="25"/>
            <p:cNvSpPr/>
            <p:nvPr/>
          </p:nvSpPr>
          <p:spPr>
            <a:xfrm flipH="false" flipV="false" rot="0">
              <a:off x="0" y="0"/>
              <a:ext cx="21962745" cy="18288"/>
            </a:xfrm>
            <a:custGeom>
              <a:avLst/>
              <a:gdLst/>
              <a:ahLst/>
              <a:cxnLst/>
              <a:rect r="r" b="b" t="t" l="l"/>
              <a:pathLst>
                <a:path h="18288" w="21962745">
                  <a:moveTo>
                    <a:pt x="0" y="0"/>
                  </a:moveTo>
                  <a:lnTo>
                    <a:pt x="21962745" y="0"/>
                  </a:lnTo>
                  <a:lnTo>
                    <a:pt x="21962745" y="18288"/>
                  </a:lnTo>
                  <a:lnTo>
                    <a:pt x="0" y="18288"/>
                  </a:lnTo>
                  <a:close/>
                </a:path>
              </a:pathLst>
            </a:custGeom>
            <a:solidFill>
              <a:srgbClr val="DEE6F0"/>
            </a:solidFill>
          </p:spPr>
        </p:sp>
      </p:grpSp>
      <p:sp>
        <p:nvSpPr>
          <p:cNvPr name="TextBox 26" id="26"/>
          <p:cNvSpPr txBox="true"/>
          <p:nvPr/>
        </p:nvSpPr>
        <p:spPr>
          <a:xfrm rot="0">
            <a:off x="983675" y="9915239"/>
            <a:ext cx="10798502" cy="183099"/>
          </a:xfrm>
          <a:prstGeom prst="rect">
            <a:avLst/>
          </a:prstGeom>
        </p:spPr>
        <p:txBody>
          <a:bodyPr anchor="t" rtlCol="false" tIns="0" lIns="0" bIns="0" rIns="0">
            <a:spAutoFit/>
          </a:bodyPr>
          <a:lstStyle/>
          <a:p>
            <a:pPr algn="l">
              <a:lnSpc>
                <a:spcPts val="1441"/>
              </a:lnSpc>
            </a:pPr>
            <a:r>
              <a:rPr lang="en-US" sz="1200">
                <a:solidFill>
                  <a:srgbClr val="667180"/>
                </a:solidFill>
                <a:latin typeface="Aptos"/>
                <a:ea typeface="Aptos"/>
                <a:cs typeface="Aptos"/>
                <a:sym typeface="Aptos"/>
              </a:rPr>
              <a:t>Smart Student Search &amp; Ranking System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4" id="4"/>
          <p:cNvGrpSpPr/>
          <p:nvPr/>
        </p:nvGrpSpPr>
        <p:grpSpPr>
          <a:xfrm rot="0">
            <a:off x="0" y="0"/>
            <a:ext cx="18301840" cy="178451"/>
            <a:chOff x="0" y="0"/>
            <a:chExt cx="24402453" cy="237934"/>
          </a:xfrm>
        </p:grpSpPr>
        <p:sp>
          <p:nvSpPr>
            <p:cNvPr name="Freeform 5" id="5"/>
            <p:cNvSpPr/>
            <p:nvPr/>
          </p:nvSpPr>
          <p:spPr>
            <a:xfrm flipH="false" flipV="false" rot="0">
              <a:off x="0" y="0"/>
              <a:ext cx="24402414" cy="237871"/>
            </a:xfrm>
            <a:custGeom>
              <a:avLst/>
              <a:gdLst/>
              <a:ahLst/>
              <a:cxnLst/>
              <a:rect r="r" b="b" t="t" l="l"/>
              <a:pathLst>
                <a:path h="237871" w="24402414">
                  <a:moveTo>
                    <a:pt x="0" y="0"/>
                  </a:moveTo>
                  <a:lnTo>
                    <a:pt x="24402414" y="0"/>
                  </a:lnTo>
                  <a:lnTo>
                    <a:pt x="24402414" y="237871"/>
                  </a:lnTo>
                  <a:lnTo>
                    <a:pt x="0" y="237871"/>
                  </a:lnTo>
                  <a:close/>
                </a:path>
              </a:pathLst>
            </a:custGeom>
            <a:solidFill>
              <a:srgbClr val="1A9191"/>
            </a:solidFill>
          </p:spPr>
        </p:sp>
      </p:grpSp>
      <p:sp>
        <p:nvSpPr>
          <p:cNvPr name="TextBox 6" id="6"/>
          <p:cNvSpPr txBox="true"/>
          <p:nvPr/>
        </p:nvSpPr>
        <p:spPr>
          <a:xfrm rot="0">
            <a:off x="983675" y="420548"/>
            <a:ext cx="6131414" cy="329889"/>
          </a:xfrm>
          <a:prstGeom prst="rect">
            <a:avLst/>
          </a:prstGeom>
        </p:spPr>
        <p:txBody>
          <a:bodyPr anchor="t" rtlCol="false" tIns="0" lIns="0" bIns="0" rIns="0">
            <a:spAutoFit/>
          </a:bodyPr>
          <a:lstStyle/>
          <a:p>
            <a:pPr algn="l">
              <a:lnSpc>
                <a:spcPts val="1621"/>
              </a:lnSpc>
            </a:pPr>
            <a:r>
              <a:rPr lang="en-US" sz="1351" b="true">
                <a:solidFill>
                  <a:srgbClr val="1A9191"/>
                </a:solidFill>
                <a:latin typeface="Aptos Bold"/>
                <a:ea typeface="Aptos Bold"/>
                <a:cs typeface="Aptos Bold"/>
                <a:sym typeface="Aptos Bold"/>
              </a:rPr>
              <a:t>SYSTEM</a:t>
            </a:r>
          </a:p>
        </p:txBody>
      </p:sp>
      <p:sp>
        <p:nvSpPr>
          <p:cNvPr name="TextBox 7" id="7"/>
          <p:cNvSpPr txBox="true"/>
          <p:nvPr/>
        </p:nvSpPr>
        <p:spPr>
          <a:xfrm rot="0">
            <a:off x="16700773" y="420548"/>
            <a:ext cx="572091" cy="329889"/>
          </a:xfrm>
          <a:prstGeom prst="rect">
            <a:avLst/>
          </a:prstGeom>
        </p:spPr>
        <p:txBody>
          <a:bodyPr anchor="t" rtlCol="false" tIns="0" lIns="0" bIns="0" rIns="0">
            <a:spAutoFit/>
          </a:bodyPr>
          <a:lstStyle/>
          <a:p>
            <a:pPr algn="r">
              <a:lnSpc>
                <a:spcPts val="1621"/>
              </a:lnSpc>
            </a:pPr>
            <a:r>
              <a:rPr lang="en-US" sz="1351" b="true">
                <a:solidFill>
                  <a:srgbClr val="667180"/>
                </a:solidFill>
                <a:latin typeface="Aptos Bold"/>
                <a:ea typeface="Aptos Bold"/>
                <a:cs typeface="Aptos Bold"/>
                <a:sym typeface="Aptos Bold"/>
              </a:rPr>
              <a:t>03</a:t>
            </a:r>
          </a:p>
        </p:txBody>
      </p:sp>
      <p:sp>
        <p:nvSpPr>
          <p:cNvPr name="TextBox 8" id="8"/>
          <p:cNvSpPr txBox="true"/>
          <p:nvPr/>
        </p:nvSpPr>
        <p:spPr>
          <a:xfrm rot="0">
            <a:off x="983675" y="1034044"/>
            <a:ext cx="16289188" cy="938060"/>
          </a:xfrm>
          <a:prstGeom prst="rect">
            <a:avLst/>
          </a:prstGeom>
        </p:spPr>
        <p:txBody>
          <a:bodyPr anchor="t" rtlCol="false" tIns="0" lIns="0" bIns="0" rIns="0">
            <a:spAutoFit/>
          </a:bodyPr>
          <a:lstStyle/>
          <a:p>
            <a:pPr algn="l">
              <a:lnSpc>
                <a:spcPts val="5043"/>
              </a:lnSpc>
            </a:pPr>
            <a:r>
              <a:rPr lang="en-US" sz="4203" b="true">
                <a:solidFill>
                  <a:srgbClr val="121F37"/>
                </a:solidFill>
                <a:latin typeface="Aptos Bold"/>
                <a:ea typeface="Aptos Bold"/>
                <a:cs typeface="Aptos Bold"/>
                <a:sym typeface="Aptos Bold"/>
              </a:rPr>
              <a:t>How the System Works</a:t>
            </a:r>
          </a:p>
        </p:txBody>
      </p:sp>
      <p:sp>
        <p:nvSpPr>
          <p:cNvPr name="TextBox 9" id="9"/>
          <p:cNvSpPr txBox="true"/>
          <p:nvPr/>
        </p:nvSpPr>
        <p:spPr>
          <a:xfrm rot="0">
            <a:off x="1011126" y="1967465"/>
            <a:ext cx="15877384" cy="567442"/>
          </a:xfrm>
          <a:prstGeom prst="rect">
            <a:avLst/>
          </a:prstGeom>
        </p:spPr>
        <p:txBody>
          <a:bodyPr anchor="t" rtlCol="false" tIns="0" lIns="0" bIns="0" rIns="0">
            <a:spAutoFit/>
          </a:bodyPr>
          <a:lstStyle/>
          <a:p>
            <a:pPr algn="l">
              <a:lnSpc>
                <a:spcPts val="2251"/>
              </a:lnSpc>
            </a:pPr>
            <a:r>
              <a:rPr lang="en-US" sz="1876">
                <a:solidFill>
                  <a:srgbClr val="667180"/>
                </a:solidFill>
                <a:latin typeface="Aptos"/>
                <a:ea typeface="Aptos"/>
                <a:cs typeface="Aptos"/>
                <a:sym typeface="Aptos"/>
              </a:rPr>
              <a:t>A simple array-based pipeline keeps the original data safe while algorithms operate on the records.</a:t>
            </a:r>
          </a:p>
        </p:txBody>
      </p:sp>
      <p:grpSp>
        <p:nvGrpSpPr>
          <p:cNvPr name="Group 10" id="10"/>
          <p:cNvGrpSpPr/>
          <p:nvPr/>
        </p:nvGrpSpPr>
        <p:grpSpPr>
          <a:xfrm rot="0">
            <a:off x="885092" y="2738199"/>
            <a:ext cx="2416473" cy="4612748"/>
            <a:chOff x="0" y="0"/>
            <a:chExt cx="3221965" cy="6150331"/>
          </a:xfrm>
        </p:grpSpPr>
        <p:sp>
          <p:nvSpPr>
            <p:cNvPr name="Freeform 11" id="11"/>
            <p:cNvSpPr/>
            <p:nvPr/>
          </p:nvSpPr>
          <p:spPr>
            <a:xfrm flipH="false" flipV="false" rot="0">
              <a:off x="0" y="0"/>
              <a:ext cx="3221863" cy="6150229"/>
            </a:xfrm>
            <a:custGeom>
              <a:avLst/>
              <a:gdLst/>
              <a:ahLst/>
              <a:cxnLst/>
              <a:rect r="r" b="b" t="t" l="l"/>
              <a:pathLst>
                <a:path h="6150229" w="3221863">
                  <a:moveTo>
                    <a:pt x="0" y="536956"/>
                  </a:moveTo>
                  <a:cubicBezTo>
                    <a:pt x="0" y="240411"/>
                    <a:pt x="240411" y="0"/>
                    <a:pt x="536956" y="0"/>
                  </a:cubicBezTo>
                  <a:lnTo>
                    <a:pt x="2684907" y="0"/>
                  </a:lnTo>
                  <a:cubicBezTo>
                    <a:pt x="2981452" y="0"/>
                    <a:pt x="3221863" y="240411"/>
                    <a:pt x="3221863" y="536956"/>
                  </a:cubicBezTo>
                  <a:lnTo>
                    <a:pt x="3221863" y="5613273"/>
                  </a:lnTo>
                  <a:cubicBezTo>
                    <a:pt x="3221863" y="5909818"/>
                    <a:pt x="2981452" y="6150229"/>
                    <a:pt x="2684907" y="6150229"/>
                  </a:cubicBezTo>
                  <a:lnTo>
                    <a:pt x="536956" y="6150229"/>
                  </a:lnTo>
                  <a:cubicBezTo>
                    <a:pt x="240411" y="6150356"/>
                    <a:pt x="0" y="5909945"/>
                    <a:pt x="0" y="5613273"/>
                  </a:cubicBezTo>
                  <a:close/>
                </a:path>
              </a:pathLst>
            </a:custGeom>
            <a:solidFill>
              <a:srgbClr val="F5F8FC"/>
            </a:solidFill>
            <a:ln w="14299" cap="sq">
              <a:solidFill>
                <a:srgbClr val="DEE6F0"/>
              </a:solidFill>
              <a:prstDash val="solid"/>
              <a:miter/>
            </a:ln>
          </p:spPr>
        </p:sp>
      </p:grpSp>
      <p:grpSp>
        <p:nvGrpSpPr>
          <p:cNvPr name="Group 12" id="12"/>
          <p:cNvGrpSpPr/>
          <p:nvPr/>
        </p:nvGrpSpPr>
        <p:grpSpPr>
          <a:xfrm rot="0">
            <a:off x="1070686" y="2964971"/>
            <a:ext cx="494167" cy="494167"/>
            <a:chOff x="0" y="0"/>
            <a:chExt cx="658889" cy="658889"/>
          </a:xfrm>
        </p:grpSpPr>
        <p:sp>
          <p:nvSpPr>
            <p:cNvPr name="Freeform 13" id="13"/>
            <p:cNvSpPr/>
            <p:nvPr/>
          </p:nvSpPr>
          <p:spPr>
            <a:xfrm flipH="false" flipV="false" rot="0">
              <a:off x="0" y="0"/>
              <a:ext cx="658876" cy="658876"/>
            </a:xfrm>
            <a:custGeom>
              <a:avLst/>
              <a:gdLst/>
              <a:ahLst/>
              <a:cxnLst/>
              <a:rect r="r" b="b" t="t" l="l"/>
              <a:pathLst>
                <a:path h="658876" w="658876">
                  <a:moveTo>
                    <a:pt x="0" y="329438"/>
                  </a:moveTo>
                  <a:cubicBezTo>
                    <a:pt x="0" y="147447"/>
                    <a:pt x="147447" y="0"/>
                    <a:pt x="329438" y="0"/>
                  </a:cubicBezTo>
                  <a:cubicBezTo>
                    <a:pt x="511429" y="0"/>
                    <a:pt x="658876" y="147447"/>
                    <a:pt x="658876" y="329438"/>
                  </a:cubicBezTo>
                  <a:cubicBezTo>
                    <a:pt x="658876" y="511429"/>
                    <a:pt x="511429" y="658876"/>
                    <a:pt x="329438" y="658876"/>
                  </a:cubicBezTo>
                  <a:cubicBezTo>
                    <a:pt x="147447" y="658876"/>
                    <a:pt x="0" y="511429"/>
                    <a:pt x="0" y="329438"/>
                  </a:cubicBezTo>
                  <a:close/>
                </a:path>
              </a:pathLst>
            </a:custGeom>
            <a:solidFill>
              <a:srgbClr val="1A9191"/>
            </a:solidFill>
          </p:spPr>
        </p:sp>
      </p:grpSp>
      <p:grpSp>
        <p:nvGrpSpPr>
          <p:cNvPr name="Group 14" id="14"/>
          <p:cNvGrpSpPr/>
          <p:nvPr/>
        </p:nvGrpSpPr>
        <p:grpSpPr>
          <a:xfrm rot="0">
            <a:off x="1070686" y="2992422"/>
            <a:ext cx="494167" cy="384353"/>
            <a:chOff x="0" y="0"/>
            <a:chExt cx="658889" cy="512470"/>
          </a:xfrm>
        </p:grpSpPr>
        <p:sp>
          <p:nvSpPr>
            <p:cNvPr name="Freeform 15" id="15"/>
            <p:cNvSpPr/>
            <p:nvPr/>
          </p:nvSpPr>
          <p:spPr>
            <a:xfrm flipH="false" flipV="false" rot="0">
              <a:off x="0" y="0"/>
              <a:ext cx="658883" cy="512464"/>
            </a:xfrm>
            <a:custGeom>
              <a:avLst/>
              <a:gdLst/>
              <a:ahLst/>
              <a:cxnLst/>
              <a:rect r="r" b="b" t="t" l="l"/>
              <a:pathLst>
                <a:path h="512464" w="658883">
                  <a:moveTo>
                    <a:pt x="0" y="0"/>
                  </a:moveTo>
                  <a:lnTo>
                    <a:pt x="658883" y="0"/>
                  </a:lnTo>
                  <a:lnTo>
                    <a:pt x="658883" y="512464"/>
                  </a:lnTo>
                  <a:lnTo>
                    <a:pt x="0" y="512464"/>
                  </a:lnTo>
                  <a:close/>
                </a:path>
              </a:pathLst>
            </a:custGeom>
            <a:blipFill>
              <a:blip r:embed="rId2">
                <a:alphaModFix amt="0"/>
              </a:blip>
              <a:stretch>
                <a:fillRect l="-49792" t="0" r="-49793" b="-1"/>
              </a:stretch>
            </a:blipFill>
          </p:spPr>
        </p:sp>
        <p:sp>
          <p:nvSpPr>
            <p:cNvPr name="TextBox 16" id="16"/>
            <p:cNvSpPr txBox="true"/>
            <p:nvPr/>
          </p:nvSpPr>
          <p:spPr>
            <a:xfrm>
              <a:off x="0" y="0"/>
              <a:ext cx="658889" cy="512470"/>
            </a:xfrm>
            <a:prstGeom prst="rect">
              <a:avLst/>
            </a:prstGeom>
          </p:spPr>
          <p:txBody>
            <a:bodyPr anchor="ctr" rtlCol="false" tIns="0" lIns="0" bIns="0" rIns="0"/>
            <a:lstStyle/>
            <a:p>
              <a:pPr algn="ctr">
                <a:lnSpc>
                  <a:spcPts val="1801"/>
                </a:lnSpc>
              </a:pPr>
              <a:r>
                <a:rPr lang="en-US" sz="1501" b="true">
                  <a:solidFill>
                    <a:srgbClr val="FFFFFF"/>
                  </a:solidFill>
                  <a:latin typeface="Aptos Bold"/>
                  <a:ea typeface="Aptos Bold"/>
                  <a:cs typeface="Aptos Bold"/>
                  <a:sym typeface="Aptos Bold"/>
                </a:rPr>
                <a:t>1</a:t>
              </a:r>
            </a:p>
          </p:txBody>
        </p:sp>
      </p:grpSp>
      <p:sp>
        <p:nvSpPr>
          <p:cNvPr name="TextBox 17" id="17"/>
          <p:cNvSpPr txBox="true"/>
          <p:nvPr/>
        </p:nvSpPr>
        <p:spPr>
          <a:xfrm rot="0">
            <a:off x="1189577" y="3820573"/>
            <a:ext cx="1807493" cy="388991"/>
          </a:xfrm>
          <a:prstGeom prst="rect">
            <a:avLst/>
          </a:prstGeom>
        </p:spPr>
        <p:txBody>
          <a:bodyPr anchor="t" rtlCol="false" tIns="0" lIns="0" bIns="0" rIns="0">
            <a:spAutoFit/>
          </a:bodyPr>
          <a:lstStyle/>
          <a:p>
            <a:pPr algn="ctr">
              <a:lnSpc>
                <a:spcPts val="1981"/>
              </a:lnSpc>
            </a:pPr>
            <a:r>
              <a:rPr lang="en-US" sz="1651" b="true">
                <a:solidFill>
                  <a:srgbClr val="121F37"/>
                </a:solidFill>
                <a:latin typeface="Aptos Bold"/>
                <a:ea typeface="Aptos Bold"/>
                <a:cs typeface="Aptos Bold"/>
                <a:sym typeface="Aptos Bold"/>
              </a:rPr>
              <a:t>INPUT</a:t>
            </a:r>
          </a:p>
        </p:txBody>
      </p:sp>
      <p:sp>
        <p:nvSpPr>
          <p:cNvPr name="TextBox 18" id="18"/>
          <p:cNvSpPr txBox="true"/>
          <p:nvPr/>
        </p:nvSpPr>
        <p:spPr>
          <a:xfrm rot="0">
            <a:off x="1189577" y="4506906"/>
            <a:ext cx="1807493" cy="2036207"/>
          </a:xfrm>
          <a:prstGeom prst="rect">
            <a:avLst/>
          </a:prstGeom>
        </p:spPr>
        <p:txBody>
          <a:bodyPr anchor="t" rtlCol="false" tIns="0" lIns="0" bIns="0" rIns="0">
            <a:spAutoFit/>
          </a:bodyPr>
          <a:lstStyle/>
          <a:p>
            <a:pPr algn="ctr">
              <a:lnSpc>
                <a:spcPts val="1891"/>
              </a:lnSpc>
            </a:pPr>
            <a:r>
              <a:rPr lang="en-US" sz="1576">
                <a:solidFill>
                  <a:srgbClr val="273140"/>
                </a:solidFill>
                <a:latin typeface="Aptos"/>
                <a:ea typeface="Aptos"/>
                <a:cs typeface="Aptos"/>
                <a:sym typeface="Aptos"/>
              </a:rPr>
              <a:t>Add student records</a:t>
            </a:r>
          </a:p>
          <a:p>
            <a:pPr algn="ctr">
              <a:lnSpc>
                <a:spcPts val="1891"/>
              </a:lnSpc>
            </a:pPr>
            <a:r>
              <a:rPr lang="en-US" sz="1576">
                <a:solidFill>
                  <a:srgbClr val="273140"/>
                </a:solidFill>
                <a:latin typeface="Aptos"/>
                <a:ea typeface="Aptos"/>
                <a:cs typeface="Aptos"/>
                <a:sym typeface="Aptos"/>
              </a:rPr>
              <a:t>ID • Name • Branch • Semester • Marks</a:t>
            </a:r>
          </a:p>
        </p:txBody>
      </p:sp>
      <p:sp>
        <p:nvSpPr>
          <p:cNvPr name="AutoShape 19" id="19"/>
          <p:cNvSpPr/>
          <p:nvPr/>
        </p:nvSpPr>
        <p:spPr>
          <a:xfrm rot="319740">
            <a:off x="3288192" y="5000730"/>
            <a:ext cx="410528" cy="0"/>
          </a:xfrm>
          <a:prstGeom prst="line">
            <a:avLst/>
          </a:prstGeom>
          <a:ln cap="rnd" w="19050">
            <a:solidFill>
              <a:srgbClr val="1A9191"/>
            </a:solidFill>
            <a:prstDash val="solid"/>
            <a:headEnd type="none" len="sm" w="sm"/>
            <a:tailEnd type="none" len="sm" w="sm"/>
          </a:ln>
        </p:spPr>
      </p:sp>
      <p:grpSp>
        <p:nvGrpSpPr>
          <p:cNvPr name="Group 20" id="20"/>
          <p:cNvGrpSpPr/>
          <p:nvPr/>
        </p:nvGrpSpPr>
        <p:grpSpPr>
          <a:xfrm rot="0">
            <a:off x="3767699" y="2738199"/>
            <a:ext cx="2416473" cy="4612748"/>
            <a:chOff x="0" y="0"/>
            <a:chExt cx="3221965" cy="6150331"/>
          </a:xfrm>
        </p:grpSpPr>
        <p:sp>
          <p:nvSpPr>
            <p:cNvPr name="Freeform 21" id="21"/>
            <p:cNvSpPr/>
            <p:nvPr/>
          </p:nvSpPr>
          <p:spPr>
            <a:xfrm flipH="false" flipV="false" rot="0">
              <a:off x="0" y="0"/>
              <a:ext cx="3221863" cy="6150229"/>
            </a:xfrm>
            <a:custGeom>
              <a:avLst/>
              <a:gdLst/>
              <a:ahLst/>
              <a:cxnLst/>
              <a:rect r="r" b="b" t="t" l="l"/>
              <a:pathLst>
                <a:path h="6150229" w="3221863">
                  <a:moveTo>
                    <a:pt x="0" y="536956"/>
                  </a:moveTo>
                  <a:cubicBezTo>
                    <a:pt x="0" y="240411"/>
                    <a:pt x="240411" y="0"/>
                    <a:pt x="536956" y="0"/>
                  </a:cubicBezTo>
                  <a:lnTo>
                    <a:pt x="2684907" y="0"/>
                  </a:lnTo>
                  <a:cubicBezTo>
                    <a:pt x="2981452" y="0"/>
                    <a:pt x="3221863" y="240411"/>
                    <a:pt x="3221863" y="536956"/>
                  </a:cubicBezTo>
                  <a:lnTo>
                    <a:pt x="3221863" y="5613273"/>
                  </a:lnTo>
                  <a:cubicBezTo>
                    <a:pt x="3221863" y="5909818"/>
                    <a:pt x="2981452" y="6150229"/>
                    <a:pt x="2684907" y="6150229"/>
                  </a:cubicBezTo>
                  <a:lnTo>
                    <a:pt x="536956" y="6150229"/>
                  </a:lnTo>
                  <a:cubicBezTo>
                    <a:pt x="240411" y="6150356"/>
                    <a:pt x="0" y="5909945"/>
                    <a:pt x="0" y="5613273"/>
                  </a:cubicBezTo>
                  <a:close/>
                </a:path>
              </a:pathLst>
            </a:custGeom>
            <a:solidFill>
              <a:srgbClr val="F5F8FC"/>
            </a:solidFill>
            <a:ln w="14299" cap="sq">
              <a:solidFill>
                <a:srgbClr val="DEE6F0"/>
              </a:solidFill>
              <a:prstDash val="solid"/>
              <a:miter/>
            </a:ln>
          </p:spPr>
        </p:sp>
      </p:grpSp>
      <p:grpSp>
        <p:nvGrpSpPr>
          <p:cNvPr name="Group 22" id="22"/>
          <p:cNvGrpSpPr/>
          <p:nvPr/>
        </p:nvGrpSpPr>
        <p:grpSpPr>
          <a:xfrm rot="0">
            <a:off x="3953294" y="2964971"/>
            <a:ext cx="494167" cy="494167"/>
            <a:chOff x="0" y="0"/>
            <a:chExt cx="658889" cy="658889"/>
          </a:xfrm>
        </p:grpSpPr>
        <p:sp>
          <p:nvSpPr>
            <p:cNvPr name="Freeform 23" id="23"/>
            <p:cNvSpPr/>
            <p:nvPr/>
          </p:nvSpPr>
          <p:spPr>
            <a:xfrm flipH="false" flipV="false" rot="0">
              <a:off x="0" y="0"/>
              <a:ext cx="658876" cy="658876"/>
            </a:xfrm>
            <a:custGeom>
              <a:avLst/>
              <a:gdLst/>
              <a:ahLst/>
              <a:cxnLst/>
              <a:rect r="r" b="b" t="t" l="l"/>
              <a:pathLst>
                <a:path h="658876" w="658876">
                  <a:moveTo>
                    <a:pt x="0" y="329438"/>
                  </a:moveTo>
                  <a:cubicBezTo>
                    <a:pt x="0" y="147447"/>
                    <a:pt x="147447" y="0"/>
                    <a:pt x="329438" y="0"/>
                  </a:cubicBezTo>
                  <a:cubicBezTo>
                    <a:pt x="511429" y="0"/>
                    <a:pt x="658876" y="147447"/>
                    <a:pt x="658876" y="329438"/>
                  </a:cubicBezTo>
                  <a:cubicBezTo>
                    <a:pt x="658876" y="511429"/>
                    <a:pt x="511429" y="658876"/>
                    <a:pt x="329438" y="658876"/>
                  </a:cubicBezTo>
                  <a:cubicBezTo>
                    <a:pt x="147447" y="658876"/>
                    <a:pt x="0" y="511429"/>
                    <a:pt x="0" y="329438"/>
                  </a:cubicBezTo>
                  <a:close/>
                </a:path>
              </a:pathLst>
            </a:custGeom>
            <a:solidFill>
              <a:srgbClr val="1A9191"/>
            </a:solidFill>
          </p:spPr>
        </p:sp>
      </p:grpSp>
      <p:grpSp>
        <p:nvGrpSpPr>
          <p:cNvPr name="Group 24" id="24"/>
          <p:cNvGrpSpPr/>
          <p:nvPr/>
        </p:nvGrpSpPr>
        <p:grpSpPr>
          <a:xfrm rot="0">
            <a:off x="3953294" y="2992422"/>
            <a:ext cx="494167" cy="384353"/>
            <a:chOff x="0" y="0"/>
            <a:chExt cx="658889" cy="512470"/>
          </a:xfrm>
        </p:grpSpPr>
        <p:sp>
          <p:nvSpPr>
            <p:cNvPr name="Freeform 25" id="25"/>
            <p:cNvSpPr/>
            <p:nvPr/>
          </p:nvSpPr>
          <p:spPr>
            <a:xfrm flipH="false" flipV="false" rot="0">
              <a:off x="0" y="0"/>
              <a:ext cx="658883" cy="512464"/>
            </a:xfrm>
            <a:custGeom>
              <a:avLst/>
              <a:gdLst/>
              <a:ahLst/>
              <a:cxnLst/>
              <a:rect r="r" b="b" t="t" l="l"/>
              <a:pathLst>
                <a:path h="512464" w="658883">
                  <a:moveTo>
                    <a:pt x="0" y="0"/>
                  </a:moveTo>
                  <a:lnTo>
                    <a:pt x="658883" y="0"/>
                  </a:lnTo>
                  <a:lnTo>
                    <a:pt x="658883" y="512464"/>
                  </a:lnTo>
                  <a:lnTo>
                    <a:pt x="0" y="512464"/>
                  </a:lnTo>
                  <a:close/>
                </a:path>
              </a:pathLst>
            </a:custGeom>
            <a:blipFill>
              <a:blip r:embed="rId2">
                <a:alphaModFix amt="0"/>
              </a:blip>
              <a:stretch>
                <a:fillRect l="-49792" t="0" r="-49793" b="-1"/>
              </a:stretch>
            </a:blipFill>
          </p:spPr>
        </p:sp>
        <p:sp>
          <p:nvSpPr>
            <p:cNvPr name="TextBox 26" id="26"/>
            <p:cNvSpPr txBox="true"/>
            <p:nvPr/>
          </p:nvSpPr>
          <p:spPr>
            <a:xfrm>
              <a:off x="0" y="0"/>
              <a:ext cx="658889" cy="512470"/>
            </a:xfrm>
            <a:prstGeom prst="rect">
              <a:avLst/>
            </a:prstGeom>
          </p:spPr>
          <p:txBody>
            <a:bodyPr anchor="ctr" rtlCol="false" tIns="0" lIns="0" bIns="0" rIns="0"/>
            <a:lstStyle/>
            <a:p>
              <a:pPr algn="ctr">
                <a:lnSpc>
                  <a:spcPts val="1801"/>
                </a:lnSpc>
              </a:pPr>
              <a:r>
                <a:rPr lang="en-US" sz="1501" b="true">
                  <a:solidFill>
                    <a:srgbClr val="FFFFFF"/>
                  </a:solidFill>
                  <a:latin typeface="Aptos Bold"/>
                  <a:ea typeface="Aptos Bold"/>
                  <a:cs typeface="Aptos Bold"/>
                  <a:sym typeface="Aptos Bold"/>
                </a:rPr>
                <a:t>2</a:t>
              </a:r>
            </a:p>
          </p:txBody>
        </p:sp>
      </p:grpSp>
      <p:sp>
        <p:nvSpPr>
          <p:cNvPr name="TextBox 27" id="27"/>
          <p:cNvSpPr txBox="true"/>
          <p:nvPr/>
        </p:nvSpPr>
        <p:spPr>
          <a:xfrm rot="0">
            <a:off x="4072195" y="3820573"/>
            <a:ext cx="1807493" cy="388991"/>
          </a:xfrm>
          <a:prstGeom prst="rect">
            <a:avLst/>
          </a:prstGeom>
        </p:spPr>
        <p:txBody>
          <a:bodyPr anchor="t" rtlCol="false" tIns="0" lIns="0" bIns="0" rIns="0">
            <a:spAutoFit/>
          </a:bodyPr>
          <a:lstStyle/>
          <a:p>
            <a:pPr algn="ctr">
              <a:lnSpc>
                <a:spcPts val="1981"/>
              </a:lnSpc>
            </a:pPr>
            <a:r>
              <a:rPr lang="en-US" sz="1651" b="true">
                <a:solidFill>
                  <a:srgbClr val="121F37"/>
                </a:solidFill>
                <a:latin typeface="Aptos Bold"/>
                <a:ea typeface="Aptos Bold"/>
                <a:cs typeface="Aptos Bold"/>
                <a:sym typeface="Aptos Bold"/>
              </a:rPr>
              <a:t>STORAGE</a:t>
            </a:r>
          </a:p>
        </p:txBody>
      </p:sp>
      <p:sp>
        <p:nvSpPr>
          <p:cNvPr name="TextBox 28" id="28"/>
          <p:cNvSpPr txBox="true"/>
          <p:nvPr/>
        </p:nvSpPr>
        <p:spPr>
          <a:xfrm rot="0">
            <a:off x="4072195" y="4506906"/>
            <a:ext cx="1807493" cy="2036207"/>
          </a:xfrm>
          <a:prstGeom prst="rect">
            <a:avLst/>
          </a:prstGeom>
        </p:spPr>
        <p:txBody>
          <a:bodyPr anchor="t" rtlCol="false" tIns="0" lIns="0" bIns="0" rIns="0">
            <a:spAutoFit/>
          </a:bodyPr>
          <a:lstStyle/>
          <a:p>
            <a:pPr algn="ctr">
              <a:lnSpc>
                <a:spcPts val="1891"/>
              </a:lnSpc>
            </a:pPr>
            <a:r>
              <a:rPr lang="en-US" sz="1576">
                <a:solidFill>
                  <a:srgbClr val="273140"/>
                </a:solidFill>
                <a:latin typeface="Aptos"/>
                <a:ea typeface="Aptos"/>
                <a:cs typeface="Aptos"/>
                <a:sym typeface="Aptos"/>
              </a:rPr>
              <a:t>Fixed array of</a:t>
            </a:r>
          </a:p>
          <a:p>
            <a:pPr algn="ctr">
              <a:lnSpc>
                <a:spcPts val="1891"/>
              </a:lnSpc>
            </a:pPr>
            <a:r>
              <a:rPr lang="en-US" sz="1576">
                <a:solidFill>
                  <a:srgbClr val="273140"/>
                </a:solidFill>
                <a:latin typeface="Aptos"/>
                <a:ea typeface="Aptos"/>
                <a:cs typeface="Aptos"/>
                <a:sym typeface="Aptos"/>
              </a:rPr>
              <a:t>struct Student</a:t>
            </a:r>
          </a:p>
          <a:p>
            <a:pPr algn="ctr">
              <a:lnSpc>
                <a:spcPts val="1891"/>
              </a:lnSpc>
            </a:pPr>
            <a:r>
              <a:rPr lang="en-US" sz="1576">
                <a:solidFill>
                  <a:srgbClr val="273140"/>
                </a:solidFill>
                <a:latin typeface="Aptos"/>
                <a:ea typeface="Aptos"/>
                <a:cs typeface="Aptos"/>
                <a:sym typeface="Aptos"/>
              </a:rPr>
              <a:t>Capacity: 100</a:t>
            </a:r>
          </a:p>
        </p:txBody>
      </p:sp>
      <p:sp>
        <p:nvSpPr>
          <p:cNvPr name="AutoShape 29" id="29"/>
          <p:cNvSpPr/>
          <p:nvPr/>
        </p:nvSpPr>
        <p:spPr>
          <a:xfrm rot="319740">
            <a:off x="6170800" y="5000730"/>
            <a:ext cx="410528" cy="0"/>
          </a:xfrm>
          <a:prstGeom prst="line">
            <a:avLst/>
          </a:prstGeom>
          <a:ln cap="rnd" w="19050">
            <a:solidFill>
              <a:srgbClr val="1A9191"/>
            </a:solidFill>
            <a:prstDash val="solid"/>
            <a:headEnd type="none" len="sm" w="sm"/>
            <a:tailEnd type="none" len="sm" w="sm"/>
          </a:ln>
        </p:spPr>
      </p:sp>
      <p:grpSp>
        <p:nvGrpSpPr>
          <p:cNvPr name="Group 30" id="30"/>
          <p:cNvGrpSpPr/>
          <p:nvPr/>
        </p:nvGrpSpPr>
        <p:grpSpPr>
          <a:xfrm rot="0">
            <a:off x="6650307" y="2738199"/>
            <a:ext cx="2416473" cy="4612748"/>
            <a:chOff x="0" y="0"/>
            <a:chExt cx="3221965" cy="6150331"/>
          </a:xfrm>
        </p:grpSpPr>
        <p:sp>
          <p:nvSpPr>
            <p:cNvPr name="Freeform 31" id="31"/>
            <p:cNvSpPr/>
            <p:nvPr/>
          </p:nvSpPr>
          <p:spPr>
            <a:xfrm flipH="false" flipV="false" rot="0">
              <a:off x="0" y="0"/>
              <a:ext cx="3221863" cy="6150229"/>
            </a:xfrm>
            <a:custGeom>
              <a:avLst/>
              <a:gdLst/>
              <a:ahLst/>
              <a:cxnLst/>
              <a:rect r="r" b="b" t="t" l="l"/>
              <a:pathLst>
                <a:path h="6150229" w="3221863">
                  <a:moveTo>
                    <a:pt x="0" y="536956"/>
                  </a:moveTo>
                  <a:cubicBezTo>
                    <a:pt x="0" y="240411"/>
                    <a:pt x="240411" y="0"/>
                    <a:pt x="536956" y="0"/>
                  </a:cubicBezTo>
                  <a:lnTo>
                    <a:pt x="2684907" y="0"/>
                  </a:lnTo>
                  <a:cubicBezTo>
                    <a:pt x="2981452" y="0"/>
                    <a:pt x="3221863" y="240411"/>
                    <a:pt x="3221863" y="536956"/>
                  </a:cubicBezTo>
                  <a:lnTo>
                    <a:pt x="3221863" y="5613273"/>
                  </a:lnTo>
                  <a:cubicBezTo>
                    <a:pt x="3221863" y="5909818"/>
                    <a:pt x="2981452" y="6150229"/>
                    <a:pt x="2684907" y="6150229"/>
                  </a:cubicBezTo>
                  <a:lnTo>
                    <a:pt x="536956" y="6150229"/>
                  </a:lnTo>
                  <a:cubicBezTo>
                    <a:pt x="240411" y="6150356"/>
                    <a:pt x="0" y="5909945"/>
                    <a:pt x="0" y="5613273"/>
                  </a:cubicBezTo>
                  <a:close/>
                </a:path>
              </a:pathLst>
            </a:custGeom>
            <a:solidFill>
              <a:srgbClr val="F5F8FC"/>
            </a:solidFill>
            <a:ln w="14299" cap="sq">
              <a:solidFill>
                <a:srgbClr val="DEE6F0"/>
              </a:solidFill>
              <a:prstDash val="solid"/>
              <a:miter/>
            </a:ln>
          </p:spPr>
        </p:sp>
      </p:grpSp>
      <p:grpSp>
        <p:nvGrpSpPr>
          <p:cNvPr name="Group 32" id="32"/>
          <p:cNvGrpSpPr/>
          <p:nvPr/>
        </p:nvGrpSpPr>
        <p:grpSpPr>
          <a:xfrm rot="0">
            <a:off x="6835912" y="2964971"/>
            <a:ext cx="494167" cy="494167"/>
            <a:chOff x="0" y="0"/>
            <a:chExt cx="658889" cy="658889"/>
          </a:xfrm>
        </p:grpSpPr>
        <p:sp>
          <p:nvSpPr>
            <p:cNvPr name="Freeform 33" id="33"/>
            <p:cNvSpPr/>
            <p:nvPr/>
          </p:nvSpPr>
          <p:spPr>
            <a:xfrm flipH="false" flipV="false" rot="0">
              <a:off x="0" y="0"/>
              <a:ext cx="658876" cy="658876"/>
            </a:xfrm>
            <a:custGeom>
              <a:avLst/>
              <a:gdLst/>
              <a:ahLst/>
              <a:cxnLst/>
              <a:rect r="r" b="b" t="t" l="l"/>
              <a:pathLst>
                <a:path h="658876" w="658876">
                  <a:moveTo>
                    <a:pt x="0" y="329438"/>
                  </a:moveTo>
                  <a:cubicBezTo>
                    <a:pt x="0" y="147447"/>
                    <a:pt x="147447" y="0"/>
                    <a:pt x="329438" y="0"/>
                  </a:cubicBezTo>
                  <a:cubicBezTo>
                    <a:pt x="511429" y="0"/>
                    <a:pt x="658876" y="147447"/>
                    <a:pt x="658876" y="329438"/>
                  </a:cubicBezTo>
                  <a:cubicBezTo>
                    <a:pt x="658876" y="511429"/>
                    <a:pt x="511429" y="658876"/>
                    <a:pt x="329438" y="658876"/>
                  </a:cubicBezTo>
                  <a:cubicBezTo>
                    <a:pt x="147447" y="658876"/>
                    <a:pt x="0" y="511429"/>
                    <a:pt x="0" y="329438"/>
                  </a:cubicBezTo>
                  <a:close/>
                </a:path>
              </a:pathLst>
            </a:custGeom>
            <a:solidFill>
              <a:srgbClr val="1A9191"/>
            </a:solidFill>
          </p:spPr>
        </p:sp>
      </p:grpSp>
      <p:grpSp>
        <p:nvGrpSpPr>
          <p:cNvPr name="Group 34" id="34"/>
          <p:cNvGrpSpPr/>
          <p:nvPr/>
        </p:nvGrpSpPr>
        <p:grpSpPr>
          <a:xfrm rot="0">
            <a:off x="6835912" y="2992422"/>
            <a:ext cx="494167" cy="384353"/>
            <a:chOff x="0" y="0"/>
            <a:chExt cx="658889" cy="512470"/>
          </a:xfrm>
        </p:grpSpPr>
        <p:sp>
          <p:nvSpPr>
            <p:cNvPr name="Freeform 35" id="35"/>
            <p:cNvSpPr/>
            <p:nvPr/>
          </p:nvSpPr>
          <p:spPr>
            <a:xfrm flipH="false" flipV="false" rot="0">
              <a:off x="0" y="0"/>
              <a:ext cx="658883" cy="512464"/>
            </a:xfrm>
            <a:custGeom>
              <a:avLst/>
              <a:gdLst/>
              <a:ahLst/>
              <a:cxnLst/>
              <a:rect r="r" b="b" t="t" l="l"/>
              <a:pathLst>
                <a:path h="512464" w="658883">
                  <a:moveTo>
                    <a:pt x="0" y="0"/>
                  </a:moveTo>
                  <a:lnTo>
                    <a:pt x="658883" y="0"/>
                  </a:lnTo>
                  <a:lnTo>
                    <a:pt x="658883" y="512464"/>
                  </a:lnTo>
                  <a:lnTo>
                    <a:pt x="0" y="512464"/>
                  </a:lnTo>
                  <a:close/>
                </a:path>
              </a:pathLst>
            </a:custGeom>
            <a:blipFill>
              <a:blip r:embed="rId2">
                <a:alphaModFix amt="0"/>
              </a:blip>
              <a:stretch>
                <a:fillRect l="-49792" t="0" r="-49793" b="-1"/>
              </a:stretch>
            </a:blipFill>
          </p:spPr>
        </p:sp>
        <p:sp>
          <p:nvSpPr>
            <p:cNvPr name="TextBox 36" id="36"/>
            <p:cNvSpPr txBox="true"/>
            <p:nvPr/>
          </p:nvSpPr>
          <p:spPr>
            <a:xfrm>
              <a:off x="0" y="0"/>
              <a:ext cx="658889" cy="512470"/>
            </a:xfrm>
            <a:prstGeom prst="rect">
              <a:avLst/>
            </a:prstGeom>
          </p:spPr>
          <p:txBody>
            <a:bodyPr anchor="ctr" rtlCol="false" tIns="0" lIns="0" bIns="0" rIns="0"/>
            <a:lstStyle/>
            <a:p>
              <a:pPr algn="ctr">
                <a:lnSpc>
                  <a:spcPts val="1801"/>
                </a:lnSpc>
              </a:pPr>
              <a:r>
                <a:rPr lang="en-US" sz="1501" b="true">
                  <a:solidFill>
                    <a:srgbClr val="FFFFFF"/>
                  </a:solidFill>
                  <a:latin typeface="Aptos Bold"/>
                  <a:ea typeface="Aptos Bold"/>
                  <a:cs typeface="Aptos Bold"/>
                  <a:sym typeface="Aptos Bold"/>
                </a:rPr>
                <a:t>3</a:t>
              </a:r>
            </a:p>
          </p:txBody>
        </p:sp>
      </p:grpSp>
      <p:sp>
        <p:nvSpPr>
          <p:cNvPr name="TextBox 37" id="37"/>
          <p:cNvSpPr txBox="true"/>
          <p:nvPr/>
        </p:nvSpPr>
        <p:spPr>
          <a:xfrm rot="0">
            <a:off x="6954803" y="3820573"/>
            <a:ext cx="1807493" cy="388991"/>
          </a:xfrm>
          <a:prstGeom prst="rect">
            <a:avLst/>
          </a:prstGeom>
        </p:spPr>
        <p:txBody>
          <a:bodyPr anchor="t" rtlCol="false" tIns="0" lIns="0" bIns="0" rIns="0">
            <a:spAutoFit/>
          </a:bodyPr>
          <a:lstStyle/>
          <a:p>
            <a:pPr algn="ctr">
              <a:lnSpc>
                <a:spcPts val="1981"/>
              </a:lnSpc>
            </a:pPr>
            <a:r>
              <a:rPr lang="en-US" sz="1651" b="true">
                <a:solidFill>
                  <a:srgbClr val="121F37"/>
                </a:solidFill>
                <a:latin typeface="Aptos Bold"/>
                <a:ea typeface="Aptos Bold"/>
                <a:cs typeface="Aptos Bold"/>
                <a:sym typeface="Aptos Bold"/>
              </a:rPr>
              <a:t>SEARCH</a:t>
            </a:r>
          </a:p>
        </p:txBody>
      </p:sp>
      <p:sp>
        <p:nvSpPr>
          <p:cNvPr name="TextBox 38" id="38"/>
          <p:cNvSpPr txBox="true"/>
          <p:nvPr/>
        </p:nvSpPr>
        <p:spPr>
          <a:xfrm rot="0">
            <a:off x="6954803" y="4506906"/>
            <a:ext cx="1807493" cy="2036207"/>
          </a:xfrm>
          <a:prstGeom prst="rect">
            <a:avLst/>
          </a:prstGeom>
        </p:spPr>
        <p:txBody>
          <a:bodyPr anchor="t" rtlCol="false" tIns="0" lIns="0" bIns="0" rIns="0">
            <a:spAutoFit/>
          </a:bodyPr>
          <a:lstStyle/>
          <a:p>
            <a:pPr algn="ctr">
              <a:lnSpc>
                <a:spcPts val="1891"/>
              </a:lnSpc>
            </a:pPr>
            <a:r>
              <a:rPr lang="en-US" sz="1576">
                <a:solidFill>
                  <a:srgbClr val="273140"/>
                </a:solidFill>
                <a:latin typeface="Aptos"/>
                <a:ea typeface="Aptos"/>
                <a:cs typeface="Aptos"/>
                <a:sym typeface="Aptos"/>
              </a:rPr>
              <a:t>Linear • Sentinel</a:t>
            </a:r>
          </a:p>
          <a:p>
            <a:pPr algn="ctr">
              <a:lnSpc>
                <a:spcPts val="1891"/>
              </a:lnSpc>
            </a:pPr>
            <a:r>
              <a:rPr lang="en-US" sz="1576">
                <a:solidFill>
                  <a:srgbClr val="273140"/>
                </a:solidFill>
                <a:latin typeface="Aptos"/>
                <a:ea typeface="Aptos"/>
                <a:cs typeface="Aptos"/>
                <a:sym typeface="Aptos"/>
              </a:rPr>
              <a:t>Binary • Fibonacci</a:t>
            </a:r>
          </a:p>
        </p:txBody>
      </p:sp>
      <p:sp>
        <p:nvSpPr>
          <p:cNvPr name="AutoShape 39" id="39"/>
          <p:cNvSpPr/>
          <p:nvPr/>
        </p:nvSpPr>
        <p:spPr>
          <a:xfrm rot="319740">
            <a:off x="9053408" y="5000730"/>
            <a:ext cx="410528" cy="0"/>
          </a:xfrm>
          <a:prstGeom prst="line">
            <a:avLst/>
          </a:prstGeom>
          <a:ln cap="rnd" w="19050">
            <a:solidFill>
              <a:srgbClr val="1A9191"/>
            </a:solidFill>
            <a:prstDash val="solid"/>
            <a:headEnd type="none" len="sm" w="sm"/>
            <a:tailEnd type="none" len="sm" w="sm"/>
          </a:ln>
        </p:spPr>
      </p:sp>
      <p:grpSp>
        <p:nvGrpSpPr>
          <p:cNvPr name="Group 40" id="40"/>
          <p:cNvGrpSpPr/>
          <p:nvPr/>
        </p:nvGrpSpPr>
        <p:grpSpPr>
          <a:xfrm rot="0">
            <a:off x="9532925" y="2738199"/>
            <a:ext cx="2416473" cy="4612748"/>
            <a:chOff x="0" y="0"/>
            <a:chExt cx="3221965" cy="6150331"/>
          </a:xfrm>
        </p:grpSpPr>
        <p:sp>
          <p:nvSpPr>
            <p:cNvPr name="Freeform 41" id="41"/>
            <p:cNvSpPr/>
            <p:nvPr/>
          </p:nvSpPr>
          <p:spPr>
            <a:xfrm flipH="false" flipV="false" rot="0">
              <a:off x="0" y="0"/>
              <a:ext cx="3221863" cy="6150229"/>
            </a:xfrm>
            <a:custGeom>
              <a:avLst/>
              <a:gdLst/>
              <a:ahLst/>
              <a:cxnLst/>
              <a:rect r="r" b="b" t="t" l="l"/>
              <a:pathLst>
                <a:path h="6150229" w="3221863">
                  <a:moveTo>
                    <a:pt x="0" y="536956"/>
                  </a:moveTo>
                  <a:cubicBezTo>
                    <a:pt x="0" y="240411"/>
                    <a:pt x="240411" y="0"/>
                    <a:pt x="536956" y="0"/>
                  </a:cubicBezTo>
                  <a:lnTo>
                    <a:pt x="2684907" y="0"/>
                  </a:lnTo>
                  <a:cubicBezTo>
                    <a:pt x="2981452" y="0"/>
                    <a:pt x="3221863" y="240411"/>
                    <a:pt x="3221863" y="536956"/>
                  </a:cubicBezTo>
                  <a:lnTo>
                    <a:pt x="3221863" y="5613273"/>
                  </a:lnTo>
                  <a:cubicBezTo>
                    <a:pt x="3221863" y="5909818"/>
                    <a:pt x="2981452" y="6150229"/>
                    <a:pt x="2684907" y="6150229"/>
                  </a:cubicBezTo>
                  <a:lnTo>
                    <a:pt x="536956" y="6150229"/>
                  </a:lnTo>
                  <a:cubicBezTo>
                    <a:pt x="240411" y="6150356"/>
                    <a:pt x="0" y="5909945"/>
                    <a:pt x="0" y="5613273"/>
                  </a:cubicBezTo>
                  <a:close/>
                </a:path>
              </a:pathLst>
            </a:custGeom>
            <a:solidFill>
              <a:srgbClr val="F5F8FC"/>
            </a:solidFill>
            <a:ln w="14299" cap="sq">
              <a:solidFill>
                <a:srgbClr val="DEE6F0"/>
              </a:solidFill>
              <a:prstDash val="solid"/>
              <a:miter/>
            </a:ln>
          </p:spPr>
        </p:sp>
      </p:grpSp>
      <p:grpSp>
        <p:nvGrpSpPr>
          <p:cNvPr name="Group 42" id="42"/>
          <p:cNvGrpSpPr/>
          <p:nvPr/>
        </p:nvGrpSpPr>
        <p:grpSpPr>
          <a:xfrm rot="0">
            <a:off x="9718519" y="2964971"/>
            <a:ext cx="494167" cy="494167"/>
            <a:chOff x="0" y="0"/>
            <a:chExt cx="658889" cy="658889"/>
          </a:xfrm>
        </p:grpSpPr>
        <p:sp>
          <p:nvSpPr>
            <p:cNvPr name="Freeform 43" id="43"/>
            <p:cNvSpPr/>
            <p:nvPr/>
          </p:nvSpPr>
          <p:spPr>
            <a:xfrm flipH="false" flipV="false" rot="0">
              <a:off x="0" y="0"/>
              <a:ext cx="658876" cy="658876"/>
            </a:xfrm>
            <a:custGeom>
              <a:avLst/>
              <a:gdLst/>
              <a:ahLst/>
              <a:cxnLst/>
              <a:rect r="r" b="b" t="t" l="l"/>
              <a:pathLst>
                <a:path h="658876" w="658876">
                  <a:moveTo>
                    <a:pt x="0" y="329438"/>
                  </a:moveTo>
                  <a:cubicBezTo>
                    <a:pt x="0" y="147447"/>
                    <a:pt x="147447" y="0"/>
                    <a:pt x="329438" y="0"/>
                  </a:cubicBezTo>
                  <a:cubicBezTo>
                    <a:pt x="511429" y="0"/>
                    <a:pt x="658876" y="147447"/>
                    <a:pt x="658876" y="329438"/>
                  </a:cubicBezTo>
                  <a:cubicBezTo>
                    <a:pt x="658876" y="511429"/>
                    <a:pt x="511429" y="658876"/>
                    <a:pt x="329438" y="658876"/>
                  </a:cubicBezTo>
                  <a:cubicBezTo>
                    <a:pt x="147447" y="658876"/>
                    <a:pt x="0" y="511429"/>
                    <a:pt x="0" y="329438"/>
                  </a:cubicBezTo>
                  <a:close/>
                </a:path>
              </a:pathLst>
            </a:custGeom>
            <a:solidFill>
              <a:srgbClr val="1A9191"/>
            </a:solidFill>
          </p:spPr>
        </p:sp>
      </p:grpSp>
      <p:grpSp>
        <p:nvGrpSpPr>
          <p:cNvPr name="Group 44" id="44"/>
          <p:cNvGrpSpPr/>
          <p:nvPr/>
        </p:nvGrpSpPr>
        <p:grpSpPr>
          <a:xfrm rot="0">
            <a:off x="9718519" y="2992422"/>
            <a:ext cx="494167" cy="384353"/>
            <a:chOff x="0" y="0"/>
            <a:chExt cx="658889" cy="512470"/>
          </a:xfrm>
        </p:grpSpPr>
        <p:sp>
          <p:nvSpPr>
            <p:cNvPr name="Freeform 45" id="45"/>
            <p:cNvSpPr/>
            <p:nvPr/>
          </p:nvSpPr>
          <p:spPr>
            <a:xfrm flipH="false" flipV="false" rot="0">
              <a:off x="0" y="0"/>
              <a:ext cx="658883" cy="512464"/>
            </a:xfrm>
            <a:custGeom>
              <a:avLst/>
              <a:gdLst/>
              <a:ahLst/>
              <a:cxnLst/>
              <a:rect r="r" b="b" t="t" l="l"/>
              <a:pathLst>
                <a:path h="512464" w="658883">
                  <a:moveTo>
                    <a:pt x="0" y="0"/>
                  </a:moveTo>
                  <a:lnTo>
                    <a:pt x="658883" y="0"/>
                  </a:lnTo>
                  <a:lnTo>
                    <a:pt x="658883" y="512464"/>
                  </a:lnTo>
                  <a:lnTo>
                    <a:pt x="0" y="512464"/>
                  </a:lnTo>
                  <a:close/>
                </a:path>
              </a:pathLst>
            </a:custGeom>
            <a:blipFill>
              <a:blip r:embed="rId2">
                <a:alphaModFix amt="0"/>
              </a:blip>
              <a:stretch>
                <a:fillRect l="-49792" t="0" r="-49793" b="-1"/>
              </a:stretch>
            </a:blipFill>
          </p:spPr>
        </p:sp>
        <p:sp>
          <p:nvSpPr>
            <p:cNvPr name="TextBox 46" id="46"/>
            <p:cNvSpPr txBox="true"/>
            <p:nvPr/>
          </p:nvSpPr>
          <p:spPr>
            <a:xfrm>
              <a:off x="0" y="0"/>
              <a:ext cx="658889" cy="512470"/>
            </a:xfrm>
            <a:prstGeom prst="rect">
              <a:avLst/>
            </a:prstGeom>
          </p:spPr>
          <p:txBody>
            <a:bodyPr anchor="ctr" rtlCol="false" tIns="0" lIns="0" bIns="0" rIns="0"/>
            <a:lstStyle/>
            <a:p>
              <a:pPr algn="ctr">
                <a:lnSpc>
                  <a:spcPts val="1801"/>
                </a:lnSpc>
              </a:pPr>
              <a:r>
                <a:rPr lang="en-US" sz="1501" b="true">
                  <a:solidFill>
                    <a:srgbClr val="FFFFFF"/>
                  </a:solidFill>
                  <a:latin typeface="Aptos Bold"/>
                  <a:ea typeface="Aptos Bold"/>
                  <a:cs typeface="Aptos Bold"/>
                  <a:sym typeface="Aptos Bold"/>
                </a:rPr>
                <a:t>4</a:t>
              </a:r>
            </a:p>
          </p:txBody>
        </p:sp>
      </p:grpSp>
      <p:sp>
        <p:nvSpPr>
          <p:cNvPr name="TextBox 47" id="47"/>
          <p:cNvSpPr txBox="true"/>
          <p:nvPr/>
        </p:nvSpPr>
        <p:spPr>
          <a:xfrm rot="0">
            <a:off x="9837410" y="3820573"/>
            <a:ext cx="1807493" cy="388991"/>
          </a:xfrm>
          <a:prstGeom prst="rect">
            <a:avLst/>
          </a:prstGeom>
        </p:spPr>
        <p:txBody>
          <a:bodyPr anchor="t" rtlCol="false" tIns="0" lIns="0" bIns="0" rIns="0">
            <a:spAutoFit/>
          </a:bodyPr>
          <a:lstStyle/>
          <a:p>
            <a:pPr algn="ctr">
              <a:lnSpc>
                <a:spcPts val="1981"/>
              </a:lnSpc>
            </a:pPr>
            <a:r>
              <a:rPr lang="en-US" sz="1651" b="true">
                <a:solidFill>
                  <a:srgbClr val="121F37"/>
                </a:solidFill>
                <a:latin typeface="Aptos Bold"/>
                <a:ea typeface="Aptos Bold"/>
                <a:cs typeface="Aptos Bold"/>
                <a:sym typeface="Aptos Bold"/>
              </a:rPr>
              <a:t>SORT</a:t>
            </a:r>
          </a:p>
        </p:txBody>
      </p:sp>
      <p:sp>
        <p:nvSpPr>
          <p:cNvPr name="TextBox 48" id="48"/>
          <p:cNvSpPr txBox="true"/>
          <p:nvPr/>
        </p:nvSpPr>
        <p:spPr>
          <a:xfrm rot="0">
            <a:off x="9837410" y="4506906"/>
            <a:ext cx="1807493" cy="2036207"/>
          </a:xfrm>
          <a:prstGeom prst="rect">
            <a:avLst/>
          </a:prstGeom>
        </p:spPr>
        <p:txBody>
          <a:bodyPr anchor="t" rtlCol="false" tIns="0" lIns="0" bIns="0" rIns="0">
            <a:spAutoFit/>
          </a:bodyPr>
          <a:lstStyle/>
          <a:p>
            <a:pPr algn="ctr">
              <a:lnSpc>
                <a:spcPts val="1891"/>
              </a:lnSpc>
            </a:pPr>
            <a:r>
              <a:rPr lang="en-US" sz="1576">
                <a:solidFill>
                  <a:srgbClr val="273140"/>
                </a:solidFill>
                <a:latin typeface="Aptos"/>
                <a:ea typeface="Aptos"/>
                <a:cs typeface="Aptos"/>
                <a:sym typeface="Aptos"/>
              </a:rPr>
              <a:t>Bubble • Selection • Insertion • Shell</a:t>
            </a:r>
          </a:p>
          <a:p>
            <a:pPr algn="ctr">
              <a:lnSpc>
                <a:spcPts val="1891"/>
              </a:lnSpc>
            </a:pPr>
            <a:r>
              <a:rPr lang="en-US" sz="1576">
                <a:solidFill>
                  <a:srgbClr val="273140"/>
                </a:solidFill>
                <a:latin typeface="Aptos"/>
                <a:ea typeface="Aptos"/>
                <a:cs typeface="Aptos"/>
                <a:sym typeface="Aptos"/>
              </a:rPr>
              <a:t>Merge • Quick • Radix • Bucket</a:t>
            </a:r>
          </a:p>
        </p:txBody>
      </p:sp>
      <p:sp>
        <p:nvSpPr>
          <p:cNvPr name="AutoShape 49" id="49"/>
          <p:cNvSpPr/>
          <p:nvPr/>
        </p:nvSpPr>
        <p:spPr>
          <a:xfrm rot="319740">
            <a:off x="11936025" y="5000730"/>
            <a:ext cx="410528" cy="0"/>
          </a:xfrm>
          <a:prstGeom prst="line">
            <a:avLst/>
          </a:prstGeom>
          <a:ln cap="rnd" w="19050">
            <a:solidFill>
              <a:srgbClr val="1A9191"/>
            </a:solidFill>
            <a:prstDash val="solid"/>
            <a:headEnd type="none" len="sm" w="sm"/>
            <a:tailEnd type="none" len="sm" w="sm"/>
          </a:ln>
        </p:spPr>
      </p:sp>
      <p:grpSp>
        <p:nvGrpSpPr>
          <p:cNvPr name="Group 50" id="50"/>
          <p:cNvGrpSpPr/>
          <p:nvPr/>
        </p:nvGrpSpPr>
        <p:grpSpPr>
          <a:xfrm rot="0">
            <a:off x="12415533" y="2738199"/>
            <a:ext cx="2416473" cy="4612748"/>
            <a:chOff x="0" y="0"/>
            <a:chExt cx="3221965" cy="6150331"/>
          </a:xfrm>
        </p:grpSpPr>
        <p:sp>
          <p:nvSpPr>
            <p:cNvPr name="Freeform 51" id="51"/>
            <p:cNvSpPr/>
            <p:nvPr/>
          </p:nvSpPr>
          <p:spPr>
            <a:xfrm flipH="false" flipV="false" rot="0">
              <a:off x="0" y="0"/>
              <a:ext cx="3221863" cy="6150229"/>
            </a:xfrm>
            <a:custGeom>
              <a:avLst/>
              <a:gdLst/>
              <a:ahLst/>
              <a:cxnLst/>
              <a:rect r="r" b="b" t="t" l="l"/>
              <a:pathLst>
                <a:path h="6150229" w="3221863">
                  <a:moveTo>
                    <a:pt x="0" y="536956"/>
                  </a:moveTo>
                  <a:cubicBezTo>
                    <a:pt x="0" y="240411"/>
                    <a:pt x="240411" y="0"/>
                    <a:pt x="536956" y="0"/>
                  </a:cubicBezTo>
                  <a:lnTo>
                    <a:pt x="2684907" y="0"/>
                  </a:lnTo>
                  <a:cubicBezTo>
                    <a:pt x="2981452" y="0"/>
                    <a:pt x="3221863" y="240411"/>
                    <a:pt x="3221863" y="536956"/>
                  </a:cubicBezTo>
                  <a:lnTo>
                    <a:pt x="3221863" y="5613273"/>
                  </a:lnTo>
                  <a:cubicBezTo>
                    <a:pt x="3221863" y="5909818"/>
                    <a:pt x="2981452" y="6150229"/>
                    <a:pt x="2684907" y="6150229"/>
                  </a:cubicBezTo>
                  <a:lnTo>
                    <a:pt x="536956" y="6150229"/>
                  </a:lnTo>
                  <a:cubicBezTo>
                    <a:pt x="240411" y="6150356"/>
                    <a:pt x="0" y="5909945"/>
                    <a:pt x="0" y="5613273"/>
                  </a:cubicBezTo>
                  <a:close/>
                </a:path>
              </a:pathLst>
            </a:custGeom>
            <a:solidFill>
              <a:srgbClr val="F5F8FC"/>
            </a:solidFill>
            <a:ln w="14299" cap="sq">
              <a:solidFill>
                <a:srgbClr val="DEE6F0"/>
              </a:solidFill>
              <a:prstDash val="solid"/>
              <a:miter/>
            </a:ln>
          </p:spPr>
        </p:sp>
      </p:grpSp>
      <p:grpSp>
        <p:nvGrpSpPr>
          <p:cNvPr name="Group 52" id="52"/>
          <p:cNvGrpSpPr/>
          <p:nvPr/>
        </p:nvGrpSpPr>
        <p:grpSpPr>
          <a:xfrm rot="0">
            <a:off x="12601137" y="2964971"/>
            <a:ext cx="494167" cy="494167"/>
            <a:chOff x="0" y="0"/>
            <a:chExt cx="658889" cy="658889"/>
          </a:xfrm>
        </p:grpSpPr>
        <p:sp>
          <p:nvSpPr>
            <p:cNvPr name="Freeform 53" id="53"/>
            <p:cNvSpPr/>
            <p:nvPr/>
          </p:nvSpPr>
          <p:spPr>
            <a:xfrm flipH="false" flipV="false" rot="0">
              <a:off x="0" y="0"/>
              <a:ext cx="658876" cy="658876"/>
            </a:xfrm>
            <a:custGeom>
              <a:avLst/>
              <a:gdLst/>
              <a:ahLst/>
              <a:cxnLst/>
              <a:rect r="r" b="b" t="t" l="l"/>
              <a:pathLst>
                <a:path h="658876" w="658876">
                  <a:moveTo>
                    <a:pt x="0" y="329438"/>
                  </a:moveTo>
                  <a:cubicBezTo>
                    <a:pt x="0" y="147447"/>
                    <a:pt x="147447" y="0"/>
                    <a:pt x="329438" y="0"/>
                  </a:cubicBezTo>
                  <a:cubicBezTo>
                    <a:pt x="511429" y="0"/>
                    <a:pt x="658876" y="147447"/>
                    <a:pt x="658876" y="329438"/>
                  </a:cubicBezTo>
                  <a:cubicBezTo>
                    <a:pt x="658876" y="511429"/>
                    <a:pt x="511429" y="658876"/>
                    <a:pt x="329438" y="658876"/>
                  </a:cubicBezTo>
                  <a:cubicBezTo>
                    <a:pt x="147447" y="658876"/>
                    <a:pt x="0" y="511429"/>
                    <a:pt x="0" y="329438"/>
                  </a:cubicBezTo>
                  <a:close/>
                </a:path>
              </a:pathLst>
            </a:custGeom>
            <a:solidFill>
              <a:srgbClr val="1A9191"/>
            </a:solidFill>
          </p:spPr>
        </p:sp>
      </p:grpSp>
      <p:grpSp>
        <p:nvGrpSpPr>
          <p:cNvPr name="Group 54" id="54"/>
          <p:cNvGrpSpPr/>
          <p:nvPr/>
        </p:nvGrpSpPr>
        <p:grpSpPr>
          <a:xfrm rot="0">
            <a:off x="12601137" y="2992422"/>
            <a:ext cx="494167" cy="384353"/>
            <a:chOff x="0" y="0"/>
            <a:chExt cx="658889" cy="512470"/>
          </a:xfrm>
        </p:grpSpPr>
        <p:sp>
          <p:nvSpPr>
            <p:cNvPr name="Freeform 55" id="55"/>
            <p:cNvSpPr/>
            <p:nvPr/>
          </p:nvSpPr>
          <p:spPr>
            <a:xfrm flipH="false" flipV="false" rot="0">
              <a:off x="0" y="0"/>
              <a:ext cx="658883" cy="512464"/>
            </a:xfrm>
            <a:custGeom>
              <a:avLst/>
              <a:gdLst/>
              <a:ahLst/>
              <a:cxnLst/>
              <a:rect r="r" b="b" t="t" l="l"/>
              <a:pathLst>
                <a:path h="512464" w="658883">
                  <a:moveTo>
                    <a:pt x="0" y="0"/>
                  </a:moveTo>
                  <a:lnTo>
                    <a:pt x="658883" y="0"/>
                  </a:lnTo>
                  <a:lnTo>
                    <a:pt x="658883" y="512464"/>
                  </a:lnTo>
                  <a:lnTo>
                    <a:pt x="0" y="512464"/>
                  </a:lnTo>
                  <a:close/>
                </a:path>
              </a:pathLst>
            </a:custGeom>
            <a:blipFill>
              <a:blip r:embed="rId2">
                <a:alphaModFix amt="0"/>
              </a:blip>
              <a:stretch>
                <a:fillRect l="-49792" t="0" r="-49793" b="-1"/>
              </a:stretch>
            </a:blipFill>
          </p:spPr>
        </p:sp>
        <p:sp>
          <p:nvSpPr>
            <p:cNvPr name="TextBox 56" id="56"/>
            <p:cNvSpPr txBox="true"/>
            <p:nvPr/>
          </p:nvSpPr>
          <p:spPr>
            <a:xfrm>
              <a:off x="0" y="0"/>
              <a:ext cx="658889" cy="512470"/>
            </a:xfrm>
            <a:prstGeom prst="rect">
              <a:avLst/>
            </a:prstGeom>
          </p:spPr>
          <p:txBody>
            <a:bodyPr anchor="ctr" rtlCol="false" tIns="0" lIns="0" bIns="0" rIns="0"/>
            <a:lstStyle/>
            <a:p>
              <a:pPr algn="ctr">
                <a:lnSpc>
                  <a:spcPts val="1801"/>
                </a:lnSpc>
              </a:pPr>
              <a:r>
                <a:rPr lang="en-US" sz="1501" b="true">
                  <a:solidFill>
                    <a:srgbClr val="FFFFFF"/>
                  </a:solidFill>
                  <a:latin typeface="Aptos Bold"/>
                  <a:ea typeface="Aptos Bold"/>
                  <a:cs typeface="Aptos Bold"/>
                  <a:sym typeface="Aptos Bold"/>
                </a:rPr>
                <a:t>5</a:t>
              </a:r>
            </a:p>
          </p:txBody>
        </p:sp>
      </p:grpSp>
      <p:sp>
        <p:nvSpPr>
          <p:cNvPr name="TextBox 57" id="57"/>
          <p:cNvSpPr txBox="true"/>
          <p:nvPr/>
        </p:nvSpPr>
        <p:spPr>
          <a:xfrm rot="0">
            <a:off x="12720028" y="3820573"/>
            <a:ext cx="1807493" cy="388991"/>
          </a:xfrm>
          <a:prstGeom prst="rect">
            <a:avLst/>
          </a:prstGeom>
        </p:spPr>
        <p:txBody>
          <a:bodyPr anchor="t" rtlCol="false" tIns="0" lIns="0" bIns="0" rIns="0">
            <a:spAutoFit/>
          </a:bodyPr>
          <a:lstStyle/>
          <a:p>
            <a:pPr algn="ctr">
              <a:lnSpc>
                <a:spcPts val="1981"/>
              </a:lnSpc>
            </a:pPr>
            <a:r>
              <a:rPr lang="en-US" sz="1651" b="true">
                <a:solidFill>
                  <a:srgbClr val="121F37"/>
                </a:solidFill>
                <a:latin typeface="Aptos Bold"/>
                <a:ea typeface="Aptos Bold"/>
                <a:cs typeface="Aptos Bold"/>
                <a:sym typeface="Aptos Bold"/>
              </a:rPr>
              <a:t>RANK</a:t>
            </a:r>
          </a:p>
        </p:txBody>
      </p:sp>
      <p:sp>
        <p:nvSpPr>
          <p:cNvPr name="TextBox 58" id="58"/>
          <p:cNvSpPr txBox="true"/>
          <p:nvPr/>
        </p:nvSpPr>
        <p:spPr>
          <a:xfrm rot="0">
            <a:off x="12720028" y="4506906"/>
            <a:ext cx="1807493" cy="2036207"/>
          </a:xfrm>
          <a:prstGeom prst="rect">
            <a:avLst/>
          </a:prstGeom>
        </p:spPr>
        <p:txBody>
          <a:bodyPr anchor="t" rtlCol="false" tIns="0" lIns="0" bIns="0" rIns="0">
            <a:spAutoFit/>
          </a:bodyPr>
          <a:lstStyle/>
          <a:p>
            <a:pPr algn="ctr">
              <a:lnSpc>
                <a:spcPts val="1891"/>
              </a:lnSpc>
            </a:pPr>
            <a:r>
              <a:rPr lang="en-US" sz="1576">
                <a:solidFill>
                  <a:srgbClr val="273140"/>
                </a:solidFill>
                <a:latin typeface="Aptos"/>
                <a:ea typeface="Aptos"/>
                <a:cs typeface="Aptos"/>
                <a:sym typeface="Aptos"/>
              </a:rPr>
              <a:t>Merge sort by marks</a:t>
            </a:r>
          </a:p>
          <a:p>
            <a:pPr algn="ctr">
              <a:lnSpc>
                <a:spcPts val="1891"/>
              </a:lnSpc>
            </a:pPr>
            <a:r>
              <a:rPr lang="en-US" sz="1576">
                <a:solidFill>
                  <a:srgbClr val="273140"/>
                </a:solidFill>
                <a:latin typeface="Aptos"/>
                <a:ea typeface="Aptos"/>
                <a:cs typeface="Aptos"/>
                <a:sym typeface="Aptos"/>
              </a:rPr>
              <a:t>Equal marks share rank</a:t>
            </a:r>
          </a:p>
        </p:txBody>
      </p:sp>
      <p:sp>
        <p:nvSpPr>
          <p:cNvPr name="AutoShape 59" id="59"/>
          <p:cNvSpPr/>
          <p:nvPr/>
        </p:nvSpPr>
        <p:spPr>
          <a:xfrm rot="319740">
            <a:off x="14818633" y="5000730"/>
            <a:ext cx="410528" cy="0"/>
          </a:xfrm>
          <a:prstGeom prst="line">
            <a:avLst/>
          </a:prstGeom>
          <a:ln cap="rnd" w="19050">
            <a:solidFill>
              <a:srgbClr val="1A9191"/>
            </a:solidFill>
            <a:prstDash val="solid"/>
            <a:headEnd type="none" len="sm" w="sm"/>
            <a:tailEnd type="none" len="sm" w="sm"/>
          </a:ln>
        </p:spPr>
      </p:sp>
      <p:grpSp>
        <p:nvGrpSpPr>
          <p:cNvPr name="Group 60" id="60"/>
          <p:cNvGrpSpPr/>
          <p:nvPr/>
        </p:nvGrpSpPr>
        <p:grpSpPr>
          <a:xfrm rot="0">
            <a:off x="15298150" y="2738199"/>
            <a:ext cx="2416473" cy="4612748"/>
            <a:chOff x="0" y="0"/>
            <a:chExt cx="3221965" cy="6150331"/>
          </a:xfrm>
        </p:grpSpPr>
        <p:sp>
          <p:nvSpPr>
            <p:cNvPr name="Freeform 61" id="61"/>
            <p:cNvSpPr/>
            <p:nvPr/>
          </p:nvSpPr>
          <p:spPr>
            <a:xfrm flipH="false" flipV="false" rot="0">
              <a:off x="0" y="0"/>
              <a:ext cx="3221863" cy="6150229"/>
            </a:xfrm>
            <a:custGeom>
              <a:avLst/>
              <a:gdLst/>
              <a:ahLst/>
              <a:cxnLst/>
              <a:rect r="r" b="b" t="t" l="l"/>
              <a:pathLst>
                <a:path h="6150229" w="3221863">
                  <a:moveTo>
                    <a:pt x="0" y="536956"/>
                  </a:moveTo>
                  <a:cubicBezTo>
                    <a:pt x="0" y="240411"/>
                    <a:pt x="240411" y="0"/>
                    <a:pt x="536956" y="0"/>
                  </a:cubicBezTo>
                  <a:lnTo>
                    <a:pt x="2684907" y="0"/>
                  </a:lnTo>
                  <a:cubicBezTo>
                    <a:pt x="2981452" y="0"/>
                    <a:pt x="3221863" y="240411"/>
                    <a:pt x="3221863" y="536956"/>
                  </a:cubicBezTo>
                  <a:lnTo>
                    <a:pt x="3221863" y="5613273"/>
                  </a:lnTo>
                  <a:cubicBezTo>
                    <a:pt x="3221863" y="5909818"/>
                    <a:pt x="2981452" y="6150229"/>
                    <a:pt x="2684907" y="6150229"/>
                  </a:cubicBezTo>
                  <a:lnTo>
                    <a:pt x="536956" y="6150229"/>
                  </a:lnTo>
                  <a:cubicBezTo>
                    <a:pt x="240411" y="6150356"/>
                    <a:pt x="0" y="5909945"/>
                    <a:pt x="0" y="5613273"/>
                  </a:cubicBezTo>
                  <a:close/>
                </a:path>
              </a:pathLst>
            </a:custGeom>
            <a:solidFill>
              <a:srgbClr val="F5F8FC"/>
            </a:solidFill>
            <a:ln w="14299" cap="sq">
              <a:solidFill>
                <a:srgbClr val="DEE6F0"/>
              </a:solidFill>
              <a:prstDash val="solid"/>
              <a:miter/>
            </a:ln>
          </p:spPr>
        </p:sp>
      </p:grpSp>
      <p:grpSp>
        <p:nvGrpSpPr>
          <p:cNvPr name="Group 62" id="62"/>
          <p:cNvGrpSpPr/>
          <p:nvPr/>
        </p:nvGrpSpPr>
        <p:grpSpPr>
          <a:xfrm rot="0">
            <a:off x="15483745" y="2964971"/>
            <a:ext cx="494167" cy="494167"/>
            <a:chOff x="0" y="0"/>
            <a:chExt cx="658889" cy="658889"/>
          </a:xfrm>
        </p:grpSpPr>
        <p:sp>
          <p:nvSpPr>
            <p:cNvPr name="Freeform 63" id="63"/>
            <p:cNvSpPr/>
            <p:nvPr/>
          </p:nvSpPr>
          <p:spPr>
            <a:xfrm flipH="false" flipV="false" rot="0">
              <a:off x="0" y="0"/>
              <a:ext cx="658876" cy="658876"/>
            </a:xfrm>
            <a:custGeom>
              <a:avLst/>
              <a:gdLst/>
              <a:ahLst/>
              <a:cxnLst/>
              <a:rect r="r" b="b" t="t" l="l"/>
              <a:pathLst>
                <a:path h="658876" w="658876">
                  <a:moveTo>
                    <a:pt x="0" y="329438"/>
                  </a:moveTo>
                  <a:cubicBezTo>
                    <a:pt x="0" y="147447"/>
                    <a:pt x="147447" y="0"/>
                    <a:pt x="329438" y="0"/>
                  </a:cubicBezTo>
                  <a:cubicBezTo>
                    <a:pt x="511429" y="0"/>
                    <a:pt x="658876" y="147447"/>
                    <a:pt x="658876" y="329438"/>
                  </a:cubicBezTo>
                  <a:cubicBezTo>
                    <a:pt x="658876" y="511429"/>
                    <a:pt x="511429" y="658876"/>
                    <a:pt x="329438" y="658876"/>
                  </a:cubicBezTo>
                  <a:cubicBezTo>
                    <a:pt x="147447" y="658876"/>
                    <a:pt x="0" y="511429"/>
                    <a:pt x="0" y="329438"/>
                  </a:cubicBezTo>
                  <a:close/>
                </a:path>
              </a:pathLst>
            </a:custGeom>
            <a:solidFill>
              <a:srgbClr val="1A9191"/>
            </a:solidFill>
          </p:spPr>
        </p:sp>
      </p:grpSp>
      <p:grpSp>
        <p:nvGrpSpPr>
          <p:cNvPr name="Group 64" id="64"/>
          <p:cNvGrpSpPr/>
          <p:nvPr/>
        </p:nvGrpSpPr>
        <p:grpSpPr>
          <a:xfrm rot="0">
            <a:off x="15483745" y="2992422"/>
            <a:ext cx="494167" cy="384353"/>
            <a:chOff x="0" y="0"/>
            <a:chExt cx="658889" cy="512470"/>
          </a:xfrm>
        </p:grpSpPr>
        <p:sp>
          <p:nvSpPr>
            <p:cNvPr name="Freeform 65" id="65"/>
            <p:cNvSpPr/>
            <p:nvPr/>
          </p:nvSpPr>
          <p:spPr>
            <a:xfrm flipH="false" flipV="false" rot="0">
              <a:off x="0" y="0"/>
              <a:ext cx="658883" cy="512464"/>
            </a:xfrm>
            <a:custGeom>
              <a:avLst/>
              <a:gdLst/>
              <a:ahLst/>
              <a:cxnLst/>
              <a:rect r="r" b="b" t="t" l="l"/>
              <a:pathLst>
                <a:path h="512464" w="658883">
                  <a:moveTo>
                    <a:pt x="0" y="0"/>
                  </a:moveTo>
                  <a:lnTo>
                    <a:pt x="658883" y="0"/>
                  </a:lnTo>
                  <a:lnTo>
                    <a:pt x="658883" y="512464"/>
                  </a:lnTo>
                  <a:lnTo>
                    <a:pt x="0" y="512464"/>
                  </a:lnTo>
                  <a:close/>
                </a:path>
              </a:pathLst>
            </a:custGeom>
            <a:blipFill>
              <a:blip r:embed="rId2">
                <a:alphaModFix amt="0"/>
              </a:blip>
              <a:stretch>
                <a:fillRect l="-49792" t="0" r="-49793" b="-1"/>
              </a:stretch>
            </a:blipFill>
          </p:spPr>
        </p:sp>
        <p:sp>
          <p:nvSpPr>
            <p:cNvPr name="TextBox 66" id="66"/>
            <p:cNvSpPr txBox="true"/>
            <p:nvPr/>
          </p:nvSpPr>
          <p:spPr>
            <a:xfrm>
              <a:off x="0" y="0"/>
              <a:ext cx="658889" cy="512470"/>
            </a:xfrm>
            <a:prstGeom prst="rect">
              <a:avLst/>
            </a:prstGeom>
          </p:spPr>
          <p:txBody>
            <a:bodyPr anchor="ctr" rtlCol="false" tIns="0" lIns="0" bIns="0" rIns="0"/>
            <a:lstStyle/>
            <a:p>
              <a:pPr algn="ctr">
                <a:lnSpc>
                  <a:spcPts val="1801"/>
                </a:lnSpc>
              </a:pPr>
              <a:r>
                <a:rPr lang="en-US" sz="1501" b="true">
                  <a:solidFill>
                    <a:srgbClr val="FFFFFF"/>
                  </a:solidFill>
                  <a:latin typeface="Aptos Bold"/>
                  <a:ea typeface="Aptos Bold"/>
                  <a:cs typeface="Aptos Bold"/>
                  <a:sym typeface="Aptos Bold"/>
                </a:rPr>
                <a:t>6</a:t>
              </a:r>
            </a:p>
          </p:txBody>
        </p:sp>
      </p:grpSp>
      <p:sp>
        <p:nvSpPr>
          <p:cNvPr name="TextBox 67" id="67"/>
          <p:cNvSpPr txBox="true"/>
          <p:nvPr/>
        </p:nvSpPr>
        <p:spPr>
          <a:xfrm rot="0">
            <a:off x="15602636" y="3820573"/>
            <a:ext cx="1807493" cy="388991"/>
          </a:xfrm>
          <a:prstGeom prst="rect">
            <a:avLst/>
          </a:prstGeom>
        </p:spPr>
        <p:txBody>
          <a:bodyPr anchor="t" rtlCol="false" tIns="0" lIns="0" bIns="0" rIns="0">
            <a:spAutoFit/>
          </a:bodyPr>
          <a:lstStyle/>
          <a:p>
            <a:pPr algn="ctr">
              <a:lnSpc>
                <a:spcPts val="1981"/>
              </a:lnSpc>
            </a:pPr>
            <a:r>
              <a:rPr lang="en-US" sz="1651" b="true">
                <a:solidFill>
                  <a:srgbClr val="121F37"/>
                </a:solidFill>
                <a:latin typeface="Aptos Bold"/>
                <a:ea typeface="Aptos Bold"/>
                <a:cs typeface="Aptos Bold"/>
                <a:sym typeface="Aptos Bold"/>
              </a:rPr>
              <a:t>COMPARE</a:t>
            </a:r>
          </a:p>
        </p:txBody>
      </p:sp>
      <p:sp>
        <p:nvSpPr>
          <p:cNvPr name="TextBox 68" id="68"/>
          <p:cNvSpPr txBox="true"/>
          <p:nvPr/>
        </p:nvSpPr>
        <p:spPr>
          <a:xfrm rot="0">
            <a:off x="15602636" y="4506906"/>
            <a:ext cx="1807493" cy="2036207"/>
          </a:xfrm>
          <a:prstGeom prst="rect">
            <a:avLst/>
          </a:prstGeom>
        </p:spPr>
        <p:txBody>
          <a:bodyPr anchor="t" rtlCol="false" tIns="0" lIns="0" bIns="0" rIns="0">
            <a:spAutoFit/>
          </a:bodyPr>
          <a:lstStyle/>
          <a:p>
            <a:pPr algn="ctr">
              <a:lnSpc>
                <a:spcPts val="1891"/>
              </a:lnSpc>
            </a:pPr>
            <a:r>
              <a:rPr lang="en-US" sz="1576">
                <a:solidFill>
                  <a:srgbClr val="273140"/>
                </a:solidFill>
                <a:latin typeface="Aptos"/>
                <a:ea typeface="Aptos"/>
                <a:cs typeface="Aptos"/>
                <a:sym typeface="Aptos"/>
              </a:rPr>
              <a:t>Comparisons • Swaps</a:t>
            </a:r>
          </a:p>
          <a:p>
            <a:pPr algn="ctr">
              <a:lnSpc>
                <a:spcPts val="1891"/>
              </a:lnSpc>
            </a:pPr>
            <a:r>
              <a:rPr lang="en-US" sz="1576">
                <a:solidFill>
                  <a:srgbClr val="273140"/>
                </a:solidFill>
                <a:latin typeface="Aptos"/>
                <a:ea typeface="Aptos"/>
                <a:cs typeface="Aptos"/>
                <a:sym typeface="Aptos"/>
              </a:rPr>
              <a:t>clock() execution time</a:t>
            </a:r>
          </a:p>
        </p:txBody>
      </p:sp>
      <p:sp>
        <p:nvSpPr>
          <p:cNvPr name="TextBox 69" id="69"/>
          <p:cNvSpPr txBox="true"/>
          <p:nvPr/>
        </p:nvSpPr>
        <p:spPr>
          <a:xfrm rot="0">
            <a:off x="1024861" y="7938583"/>
            <a:ext cx="2699728" cy="388991"/>
          </a:xfrm>
          <a:prstGeom prst="rect">
            <a:avLst/>
          </a:prstGeom>
        </p:spPr>
        <p:txBody>
          <a:bodyPr anchor="t" rtlCol="false" tIns="0" lIns="0" bIns="0" rIns="0">
            <a:spAutoFit/>
          </a:bodyPr>
          <a:lstStyle/>
          <a:p>
            <a:pPr algn="l">
              <a:lnSpc>
                <a:spcPts val="2341"/>
              </a:lnSpc>
            </a:pPr>
            <a:r>
              <a:rPr lang="en-US" sz="1951" b="true">
                <a:solidFill>
                  <a:srgbClr val="EF8F3E"/>
                </a:solidFill>
                <a:latin typeface="Aptos Bold"/>
                <a:ea typeface="Aptos Bold"/>
                <a:cs typeface="Aptos Bold"/>
                <a:sym typeface="Aptos Bold"/>
              </a:rPr>
              <a:t>Important design choice</a:t>
            </a:r>
          </a:p>
        </p:txBody>
      </p:sp>
      <p:sp>
        <p:nvSpPr>
          <p:cNvPr name="TextBox 70" id="70"/>
          <p:cNvSpPr txBox="true"/>
          <p:nvPr/>
        </p:nvSpPr>
        <p:spPr>
          <a:xfrm rot="0">
            <a:off x="3591754" y="7842494"/>
            <a:ext cx="13132041" cy="663531"/>
          </a:xfrm>
          <a:prstGeom prst="rect">
            <a:avLst/>
          </a:prstGeom>
        </p:spPr>
        <p:txBody>
          <a:bodyPr anchor="t" rtlCol="false" tIns="0" lIns="0" bIns="0" rIns="0">
            <a:spAutoFit/>
          </a:bodyPr>
          <a:lstStyle/>
          <a:p>
            <a:pPr algn="l">
              <a:lnSpc>
                <a:spcPts val="2341"/>
              </a:lnSpc>
            </a:pPr>
            <a:r>
              <a:rPr lang="en-US" sz="1951">
                <a:solidFill>
                  <a:srgbClr val="273140"/>
                </a:solidFill>
                <a:latin typeface="Aptos"/>
                <a:ea typeface="Aptos"/>
                <a:cs typeface="Aptos"/>
                <a:sym typeface="Aptos"/>
              </a:rPr>
              <a:t>Binary and Fibonacci search use a sorted copy, so the user's original insertion order remains unchanged.</a:t>
            </a:r>
          </a:p>
        </p:txBody>
      </p:sp>
      <p:grpSp>
        <p:nvGrpSpPr>
          <p:cNvPr name="Group 71" id="71"/>
          <p:cNvGrpSpPr/>
          <p:nvPr/>
        </p:nvGrpSpPr>
        <p:grpSpPr>
          <a:xfrm rot="0">
            <a:off x="892235" y="9800882"/>
            <a:ext cx="16472068" cy="13726"/>
            <a:chOff x="0" y="0"/>
            <a:chExt cx="21962758" cy="18301"/>
          </a:xfrm>
        </p:grpSpPr>
        <p:sp>
          <p:nvSpPr>
            <p:cNvPr name="Freeform 72" id="72"/>
            <p:cNvSpPr/>
            <p:nvPr/>
          </p:nvSpPr>
          <p:spPr>
            <a:xfrm flipH="false" flipV="false" rot="0">
              <a:off x="0" y="0"/>
              <a:ext cx="21962745" cy="18288"/>
            </a:xfrm>
            <a:custGeom>
              <a:avLst/>
              <a:gdLst/>
              <a:ahLst/>
              <a:cxnLst/>
              <a:rect r="r" b="b" t="t" l="l"/>
              <a:pathLst>
                <a:path h="18288" w="21962745">
                  <a:moveTo>
                    <a:pt x="0" y="0"/>
                  </a:moveTo>
                  <a:lnTo>
                    <a:pt x="21962745" y="0"/>
                  </a:lnTo>
                  <a:lnTo>
                    <a:pt x="21962745" y="18288"/>
                  </a:lnTo>
                  <a:lnTo>
                    <a:pt x="0" y="18288"/>
                  </a:lnTo>
                  <a:close/>
                </a:path>
              </a:pathLst>
            </a:custGeom>
            <a:solidFill>
              <a:srgbClr val="DEE6F0"/>
            </a:solidFill>
          </p:spPr>
        </p:sp>
      </p:grpSp>
      <p:sp>
        <p:nvSpPr>
          <p:cNvPr name="TextBox 73" id="73"/>
          <p:cNvSpPr txBox="true"/>
          <p:nvPr/>
        </p:nvSpPr>
        <p:spPr>
          <a:xfrm rot="0">
            <a:off x="983675" y="9915239"/>
            <a:ext cx="10798502" cy="183099"/>
          </a:xfrm>
          <a:prstGeom prst="rect">
            <a:avLst/>
          </a:prstGeom>
        </p:spPr>
        <p:txBody>
          <a:bodyPr anchor="t" rtlCol="false" tIns="0" lIns="0" bIns="0" rIns="0">
            <a:spAutoFit/>
          </a:bodyPr>
          <a:lstStyle/>
          <a:p>
            <a:pPr algn="l">
              <a:lnSpc>
                <a:spcPts val="1441"/>
              </a:lnSpc>
            </a:pPr>
            <a:r>
              <a:rPr lang="en-US" sz="1200">
                <a:solidFill>
                  <a:srgbClr val="667180"/>
                </a:solidFill>
                <a:latin typeface="Aptos"/>
                <a:ea typeface="Aptos"/>
                <a:cs typeface="Aptos"/>
                <a:sym typeface="Aptos"/>
              </a:rPr>
              <a:t>Smart Student Search &amp; Ranking System</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4" id="4"/>
          <p:cNvGrpSpPr/>
          <p:nvPr/>
        </p:nvGrpSpPr>
        <p:grpSpPr>
          <a:xfrm rot="0">
            <a:off x="0" y="0"/>
            <a:ext cx="18301840" cy="178451"/>
            <a:chOff x="0" y="0"/>
            <a:chExt cx="24402453" cy="237934"/>
          </a:xfrm>
        </p:grpSpPr>
        <p:sp>
          <p:nvSpPr>
            <p:cNvPr name="Freeform 5" id="5"/>
            <p:cNvSpPr/>
            <p:nvPr/>
          </p:nvSpPr>
          <p:spPr>
            <a:xfrm flipH="false" flipV="false" rot="0">
              <a:off x="0" y="0"/>
              <a:ext cx="24402414" cy="237871"/>
            </a:xfrm>
            <a:custGeom>
              <a:avLst/>
              <a:gdLst/>
              <a:ahLst/>
              <a:cxnLst/>
              <a:rect r="r" b="b" t="t" l="l"/>
              <a:pathLst>
                <a:path h="237871" w="24402414">
                  <a:moveTo>
                    <a:pt x="0" y="0"/>
                  </a:moveTo>
                  <a:lnTo>
                    <a:pt x="24402414" y="0"/>
                  </a:lnTo>
                  <a:lnTo>
                    <a:pt x="24402414" y="237871"/>
                  </a:lnTo>
                  <a:lnTo>
                    <a:pt x="0" y="237871"/>
                  </a:lnTo>
                  <a:close/>
                </a:path>
              </a:pathLst>
            </a:custGeom>
            <a:solidFill>
              <a:srgbClr val="1A9191"/>
            </a:solidFill>
          </p:spPr>
        </p:sp>
      </p:grpSp>
      <p:sp>
        <p:nvSpPr>
          <p:cNvPr name="TextBox 6" id="6"/>
          <p:cNvSpPr txBox="true"/>
          <p:nvPr/>
        </p:nvSpPr>
        <p:spPr>
          <a:xfrm rot="0">
            <a:off x="983675" y="420548"/>
            <a:ext cx="6131414" cy="329889"/>
          </a:xfrm>
          <a:prstGeom prst="rect">
            <a:avLst/>
          </a:prstGeom>
        </p:spPr>
        <p:txBody>
          <a:bodyPr anchor="t" rtlCol="false" tIns="0" lIns="0" bIns="0" rIns="0">
            <a:spAutoFit/>
          </a:bodyPr>
          <a:lstStyle/>
          <a:p>
            <a:pPr algn="l">
              <a:lnSpc>
                <a:spcPts val="1621"/>
              </a:lnSpc>
            </a:pPr>
            <a:r>
              <a:rPr lang="en-US" sz="1351" b="true">
                <a:solidFill>
                  <a:srgbClr val="1A9191"/>
                </a:solidFill>
                <a:latin typeface="Aptos Bold"/>
                <a:ea typeface="Aptos Bold"/>
                <a:cs typeface="Aptos Bold"/>
                <a:sym typeface="Aptos Bold"/>
              </a:rPr>
              <a:t>IMPLEMENTATION</a:t>
            </a:r>
          </a:p>
        </p:txBody>
      </p:sp>
      <p:sp>
        <p:nvSpPr>
          <p:cNvPr name="TextBox 7" id="7"/>
          <p:cNvSpPr txBox="true"/>
          <p:nvPr/>
        </p:nvSpPr>
        <p:spPr>
          <a:xfrm rot="0">
            <a:off x="16700773" y="420548"/>
            <a:ext cx="572091" cy="329889"/>
          </a:xfrm>
          <a:prstGeom prst="rect">
            <a:avLst/>
          </a:prstGeom>
        </p:spPr>
        <p:txBody>
          <a:bodyPr anchor="t" rtlCol="false" tIns="0" lIns="0" bIns="0" rIns="0">
            <a:spAutoFit/>
          </a:bodyPr>
          <a:lstStyle/>
          <a:p>
            <a:pPr algn="r">
              <a:lnSpc>
                <a:spcPts val="1621"/>
              </a:lnSpc>
            </a:pPr>
            <a:r>
              <a:rPr lang="en-US" sz="1351" b="true">
                <a:solidFill>
                  <a:srgbClr val="667180"/>
                </a:solidFill>
                <a:latin typeface="Aptos Bold"/>
                <a:ea typeface="Aptos Bold"/>
                <a:cs typeface="Aptos Bold"/>
                <a:sym typeface="Aptos Bold"/>
              </a:rPr>
              <a:t>04</a:t>
            </a:r>
          </a:p>
        </p:txBody>
      </p:sp>
      <p:sp>
        <p:nvSpPr>
          <p:cNvPr name="TextBox 8" id="8"/>
          <p:cNvSpPr txBox="true"/>
          <p:nvPr/>
        </p:nvSpPr>
        <p:spPr>
          <a:xfrm rot="0">
            <a:off x="983675" y="1034044"/>
            <a:ext cx="16289188" cy="938060"/>
          </a:xfrm>
          <a:prstGeom prst="rect">
            <a:avLst/>
          </a:prstGeom>
        </p:spPr>
        <p:txBody>
          <a:bodyPr anchor="t" rtlCol="false" tIns="0" lIns="0" bIns="0" rIns="0">
            <a:spAutoFit/>
          </a:bodyPr>
          <a:lstStyle/>
          <a:p>
            <a:pPr algn="l">
              <a:lnSpc>
                <a:spcPts val="5043"/>
              </a:lnSpc>
            </a:pPr>
            <a:r>
              <a:rPr lang="en-US" sz="4203" b="true">
                <a:solidFill>
                  <a:srgbClr val="121F37"/>
                </a:solidFill>
                <a:latin typeface="Aptos Bold"/>
                <a:ea typeface="Aptos Bold"/>
                <a:cs typeface="Aptos Bold"/>
                <a:sym typeface="Aptos Bold"/>
              </a:rPr>
              <a:t>Data Structures, Files &amp; Tools</a:t>
            </a:r>
          </a:p>
        </p:txBody>
      </p:sp>
      <p:sp>
        <p:nvSpPr>
          <p:cNvPr name="TextBox 9" id="9"/>
          <p:cNvSpPr txBox="true"/>
          <p:nvPr/>
        </p:nvSpPr>
        <p:spPr>
          <a:xfrm rot="0">
            <a:off x="1011126" y="1967465"/>
            <a:ext cx="15877384" cy="567442"/>
          </a:xfrm>
          <a:prstGeom prst="rect">
            <a:avLst/>
          </a:prstGeom>
        </p:spPr>
        <p:txBody>
          <a:bodyPr anchor="t" rtlCol="false" tIns="0" lIns="0" bIns="0" rIns="0">
            <a:spAutoFit/>
          </a:bodyPr>
          <a:lstStyle/>
          <a:p>
            <a:pPr algn="l">
              <a:lnSpc>
                <a:spcPts val="2251"/>
              </a:lnSpc>
            </a:pPr>
            <a:r>
              <a:rPr lang="en-US" sz="1876">
                <a:solidFill>
                  <a:srgbClr val="667180"/>
                </a:solidFill>
                <a:latin typeface="Aptos"/>
                <a:ea typeface="Aptos"/>
                <a:cs typeface="Aptos"/>
                <a:sym typeface="Aptos"/>
              </a:rPr>
              <a:t>The project demonstrates modular programming without advanced data structures.</a:t>
            </a:r>
          </a:p>
        </p:txBody>
      </p:sp>
      <p:grpSp>
        <p:nvGrpSpPr>
          <p:cNvPr name="Group 10" id="10"/>
          <p:cNvGrpSpPr/>
          <p:nvPr/>
        </p:nvGrpSpPr>
        <p:grpSpPr>
          <a:xfrm rot="0">
            <a:off x="882701" y="2392642"/>
            <a:ext cx="5166589" cy="2764412"/>
            <a:chOff x="0" y="0"/>
            <a:chExt cx="6888785" cy="3685883"/>
          </a:xfrm>
        </p:grpSpPr>
        <p:sp>
          <p:nvSpPr>
            <p:cNvPr name="Freeform 11" id="11"/>
            <p:cNvSpPr/>
            <p:nvPr/>
          </p:nvSpPr>
          <p:spPr>
            <a:xfrm flipH="false" flipV="false" rot="0">
              <a:off x="0" y="0"/>
              <a:ext cx="6888734" cy="3685794"/>
            </a:xfrm>
            <a:custGeom>
              <a:avLst/>
              <a:gdLst/>
              <a:ahLst/>
              <a:cxnLst/>
              <a:rect r="r" b="b" t="t" l="l"/>
              <a:pathLst>
                <a:path h="3685794" w="6888734">
                  <a:moveTo>
                    <a:pt x="0" y="614299"/>
                  </a:moveTo>
                  <a:cubicBezTo>
                    <a:pt x="0" y="275082"/>
                    <a:pt x="275082" y="0"/>
                    <a:pt x="614299" y="0"/>
                  </a:cubicBezTo>
                  <a:lnTo>
                    <a:pt x="6274435" y="0"/>
                  </a:lnTo>
                  <a:cubicBezTo>
                    <a:pt x="6613778" y="0"/>
                    <a:pt x="6888734" y="275082"/>
                    <a:pt x="6888734" y="614299"/>
                  </a:cubicBezTo>
                  <a:lnTo>
                    <a:pt x="6888734" y="3071495"/>
                  </a:lnTo>
                  <a:cubicBezTo>
                    <a:pt x="6888734" y="3410839"/>
                    <a:pt x="6613652" y="3685794"/>
                    <a:pt x="6274435" y="3685794"/>
                  </a:cubicBezTo>
                  <a:lnTo>
                    <a:pt x="614299" y="3685794"/>
                  </a:lnTo>
                  <a:cubicBezTo>
                    <a:pt x="275082" y="3685921"/>
                    <a:pt x="0" y="3410839"/>
                    <a:pt x="0" y="3071495"/>
                  </a:cubicBezTo>
                  <a:close/>
                </a:path>
              </a:pathLst>
            </a:custGeom>
            <a:solidFill>
              <a:srgbClr val="F5F8FC"/>
            </a:solidFill>
            <a:ln w="19065" cap="sq">
              <a:solidFill>
                <a:srgbClr val="DEE6F0"/>
              </a:solidFill>
              <a:prstDash val="solid"/>
              <a:miter/>
            </a:ln>
          </p:spPr>
        </p:sp>
      </p:grpSp>
      <p:grpSp>
        <p:nvGrpSpPr>
          <p:cNvPr name="Group 12" id="12"/>
          <p:cNvGrpSpPr/>
          <p:nvPr/>
        </p:nvGrpSpPr>
        <p:grpSpPr>
          <a:xfrm rot="0">
            <a:off x="892235" y="2402176"/>
            <a:ext cx="96088" cy="2745343"/>
            <a:chOff x="0" y="0"/>
            <a:chExt cx="128118" cy="3660458"/>
          </a:xfrm>
        </p:grpSpPr>
        <p:sp>
          <p:nvSpPr>
            <p:cNvPr name="Freeform 13" id="13"/>
            <p:cNvSpPr/>
            <p:nvPr/>
          </p:nvSpPr>
          <p:spPr>
            <a:xfrm flipH="false" flipV="false" rot="0">
              <a:off x="0" y="0"/>
              <a:ext cx="128143" cy="3660521"/>
            </a:xfrm>
            <a:custGeom>
              <a:avLst/>
              <a:gdLst/>
              <a:ahLst/>
              <a:cxnLst/>
              <a:rect r="r" b="b" t="t" l="l"/>
              <a:pathLst>
                <a:path h="3660521" w="128143">
                  <a:moveTo>
                    <a:pt x="0" y="0"/>
                  </a:moveTo>
                  <a:lnTo>
                    <a:pt x="128143" y="0"/>
                  </a:lnTo>
                  <a:lnTo>
                    <a:pt x="128143" y="3660521"/>
                  </a:lnTo>
                  <a:lnTo>
                    <a:pt x="0" y="3660521"/>
                  </a:lnTo>
                  <a:close/>
                </a:path>
              </a:pathLst>
            </a:custGeom>
            <a:solidFill>
              <a:srgbClr val="1A9191"/>
            </a:solidFill>
          </p:spPr>
        </p:sp>
      </p:grpSp>
      <p:sp>
        <p:nvSpPr>
          <p:cNvPr name="TextBox 14" id="14"/>
          <p:cNvSpPr txBox="true"/>
          <p:nvPr/>
        </p:nvSpPr>
        <p:spPr>
          <a:xfrm rot="0">
            <a:off x="1285665" y="2681249"/>
            <a:ext cx="4443022" cy="388991"/>
          </a:xfrm>
          <a:prstGeom prst="rect">
            <a:avLst/>
          </a:prstGeom>
        </p:spPr>
        <p:txBody>
          <a:bodyPr anchor="t" rtlCol="false" tIns="0" lIns="0" bIns="0" rIns="0">
            <a:spAutoFit/>
          </a:bodyPr>
          <a:lstStyle/>
          <a:p>
            <a:pPr algn="l">
              <a:lnSpc>
                <a:spcPts val="2882"/>
              </a:lnSpc>
            </a:pPr>
            <a:r>
              <a:rPr lang="en-US" sz="2401" b="true">
                <a:solidFill>
                  <a:srgbClr val="121F37"/>
                </a:solidFill>
                <a:latin typeface="Aptos Bold"/>
                <a:ea typeface="Aptos Bold"/>
                <a:cs typeface="Aptos Bold"/>
                <a:sym typeface="Aptos Bold"/>
              </a:rPr>
              <a:t>Data structure</a:t>
            </a:r>
          </a:p>
        </p:txBody>
      </p:sp>
      <p:sp>
        <p:nvSpPr>
          <p:cNvPr name="TextBox 15" id="15"/>
          <p:cNvSpPr txBox="true"/>
          <p:nvPr/>
        </p:nvSpPr>
        <p:spPr>
          <a:xfrm rot="0">
            <a:off x="1285665" y="3298955"/>
            <a:ext cx="4443022" cy="1583217"/>
          </a:xfrm>
          <a:prstGeom prst="rect">
            <a:avLst/>
          </a:prstGeom>
        </p:spPr>
        <p:txBody>
          <a:bodyPr anchor="t" rtlCol="false" tIns="0" lIns="0" bIns="0" rIns="0">
            <a:spAutoFit/>
          </a:bodyPr>
          <a:lstStyle/>
          <a:p>
            <a:pPr algn="l">
              <a:lnSpc>
                <a:spcPts val="2251"/>
              </a:lnSpc>
            </a:pPr>
            <a:r>
              <a:rPr lang="en-US" sz="1876">
                <a:solidFill>
                  <a:srgbClr val="273140"/>
                </a:solidFill>
                <a:latin typeface="Aptos"/>
                <a:ea typeface="Aptos"/>
                <a:cs typeface="Aptos"/>
                <a:sym typeface="Aptos"/>
              </a:rPr>
              <a:t>struct Student</a:t>
            </a:r>
          </a:p>
          <a:p>
            <a:pPr algn="l">
              <a:lnSpc>
                <a:spcPts val="2251"/>
              </a:lnSpc>
            </a:pPr>
          </a:p>
          <a:p>
            <a:pPr algn="l">
              <a:lnSpc>
                <a:spcPts val="2251"/>
              </a:lnSpc>
            </a:pPr>
            <a:r>
              <a:rPr lang="en-US" sz="1876">
                <a:solidFill>
                  <a:srgbClr val="273140"/>
                </a:solidFill>
                <a:latin typeface="Aptos"/>
                <a:ea typeface="Aptos"/>
                <a:cs typeface="Aptos"/>
                <a:sym typeface="Aptos"/>
              </a:rPr>
              <a:t>Fixed-size array of up to 100 records</a:t>
            </a:r>
          </a:p>
          <a:p>
            <a:pPr algn="l">
              <a:lnSpc>
                <a:spcPts val="2251"/>
              </a:lnSpc>
            </a:pPr>
            <a:r>
              <a:rPr lang="en-US" sz="1876">
                <a:solidFill>
                  <a:srgbClr val="273140"/>
                </a:solidFill>
                <a:latin typeface="Aptos"/>
                <a:ea typeface="Aptos"/>
                <a:cs typeface="Aptos"/>
                <a:sym typeface="Aptos"/>
              </a:rPr>
              <a:t>+ counter for the number of used records</a:t>
            </a:r>
          </a:p>
        </p:txBody>
      </p:sp>
      <p:grpSp>
        <p:nvGrpSpPr>
          <p:cNvPr name="Group 16" id="16"/>
          <p:cNvGrpSpPr/>
          <p:nvPr/>
        </p:nvGrpSpPr>
        <p:grpSpPr>
          <a:xfrm rot="0">
            <a:off x="6373397" y="2392642"/>
            <a:ext cx="5166589" cy="2764412"/>
            <a:chOff x="0" y="0"/>
            <a:chExt cx="6888785" cy="3685883"/>
          </a:xfrm>
        </p:grpSpPr>
        <p:sp>
          <p:nvSpPr>
            <p:cNvPr name="Freeform 17" id="17"/>
            <p:cNvSpPr/>
            <p:nvPr/>
          </p:nvSpPr>
          <p:spPr>
            <a:xfrm flipH="false" flipV="false" rot="0">
              <a:off x="0" y="0"/>
              <a:ext cx="6888734" cy="3685794"/>
            </a:xfrm>
            <a:custGeom>
              <a:avLst/>
              <a:gdLst/>
              <a:ahLst/>
              <a:cxnLst/>
              <a:rect r="r" b="b" t="t" l="l"/>
              <a:pathLst>
                <a:path h="3685794" w="6888734">
                  <a:moveTo>
                    <a:pt x="0" y="614299"/>
                  </a:moveTo>
                  <a:cubicBezTo>
                    <a:pt x="0" y="275082"/>
                    <a:pt x="275082" y="0"/>
                    <a:pt x="614299" y="0"/>
                  </a:cubicBezTo>
                  <a:lnTo>
                    <a:pt x="6274435" y="0"/>
                  </a:lnTo>
                  <a:cubicBezTo>
                    <a:pt x="6613778" y="0"/>
                    <a:pt x="6888734" y="275082"/>
                    <a:pt x="6888734" y="614299"/>
                  </a:cubicBezTo>
                  <a:lnTo>
                    <a:pt x="6888734" y="3071495"/>
                  </a:lnTo>
                  <a:cubicBezTo>
                    <a:pt x="6888734" y="3410839"/>
                    <a:pt x="6613652" y="3685794"/>
                    <a:pt x="6274435" y="3685794"/>
                  </a:cubicBezTo>
                  <a:lnTo>
                    <a:pt x="614299" y="3685794"/>
                  </a:lnTo>
                  <a:cubicBezTo>
                    <a:pt x="275082" y="3685921"/>
                    <a:pt x="0" y="3410839"/>
                    <a:pt x="0" y="3071495"/>
                  </a:cubicBezTo>
                  <a:close/>
                </a:path>
              </a:pathLst>
            </a:custGeom>
            <a:solidFill>
              <a:srgbClr val="F5F8FC"/>
            </a:solidFill>
            <a:ln w="19065" cap="sq">
              <a:solidFill>
                <a:srgbClr val="DEE6F0"/>
              </a:solidFill>
              <a:prstDash val="solid"/>
              <a:miter/>
            </a:ln>
          </p:spPr>
        </p:sp>
      </p:grpSp>
      <p:grpSp>
        <p:nvGrpSpPr>
          <p:cNvPr name="Group 18" id="18"/>
          <p:cNvGrpSpPr/>
          <p:nvPr/>
        </p:nvGrpSpPr>
        <p:grpSpPr>
          <a:xfrm rot="0">
            <a:off x="6382931" y="2402176"/>
            <a:ext cx="96088" cy="2745343"/>
            <a:chOff x="0" y="0"/>
            <a:chExt cx="128118" cy="3660458"/>
          </a:xfrm>
        </p:grpSpPr>
        <p:sp>
          <p:nvSpPr>
            <p:cNvPr name="Freeform 19" id="19"/>
            <p:cNvSpPr/>
            <p:nvPr/>
          </p:nvSpPr>
          <p:spPr>
            <a:xfrm flipH="false" flipV="false" rot="0">
              <a:off x="0" y="0"/>
              <a:ext cx="128143" cy="3660521"/>
            </a:xfrm>
            <a:custGeom>
              <a:avLst/>
              <a:gdLst/>
              <a:ahLst/>
              <a:cxnLst/>
              <a:rect r="r" b="b" t="t" l="l"/>
              <a:pathLst>
                <a:path h="3660521" w="128143">
                  <a:moveTo>
                    <a:pt x="0" y="0"/>
                  </a:moveTo>
                  <a:lnTo>
                    <a:pt x="128143" y="0"/>
                  </a:lnTo>
                  <a:lnTo>
                    <a:pt x="128143" y="3660521"/>
                  </a:lnTo>
                  <a:lnTo>
                    <a:pt x="0" y="3660521"/>
                  </a:lnTo>
                  <a:close/>
                </a:path>
              </a:pathLst>
            </a:custGeom>
            <a:solidFill>
              <a:srgbClr val="2B5DA6"/>
            </a:solidFill>
          </p:spPr>
        </p:sp>
      </p:grpSp>
      <p:sp>
        <p:nvSpPr>
          <p:cNvPr name="TextBox 20" id="20"/>
          <p:cNvSpPr txBox="true"/>
          <p:nvPr/>
        </p:nvSpPr>
        <p:spPr>
          <a:xfrm rot="0">
            <a:off x="6776352" y="2681249"/>
            <a:ext cx="4443022" cy="388991"/>
          </a:xfrm>
          <a:prstGeom prst="rect">
            <a:avLst/>
          </a:prstGeom>
        </p:spPr>
        <p:txBody>
          <a:bodyPr anchor="t" rtlCol="false" tIns="0" lIns="0" bIns="0" rIns="0">
            <a:spAutoFit/>
          </a:bodyPr>
          <a:lstStyle/>
          <a:p>
            <a:pPr algn="l">
              <a:lnSpc>
                <a:spcPts val="2882"/>
              </a:lnSpc>
            </a:pPr>
            <a:r>
              <a:rPr lang="en-US" sz="2401" b="true">
                <a:solidFill>
                  <a:srgbClr val="121F37"/>
                </a:solidFill>
                <a:latin typeface="Aptos Bold"/>
                <a:ea typeface="Aptos Bold"/>
                <a:cs typeface="Aptos Bold"/>
                <a:sym typeface="Aptos Bold"/>
              </a:rPr>
              <a:t>Helper arrays</a:t>
            </a:r>
          </a:p>
        </p:txBody>
      </p:sp>
      <p:sp>
        <p:nvSpPr>
          <p:cNvPr name="TextBox 21" id="21"/>
          <p:cNvSpPr txBox="true"/>
          <p:nvPr/>
        </p:nvSpPr>
        <p:spPr>
          <a:xfrm rot="0">
            <a:off x="6776352" y="3298955"/>
            <a:ext cx="4443022" cy="1583217"/>
          </a:xfrm>
          <a:prstGeom prst="rect">
            <a:avLst/>
          </a:prstGeom>
        </p:spPr>
        <p:txBody>
          <a:bodyPr anchor="t" rtlCol="false" tIns="0" lIns="0" bIns="0" rIns="0">
            <a:spAutoFit/>
          </a:bodyPr>
          <a:lstStyle/>
          <a:p>
            <a:pPr algn="l">
              <a:lnSpc>
                <a:spcPts val="2161"/>
              </a:lnSpc>
            </a:pPr>
            <a:r>
              <a:rPr lang="en-US" sz="1801">
                <a:solidFill>
                  <a:srgbClr val="273140"/>
                </a:solidFill>
                <a:latin typeface="Aptos"/>
                <a:ea typeface="Aptos"/>
                <a:cs typeface="Aptos"/>
                <a:sym typeface="Aptos"/>
              </a:rPr>
              <a:t>Merge-sort temporary array</a:t>
            </a:r>
          </a:p>
          <a:p>
            <a:pPr algn="l">
              <a:lnSpc>
                <a:spcPts val="2161"/>
              </a:lnSpc>
            </a:pPr>
            <a:r>
              <a:rPr lang="en-US" sz="1801">
                <a:solidFill>
                  <a:srgbClr val="273140"/>
                </a:solidFill>
                <a:latin typeface="Aptos"/>
                <a:ea typeface="Aptos"/>
                <a:cs typeface="Aptos"/>
                <a:sym typeface="Aptos"/>
              </a:rPr>
              <a:t>Radix output array</a:t>
            </a:r>
          </a:p>
          <a:p>
            <a:pPr algn="l">
              <a:lnSpc>
                <a:spcPts val="2161"/>
              </a:lnSpc>
            </a:pPr>
            <a:r>
              <a:rPr lang="en-US" sz="1801">
                <a:solidFill>
                  <a:srgbClr val="273140"/>
                </a:solidFill>
                <a:latin typeface="Aptos"/>
                <a:ea typeface="Aptos"/>
                <a:cs typeface="Aptos"/>
                <a:sym typeface="Aptos"/>
              </a:rPr>
              <a:t>2D bucket array</a:t>
            </a:r>
          </a:p>
          <a:p>
            <a:pPr algn="l">
              <a:lnSpc>
                <a:spcPts val="2161"/>
              </a:lnSpc>
            </a:pPr>
          </a:p>
          <a:p>
            <a:pPr algn="l">
              <a:lnSpc>
                <a:spcPts val="2161"/>
              </a:lnSpc>
            </a:pPr>
            <a:r>
              <a:rPr lang="en-US" sz="1801">
                <a:solidFill>
                  <a:srgbClr val="273140"/>
                </a:solidFill>
                <a:latin typeface="Aptos"/>
                <a:ea typeface="Aptos"/>
                <a:cs typeface="Aptos"/>
                <a:sym typeface="Aptos"/>
              </a:rPr>
              <a:t>No linked lists, trees, heaps or hash tables</a:t>
            </a:r>
          </a:p>
        </p:txBody>
      </p:sp>
      <p:grpSp>
        <p:nvGrpSpPr>
          <p:cNvPr name="Group 22" id="22"/>
          <p:cNvGrpSpPr/>
          <p:nvPr/>
        </p:nvGrpSpPr>
        <p:grpSpPr>
          <a:xfrm rot="0">
            <a:off x="11864083" y="2392642"/>
            <a:ext cx="5509755" cy="2764412"/>
            <a:chOff x="0" y="0"/>
            <a:chExt cx="7346340" cy="3685883"/>
          </a:xfrm>
        </p:grpSpPr>
        <p:sp>
          <p:nvSpPr>
            <p:cNvPr name="Freeform 23" id="23"/>
            <p:cNvSpPr/>
            <p:nvPr/>
          </p:nvSpPr>
          <p:spPr>
            <a:xfrm flipH="false" flipV="false" rot="0">
              <a:off x="0" y="0"/>
              <a:ext cx="7346315" cy="3685794"/>
            </a:xfrm>
            <a:custGeom>
              <a:avLst/>
              <a:gdLst/>
              <a:ahLst/>
              <a:cxnLst/>
              <a:rect r="r" b="b" t="t" l="l"/>
              <a:pathLst>
                <a:path h="3685794" w="7346315">
                  <a:moveTo>
                    <a:pt x="0" y="614299"/>
                  </a:moveTo>
                  <a:cubicBezTo>
                    <a:pt x="0" y="275082"/>
                    <a:pt x="275082" y="0"/>
                    <a:pt x="614299" y="0"/>
                  </a:cubicBezTo>
                  <a:lnTo>
                    <a:pt x="6732016" y="0"/>
                  </a:lnTo>
                  <a:cubicBezTo>
                    <a:pt x="7071360" y="0"/>
                    <a:pt x="7346315" y="275082"/>
                    <a:pt x="7346315" y="614299"/>
                  </a:cubicBezTo>
                  <a:lnTo>
                    <a:pt x="7346315" y="3071495"/>
                  </a:lnTo>
                  <a:cubicBezTo>
                    <a:pt x="7346315" y="3410839"/>
                    <a:pt x="7071233" y="3685794"/>
                    <a:pt x="6732016" y="3685794"/>
                  </a:cubicBezTo>
                  <a:lnTo>
                    <a:pt x="614299" y="3685794"/>
                  </a:lnTo>
                  <a:cubicBezTo>
                    <a:pt x="275082" y="3685921"/>
                    <a:pt x="0" y="3410839"/>
                    <a:pt x="0" y="3071495"/>
                  </a:cubicBezTo>
                  <a:close/>
                </a:path>
              </a:pathLst>
            </a:custGeom>
            <a:solidFill>
              <a:srgbClr val="F5F8FC"/>
            </a:solidFill>
            <a:ln w="19065" cap="sq">
              <a:solidFill>
                <a:srgbClr val="DEE6F0"/>
              </a:solidFill>
              <a:prstDash val="solid"/>
              <a:miter/>
            </a:ln>
          </p:spPr>
        </p:sp>
      </p:grpSp>
      <p:grpSp>
        <p:nvGrpSpPr>
          <p:cNvPr name="Group 24" id="24"/>
          <p:cNvGrpSpPr/>
          <p:nvPr/>
        </p:nvGrpSpPr>
        <p:grpSpPr>
          <a:xfrm rot="0">
            <a:off x="11873617" y="2402176"/>
            <a:ext cx="96088" cy="2745343"/>
            <a:chOff x="0" y="0"/>
            <a:chExt cx="128118" cy="3660458"/>
          </a:xfrm>
        </p:grpSpPr>
        <p:sp>
          <p:nvSpPr>
            <p:cNvPr name="Freeform 25" id="25"/>
            <p:cNvSpPr/>
            <p:nvPr/>
          </p:nvSpPr>
          <p:spPr>
            <a:xfrm flipH="false" flipV="false" rot="0">
              <a:off x="0" y="0"/>
              <a:ext cx="128143" cy="3660521"/>
            </a:xfrm>
            <a:custGeom>
              <a:avLst/>
              <a:gdLst/>
              <a:ahLst/>
              <a:cxnLst/>
              <a:rect r="r" b="b" t="t" l="l"/>
              <a:pathLst>
                <a:path h="3660521" w="128143">
                  <a:moveTo>
                    <a:pt x="0" y="0"/>
                  </a:moveTo>
                  <a:lnTo>
                    <a:pt x="128143" y="0"/>
                  </a:lnTo>
                  <a:lnTo>
                    <a:pt x="128143" y="3660521"/>
                  </a:lnTo>
                  <a:lnTo>
                    <a:pt x="0" y="3660521"/>
                  </a:lnTo>
                  <a:close/>
                </a:path>
              </a:pathLst>
            </a:custGeom>
            <a:solidFill>
              <a:srgbClr val="EF8F3E"/>
            </a:solidFill>
          </p:spPr>
        </p:sp>
      </p:grpSp>
      <p:sp>
        <p:nvSpPr>
          <p:cNvPr name="TextBox 26" id="26"/>
          <p:cNvSpPr txBox="true"/>
          <p:nvPr/>
        </p:nvSpPr>
        <p:spPr>
          <a:xfrm rot="0">
            <a:off x="12267047" y="2681249"/>
            <a:ext cx="4786198" cy="388991"/>
          </a:xfrm>
          <a:prstGeom prst="rect">
            <a:avLst/>
          </a:prstGeom>
        </p:spPr>
        <p:txBody>
          <a:bodyPr anchor="t" rtlCol="false" tIns="0" lIns="0" bIns="0" rIns="0">
            <a:spAutoFit/>
          </a:bodyPr>
          <a:lstStyle/>
          <a:p>
            <a:pPr algn="l">
              <a:lnSpc>
                <a:spcPts val="2882"/>
              </a:lnSpc>
            </a:pPr>
            <a:r>
              <a:rPr lang="en-US" sz="2401" b="true">
                <a:solidFill>
                  <a:srgbClr val="121F37"/>
                </a:solidFill>
                <a:latin typeface="Aptos Bold"/>
                <a:ea typeface="Aptos Bold"/>
                <a:cs typeface="Aptos Bold"/>
                <a:sym typeface="Aptos Bold"/>
              </a:rPr>
              <a:t>Tools</a:t>
            </a:r>
          </a:p>
        </p:txBody>
      </p:sp>
      <p:sp>
        <p:nvSpPr>
          <p:cNvPr name="TextBox 27" id="27"/>
          <p:cNvSpPr txBox="true"/>
          <p:nvPr/>
        </p:nvSpPr>
        <p:spPr>
          <a:xfrm rot="0">
            <a:off x="12267047" y="3298955"/>
            <a:ext cx="4786198" cy="1583217"/>
          </a:xfrm>
          <a:prstGeom prst="rect">
            <a:avLst/>
          </a:prstGeom>
        </p:spPr>
        <p:txBody>
          <a:bodyPr anchor="t" rtlCol="false" tIns="0" lIns="0" bIns="0" rIns="0">
            <a:spAutoFit/>
          </a:bodyPr>
          <a:lstStyle/>
          <a:p>
            <a:pPr algn="l">
              <a:lnSpc>
                <a:spcPts val="2251"/>
              </a:lnSpc>
            </a:pPr>
            <a:r>
              <a:rPr lang="en-US" sz="1876">
                <a:solidFill>
                  <a:srgbClr val="273140"/>
                </a:solidFill>
                <a:latin typeface="Aptos"/>
                <a:ea typeface="Aptos"/>
                <a:cs typeface="Aptos"/>
                <a:sym typeface="Aptos"/>
              </a:rPr>
              <a:t>C • GCC (MinGW) • VS Code</a:t>
            </a:r>
          </a:p>
          <a:p>
            <a:pPr algn="l">
              <a:lnSpc>
                <a:spcPts val="2251"/>
              </a:lnSpc>
            </a:pPr>
            <a:r>
              <a:rPr lang="en-US" sz="1876">
                <a:solidFill>
                  <a:srgbClr val="273140"/>
                </a:solidFill>
                <a:latin typeface="Aptos"/>
                <a:ea typeface="Aptos"/>
                <a:cs typeface="Aptos"/>
                <a:sym typeface="Aptos"/>
              </a:rPr>
              <a:t>Git • GitHub</a:t>
            </a:r>
          </a:p>
          <a:p>
            <a:pPr algn="l">
              <a:lnSpc>
                <a:spcPts val="2251"/>
              </a:lnSpc>
            </a:pPr>
          </a:p>
          <a:p>
            <a:pPr algn="l">
              <a:lnSpc>
                <a:spcPts val="2251"/>
              </a:lnSpc>
            </a:pPr>
            <a:r>
              <a:rPr lang="en-US" sz="1876">
                <a:solidFill>
                  <a:srgbClr val="273140"/>
                </a:solidFill>
                <a:latin typeface="Aptos"/>
                <a:ea typeface="Aptos"/>
                <a:cs typeface="Aptos"/>
                <a:sym typeface="Aptos"/>
              </a:rPr>
              <a:t>Console-based application</a:t>
            </a:r>
          </a:p>
        </p:txBody>
      </p:sp>
      <p:sp>
        <p:nvSpPr>
          <p:cNvPr name="TextBox 28" id="28"/>
          <p:cNvSpPr txBox="true"/>
          <p:nvPr/>
        </p:nvSpPr>
        <p:spPr>
          <a:xfrm rot="0">
            <a:off x="1024861" y="5742308"/>
            <a:ext cx="5582345" cy="388991"/>
          </a:xfrm>
          <a:prstGeom prst="rect">
            <a:avLst/>
          </a:prstGeom>
        </p:spPr>
        <p:txBody>
          <a:bodyPr anchor="t" rtlCol="false" tIns="0" lIns="0" bIns="0" rIns="0">
            <a:spAutoFit/>
          </a:bodyPr>
          <a:lstStyle/>
          <a:p>
            <a:pPr algn="l">
              <a:lnSpc>
                <a:spcPts val="2882"/>
              </a:lnSpc>
            </a:pPr>
            <a:r>
              <a:rPr lang="en-US" sz="2401" b="true">
                <a:solidFill>
                  <a:srgbClr val="121F37"/>
                </a:solidFill>
                <a:latin typeface="Aptos Bold"/>
                <a:ea typeface="Aptos Bold"/>
                <a:cs typeface="Aptos Bold"/>
                <a:sym typeface="Aptos Bold"/>
              </a:rPr>
              <a:t>Five-source modular structure</a:t>
            </a:r>
          </a:p>
        </p:txBody>
      </p:sp>
      <p:grpSp>
        <p:nvGrpSpPr>
          <p:cNvPr name="Group 29" id="29"/>
          <p:cNvGrpSpPr/>
          <p:nvPr/>
        </p:nvGrpSpPr>
        <p:grpSpPr>
          <a:xfrm rot="0">
            <a:off x="919115" y="6464713"/>
            <a:ext cx="2979839" cy="1469908"/>
            <a:chOff x="0" y="0"/>
            <a:chExt cx="3973119" cy="1959877"/>
          </a:xfrm>
        </p:grpSpPr>
        <p:sp>
          <p:nvSpPr>
            <p:cNvPr name="Freeform 30" id="30"/>
            <p:cNvSpPr/>
            <p:nvPr/>
          </p:nvSpPr>
          <p:spPr>
            <a:xfrm flipH="false" flipV="false" rot="0">
              <a:off x="0" y="0"/>
              <a:ext cx="3973068" cy="1959864"/>
            </a:xfrm>
            <a:custGeom>
              <a:avLst/>
              <a:gdLst/>
              <a:ahLst/>
              <a:cxnLst/>
              <a:rect r="r" b="b" t="t" l="l"/>
              <a:pathLst>
                <a:path h="1959864" w="3973068">
                  <a:moveTo>
                    <a:pt x="0" y="326644"/>
                  </a:moveTo>
                  <a:cubicBezTo>
                    <a:pt x="0" y="146304"/>
                    <a:pt x="146304" y="0"/>
                    <a:pt x="326644" y="0"/>
                  </a:cubicBezTo>
                  <a:lnTo>
                    <a:pt x="3646424" y="0"/>
                  </a:lnTo>
                  <a:cubicBezTo>
                    <a:pt x="3826891" y="0"/>
                    <a:pt x="3973068" y="146304"/>
                    <a:pt x="3973068" y="326644"/>
                  </a:cubicBezTo>
                  <a:lnTo>
                    <a:pt x="3973068" y="1633220"/>
                  </a:lnTo>
                  <a:cubicBezTo>
                    <a:pt x="3973068" y="1813687"/>
                    <a:pt x="3826764" y="1959864"/>
                    <a:pt x="3646424" y="1959864"/>
                  </a:cubicBezTo>
                  <a:lnTo>
                    <a:pt x="326644" y="1959864"/>
                  </a:lnTo>
                  <a:cubicBezTo>
                    <a:pt x="146304" y="1959864"/>
                    <a:pt x="0" y="1813687"/>
                    <a:pt x="0" y="1633220"/>
                  </a:cubicBezTo>
                  <a:close/>
                </a:path>
              </a:pathLst>
            </a:custGeom>
            <a:solidFill>
              <a:srgbClr val="FFFFFF"/>
            </a:solidFill>
            <a:ln w="28597" cap="sq">
              <a:solidFill>
                <a:srgbClr val="1A9191"/>
              </a:solidFill>
              <a:prstDash val="solid"/>
              <a:miter/>
            </a:ln>
          </p:spPr>
        </p:sp>
      </p:grpSp>
      <p:sp>
        <p:nvSpPr>
          <p:cNvPr name="TextBox 31" id="31"/>
          <p:cNvSpPr txBox="true"/>
          <p:nvPr/>
        </p:nvSpPr>
        <p:spPr>
          <a:xfrm rot="0">
            <a:off x="1189577" y="6744357"/>
            <a:ext cx="2425198" cy="320364"/>
          </a:xfrm>
          <a:prstGeom prst="rect">
            <a:avLst/>
          </a:prstGeom>
        </p:spPr>
        <p:txBody>
          <a:bodyPr anchor="t" rtlCol="false" tIns="0" lIns="0" bIns="0" rIns="0">
            <a:spAutoFit/>
          </a:bodyPr>
          <a:lstStyle/>
          <a:p>
            <a:pPr algn="ctr">
              <a:lnSpc>
                <a:spcPts val="2341"/>
              </a:lnSpc>
            </a:pPr>
            <a:r>
              <a:rPr lang="en-US" sz="1951" b="true">
                <a:solidFill>
                  <a:srgbClr val="121F37"/>
                </a:solidFill>
                <a:latin typeface="Aptos Bold"/>
                <a:ea typeface="Aptos Bold"/>
                <a:cs typeface="Aptos Bold"/>
                <a:sym typeface="Aptos Bold"/>
              </a:rPr>
              <a:t>main</a:t>
            </a:r>
          </a:p>
        </p:txBody>
      </p:sp>
      <p:sp>
        <p:nvSpPr>
          <p:cNvPr name="TextBox 32" id="32"/>
          <p:cNvSpPr txBox="true"/>
          <p:nvPr/>
        </p:nvSpPr>
        <p:spPr>
          <a:xfrm rot="0">
            <a:off x="1189577" y="7252249"/>
            <a:ext cx="2425198" cy="347815"/>
          </a:xfrm>
          <a:prstGeom prst="rect">
            <a:avLst/>
          </a:prstGeom>
        </p:spPr>
        <p:txBody>
          <a:bodyPr anchor="t" rtlCol="false" tIns="0" lIns="0" bIns="0" rIns="0">
            <a:spAutoFit/>
          </a:bodyPr>
          <a:lstStyle/>
          <a:p>
            <a:pPr algn="ctr">
              <a:lnSpc>
                <a:spcPts val="1711"/>
              </a:lnSpc>
            </a:pPr>
            <a:r>
              <a:rPr lang="en-US" sz="1426">
                <a:solidFill>
                  <a:srgbClr val="667180"/>
                </a:solidFill>
                <a:latin typeface="Aptos"/>
                <a:ea typeface="Aptos"/>
                <a:cs typeface="Aptos"/>
                <a:sym typeface="Aptos"/>
              </a:rPr>
              <a:t>Menu &amp; program flow</a:t>
            </a:r>
          </a:p>
        </p:txBody>
      </p:sp>
      <p:grpSp>
        <p:nvGrpSpPr>
          <p:cNvPr name="Group 33" id="33"/>
          <p:cNvGrpSpPr/>
          <p:nvPr/>
        </p:nvGrpSpPr>
        <p:grpSpPr>
          <a:xfrm rot="0">
            <a:off x="4240987" y="6464713"/>
            <a:ext cx="2979839" cy="1469908"/>
            <a:chOff x="0" y="0"/>
            <a:chExt cx="3973119" cy="1959877"/>
          </a:xfrm>
        </p:grpSpPr>
        <p:sp>
          <p:nvSpPr>
            <p:cNvPr name="Freeform 34" id="34"/>
            <p:cNvSpPr/>
            <p:nvPr/>
          </p:nvSpPr>
          <p:spPr>
            <a:xfrm flipH="false" flipV="false" rot="0">
              <a:off x="0" y="0"/>
              <a:ext cx="3973068" cy="1959864"/>
            </a:xfrm>
            <a:custGeom>
              <a:avLst/>
              <a:gdLst/>
              <a:ahLst/>
              <a:cxnLst/>
              <a:rect r="r" b="b" t="t" l="l"/>
              <a:pathLst>
                <a:path h="1959864" w="3973068">
                  <a:moveTo>
                    <a:pt x="0" y="326644"/>
                  </a:moveTo>
                  <a:cubicBezTo>
                    <a:pt x="0" y="146304"/>
                    <a:pt x="146304" y="0"/>
                    <a:pt x="326644" y="0"/>
                  </a:cubicBezTo>
                  <a:lnTo>
                    <a:pt x="3646424" y="0"/>
                  </a:lnTo>
                  <a:cubicBezTo>
                    <a:pt x="3826891" y="0"/>
                    <a:pt x="3973068" y="146304"/>
                    <a:pt x="3973068" y="326644"/>
                  </a:cubicBezTo>
                  <a:lnTo>
                    <a:pt x="3973068" y="1633220"/>
                  </a:lnTo>
                  <a:cubicBezTo>
                    <a:pt x="3973068" y="1813687"/>
                    <a:pt x="3826764" y="1959864"/>
                    <a:pt x="3646424" y="1959864"/>
                  </a:cubicBezTo>
                  <a:lnTo>
                    <a:pt x="326644" y="1959864"/>
                  </a:lnTo>
                  <a:cubicBezTo>
                    <a:pt x="146304" y="1959864"/>
                    <a:pt x="0" y="1813687"/>
                    <a:pt x="0" y="1633220"/>
                  </a:cubicBezTo>
                  <a:close/>
                </a:path>
              </a:pathLst>
            </a:custGeom>
            <a:solidFill>
              <a:srgbClr val="FFFFFF"/>
            </a:solidFill>
            <a:ln w="28597" cap="sq">
              <a:solidFill>
                <a:srgbClr val="2B5DA6"/>
              </a:solidFill>
              <a:prstDash val="solid"/>
              <a:miter/>
            </a:ln>
          </p:spPr>
        </p:sp>
      </p:grpSp>
      <p:sp>
        <p:nvSpPr>
          <p:cNvPr name="TextBox 35" id="35"/>
          <p:cNvSpPr txBox="true"/>
          <p:nvPr/>
        </p:nvSpPr>
        <p:spPr>
          <a:xfrm rot="0">
            <a:off x="4511450" y="6744357"/>
            <a:ext cx="2425198" cy="320364"/>
          </a:xfrm>
          <a:prstGeom prst="rect">
            <a:avLst/>
          </a:prstGeom>
        </p:spPr>
        <p:txBody>
          <a:bodyPr anchor="t" rtlCol="false" tIns="0" lIns="0" bIns="0" rIns="0">
            <a:spAutoFit/>
          </a:bodyPr>
          <a:lstStyle/>
          <a:p>
            <a:pPr algn="ctr">
              <a:lnSpc>
                <a:spcPts val="2341"/>
              </a:lnSpc>
            </a:pPr>
            <a:r>
              <a:rPr lang="en-US" sz="1951" b="true">
                <a:solidFill>
                  <a:srgbClr val="121F37"/>
                </a:solidFill>
                <a:latin typeface="Aptos Bold"/>
                <a:ea typeface="Aptos Bold"/>
                <a:cs typeface="Aptos Bold"/>
                <a:sym typeface="Aptos Bold"/>
              </a:rPr>
              <a:t>student</a:t>
            </a:r>
          </a:p>
        </p:txBody>
      </p:sp>
      <p:sp>
        <p:nvSpPr>
          <p:cNvPr name="TextBox 36" id="36"/>
          <p:cNvSpPr txBox="true"/>
          <p:nvPr/>
        </p:nvSpPr>
        <p:spPr>
          <a:xfrm rot="0">
            <a:off x="4511450" y="7252249"/>
            <a:ext cx="2425198" cy="347815"/>
          </a:xfrm>
          <a:prstGeom prst="rect">
            <a:avLst/>
          </a:prstGeom>
        </p:spPr>
        <p:txBody>
          <a:bodyPr anchor="t" rtlCol="false" tIns="0" lIns="0" bIns="0" rIns="0">
            <a:spAutoFit/>
          </a:bodyPr>
          <a:lstStyle/>
          <a:p>
            <a:pPr algn="ctr">
              <a:lnSpc>
                <a:spcPts val="1711"/>
              </a:lnSpc>
            </a:pPr>
            <a:r>
              <a:rPr lang="en-US" sz="1426">
                <a:solidFill>
                  <a:srgbClr val="667180"/>
                </a:solidFill>
                <a:latin typeface="Aptos"/>
                <a:ea typeface="Aptos"/>
                <a:cs typeface="Aptos"/>
                <a:sym typeface="Aptos"/>
              </a:rPr>
              <a:t>Record input / display</a:t>
            </a:r>
          </a:p>
        </p:txBody>
      </p:sp>
      <p:grpSp>
        <p:nvGrpSpPr>
          <p:cNvPr name="Group 37" id="37"/>
          <p:cNvGrpSpPr/>
          <p:nvPr/>
        </p:nvGrpSpPr>
        <p:grpSpPr>
          <a:xfrm rot="0">
            <a:off x="7562850" y="6464713"/>
            <a:ext cx="2979839" cy="1469908"/>
            <a:chOff x="0" y="0"/>
            <a:chExt cx="3973119" cy="1959877"/>
          </a:xfrm>
        </p:grpSpPr>
        <p:sp>
          <p:nvSpPr>
            <p:cNvPr name="Freeform 38" id="38"/>
            <p:cNvSpPr/>
            <p:nvPr/>
          </p:nvSpPr>
          <p:spPr>
            <a:xfrm flipH="false" flipV="false" rot="0">
              <a:off x="0" y="0"/>
              <a:ext cx="3973068" cy="1959864"/>
            </a:xfrm>
            <a:custGeom>
              <a:avLst/>
              <a:gdLst/>
              <a:ahLst/>
              <a:cxnLst/>
              <a:rect r="r" b="b" t="t" l="l"/>
              <a:pathLst>
                <a:path h="1959864" w="3973068">
                  <a:moveTo>
                    <a:pt x="0" y="326644"/>
                  </a:moveTo>
                  <a:cubicBezTo>
                    <a:pt x="0" y="146304"/>
                    <a:pt x="146304" y="0"/>
                    <a:pt x="326644" y="0"/>
                  </a:cubicBezTo>
                  <a:lnTo>
                    <a:pt x="3646424" y="0"/>
                  </a:lnTo>
                  <a:cubicBezTo>
                    <a:pt x="3826891" y="0"/>
                    <a:pt x="3973068" y="146304"/>
                    <a:pt x="3973068" y="326644"/>
                  </a:cubicBezTo>
                  <a:lnTo>
                    <a:pt x="3973068" y="1633220"/>
                  </a:lnTo>
                  <a:cubicBezTo>
                    <a:pt x="3973068" y="1813687"/>
                    <a:pt x="3826764" y="1959864"/>
                    <a:pt x="3646424" y="1959864"/>
                  </a:cubicBezTo>
                  <a:lnTo>
                    <a:pt x="326644" y="1959864"/>
                  </a:lnTo>
                  <a:cubicBezTo>
                    <a:pt x="146304" y="1959864"/>
                    <a:pt x="0" y="1813687"/>
                    <a:pt x="0" y="1633220"/>
                  </a:cubicBezTo>
                  <a:close/>
                </a:path>
              </a:pathLst>
            </a:custGeom>
            <a:solidFill>
              <a:srgbClr val="FFFFFF"/>
            </a:solidFill>
            <a:ln w="28597" cap="sq">
              <a:solidFill>
                <a:srgbClr val="339D67"/>
              </a:solidFill>
              <a:prstDash val="solid"/>
              <a:miter/>
            </a:ln>
          </p:spPr>
        </p:sp>
      </p:grpSp>
      <p:sp>
        <p:nvSpPr>
          <p:cNvPr name="TextBox 39" id="39"/>
          <p:cNvSpPr txBox="true"/>
          <p:nvPr/>
        </p:nvSpPr>
        <p:spPr>
          <a:xfrm rot="0">
            <a:off x="7833312" y="6744357"/>
            <a:ext cx="2425198" cy="320364"/>
          </a:xfrm>
          <a:prstGeom prst="rect">
            <a:avLst/>
          </a:prstGeom>
        </p:spPr>
        <p:txBody>
          <a:bodyPr anchor="t" rtlCol="false" tIns="0" lIns="0" bIns="0" rIns="0">
            <a:spAutoFit/>
          </a:bodyPr>
          <a:lstStyle/>
          <a:p>
            <a:pPr algn="ctr">
              <a:lnSpc>
                <a:spcPts val="2341"/>
              </a:lnSpc>
            </a:pPr>
            <a:r>
              <a:rPr lang="en-US" sz="1951" b="true">
                <a:solidFill>
                  <a:srgbClr val="121F37"/>
                </a:solidFill>
                <a:latin typeface="Aptos Bold"/>
                <a:ea typeface="Aptos Bold"/>
                <a:cs typeface="Aptos Bold"/>
                <a:sym typeface="Aptos Bold"/>
              </a:rPr>
              <a:t>searching</a:t>
            </a:r>
          </a:p>
        </p:txBody>
      </p:sp>
      <p:sp>
        <p:nvSpPr>
          <p:cNvPr name="TextBox 40" id="40"/>
          <p:cNvSpPr txBox="true"/>
          <p:nvPr/>
        </p:nvSpPr>
        <p:spPr>
          <a:xfrm rot="0">
            <a:off x="7833312" y="7252249"/>
            <a:ext cx="2425198" cy="347815"/>
          </a:xfrm>
          <a:prstGeom prst="rect">
            <a:avLst/>
          </a:prstGeom>
        </p:spPr>
        <p:txBody>
          <a:bodyPr anchor="t" rtlCol="false" tIns="0" lIns="0" bIns="0" rIns="0">
            <a:spAutoFit/>
          </a:bodyPr>
          <a:lstStyle/>
          <a:p>
            <a:pPr algn="ctr">
              <a:lnSpc>
                <a:spcPts val="1711"/>
              </a:lnSpc>
            </a:pPr>
            <a:r>
              <a:rPr lang="en-US" sz="1426">
                <a:solidFill>
                  <a:srgbClr val="667180"/>
                </a:solidFill>
                <a:latin typeface="Aptos"/>
                <a:ea typeface="Aptos"/>
                <a:cs typeface="Aptos"/>
                <a:sym typeface="Aptos"/>
              </a:rPr>
              <a:t>4 search methods</a:t>
            </a:r>
          </a:p>
        </p:txBody>
      </p:sp>
      <p:grpSp>
        <p:nvGrpSpPr>
          <p:cNvPr name="Group 41" id="41"/>
          <p:cNvGrpSpPr/>
          <p:nvPr/>
        </p:nvGrpSpPr>
        <p:grpSpPr>
          <a:xfrm rot="0">
            <a:off x="10884722" y="6464713"/>
            <a:ext cx="2979839" cy="1469908"/>
            <a:chOff x="0" y="0"/>
            <a:chExt cx="3973119" cy="1959877"/>
          </a:xfrm>
        </p:grpSpPr>
        <p:sp>
          <p:nvSpPr>
            <p:cNvPr name="Freeform 42" id="42"/>
            <p:cNvSpPr/>
            <p:nvPr/>
          </p:nvSpPr>
          <p:spPr>
            <a:xfrm flipH="false" flipV="false" rot="0">
              <a:off x="0" y="0"/>
              <a:ext cx="3973068" cy="1959864"/>
            </a:xfrm>
            <a:custGeom>
              <a:avLst/>
              <a:gdLst/>
              <a:ahLst/>
              <a:cxnLst/>
              <a:rect r="r" b="b" t="t" l="l"/>
              <a:pathLst>
                <a:path h="1959864" w="3973068">
                  <a:moveTo>
                    <a:pt x="0" y="326644"/>
                  </a:moveTo>
                  <a:cubicBezTo>
                    <a:pt x="0" y="146304"/>
                    <a:pt x="146304" y="0"/>
                    <a:pt x="326644" y="0"/>
                  </a:cubicBezTo>
                  <a:lnTo>
                    <a:pt x="3646424" y="0"/>
                  </a:lnTo>
                  <a:cubicBezTo>
                    <a:pt x="3826891" y="0"/>
                    <a:pt x="3973068" y="146304"/>
                    <a:pt x="3973068" y="326644"/>
                  </a:cubicBezTo>
                  <a:lnTo>
                    <a:pt x="3973068" y="1633220"/>
                  </a:lnTo>
                  <a:cubicBezTo>
                    <a:pt x="3973068" y="1813687"/>
                    <a:pt x="3826764" y="1959864"/>
                    <a:pt x="3646424" y="1959864"/>
                  </a:cubicBezTo>
                  <a:lnTo>
                    <a:pt x="326644" y="1959864"/>
                  </a:lnTo>
                  <a:cubicBezTo>
                    <a:pt x="146304" y="1959864"/>
                    <a:pt x="0" y="1813687"/>
                    <a:pt x="0" y="1633220"/>
                  </a:cubicBezTo>
                  <a:close/>
                </a:path>
              </a:pathLst>
            </a:custGeom>
            <a:solidFill>
              <a:srgbClr val="FFFFFF"/>
            </a:solidFill>
            <a:ln w="28597" cap="sq">
              <a:solidFill>
                <a:srgbClr val="EF8F3E"/>
              </a:solidFill>
              <a:prstDash val="solid"/>
              <a:miter/>
            </a:ln>
          </p:spPr>
        </p:sp>
      </p:grpSp>
      <p:sp>
        <p:nvSpPr>
          <p:cNvPr name="TextBox 43" id="43"/>
          <p:cNvSpPr txBox="true"/>
          <p:nvPr/>
        </p:nvSpPr>
        <p:spPr>
          <a:xfrm rot="0">
            <a:off x="11155175" y="6744357"/>
            <a:ext cx="2425198" cy="320364"/>
          </a:xfrm>
          <a:prstGeom prst="rect">
            <a:avLst/>
          </a:prstGeom>
        </p:spPr>
        <p:txBody>
          <a:bodyPr anchor="t" rtlCol="false" tIns="0" lIns="0" bIns="0" rIns="0">
            <a:spAutoFit/>
          </a:bodyPr>
          <a:lstStyle/>
          <a:p>
            <a:pPr algn="ctr">
              <a:lnSpc>
                <a:spcPts val="2341"/>
              </a:lnSpc>
            </a:pPr>
            <a:r>
              <a:rPr lang="en-US" sz="1951" b="true">
                <a:solidFill>
                  <a:srgbClr val="121F37"/>
                </a:solidFill>
                <a:latin typeface="Aptos Bold"/>
                <a:ea typeface="Aptos Bold"/>
                <a:cs typeface="Aptos Bold"/>
                <a:sym typeface="Aptos Bold"/>
              </a:rPr>
              <a:t>sorting</a:t>
            </a:r>
          </a:p>
        </p:txBody>
      </p:sp>
      <p:sp>
        <p:nvSpPr>
          <p:cNvPr name="TextBox 44" id="44"/>
          <p:cNvSpPr txBox="true"/>
          <p:nvPr/>
        </p:nvSpPr>
        <p:spPr>
          <a:xfrm rot="0">
            <a:off x="11155175" y="7252249"/>
            <a:ext cx="2425198" cy="347815"/>
          </a:xfrm>
          <a:prstGeom prst="rect">
            <a:avLst/>
          </a:prstGeom>
        </p:spPr>
        <p:txBody>
          <a:bodyPr anchor="t" rtlCol="false" tIns="0" lIns="0" bIns="0" rIns="0">
            <a:spAutoFit/>
          </a:bodyPr>
          <a:lstStyle/>
          <a:p>
            <a:pPr algn="ctr">
              <a:lnSpc>
                <a:spcPts val="1711"/>
              </a:lnSpc>
            </a:pPr>
            <a:r>
              <a:rPr lang="en-US" sz="1426">
                <a:solidFill>
                  <a:srgbClr val="667180"/>
                </a:solidFill>
                <a:latin typeface="Aptos"/>
                <a:ea typeface="Aptos"/>
                <a:cs typeface="Aptos"/>
                <a:sym typeface="Aptos"/>
              </a:rPr>
              <a:t>8 sorting methods</a:t>
            </a:r>
          </a:p>
        </p:txBody>
      </p:sp>
      <p:grpSp>
        <p:nvGrpSpPr>
          <p:cNvPr name="Group 45" id="45"/>
          <p:cNvGrpSpPr/>
          <p:nvPr/>
        </p:nvGrpSpPr>
        <p:grpSpPr>
          <a:xfrm rot="0">
            <a:off x="14206585" y="6464713"/>
            <a:ext cx="2979839" cy="1469908"/>
            <a:chOff x="0" y="0"/>
            <a:chExt cx="3973119" cy="1959877"/>
          </a:xfrm>
        </p:grpSpPr>
        <p:sp>
          <p:nvSpPr>
            <p:cNvPr name="Freeform 46" id="46"/>
            <p:cNvSpPr/>
            <p:nvPr/>
          </p:nvSpPr>
          <p:spPr>
            <a:xfrm flipH="false" flipV="false" rot="0">
              <a:off x="0" y="0"/>
              <a:ext cx="3973068" cy="1959864"/>
            </a:xfrm>
            <a:custGeom>
              <a:avLst/>
              <a:gdLst/>
              <a:ahLst/>
              <a:cxnLst/>
              <a:rect r="r" b="b" t="t" l="l"/>
              <a:pathLst>
                <a:path h="1959864" w="3973068">
                  <a:moveTo>
                    <a:pt x="0" y="326644"/>
                  </a:moveTo>
                  <a:cubicBezTo>
                    <a:pt x="0" y="146304"/>
                    <a:pt x="146304" y="0"/>
                    <a:pt x="326644" y="0"/>
                  </a:cubicBezTo>
                  <a:lnTo>
                    <a:pt x="3646424" y="0"/>
                  </a:lnTo>
                  <a:cubicBezTo>
                    <a:pt x="3826891" y="0"/>
                    <a:pt x="3973068" y="146304"/>
                    <a:pt x="3973068" y="326644"/>
                  </a:cubicBezTo>
                  <a:lnTo>
                    <a:pt x="3973068" y="1633220"/>
                  </a:lnTo>
                  <a:cubicBezTo>
                    <a:pt x="3973068" y="1813687"/>
                    <a:pt x="3826764" y="1959864"/>
                    <a:pt x="3646424" y="1959864"/>
                  </a:cubicBezTo>
                  <a:lnTo>
                    <a:pt x="326644" y="1959864"/>
                  </a:lnTo>
                  <a:cubicBezTo>
                    <a:pt x="146304" y="1959864"/>
                    <a:pt x="0" y="1813687"/>
                    <a:pt x="0" y="1633220"/>
                  </a:cubicBezTo>
                  <a:close/>
                </a:path>
              </a:pathLst>
            </a:custGeom>
            <a:solidFill>
              <a:srgbClr val="FFFFFF"/>
            </a:solidFill>
            <a:ln w="28597" cap="sq">
              <a:solidFill>
                <a:srgbClr val="46B5C4"/>
              </a:solidFill>
              <a:prstDash val="solid"/>
              <a:miter/>
            </a:ln>
          </p:spPr>
        </p:sp>
      </p:grpSp>
      <p:sp>
        <p:nvSpPr>
          <p:cNvPr name="TextBox 47" id="47"/>
          <p:cNvSpPr txBox="true"/>
          <p:nvPr/>
        </p:nvSpPr>
        <p:spPr>
          <a:xfrm rot="0">
            <a:off x="14477048" y="6744357"/>
            <a:ext cx="2425198" cy="320364"/>
          </a:xfrm>
          <a:prstGeom prst="rect">
            <a:avLst/>
          </a:prstGeom>
        </p:spPr>
        <p:txBody>
          <a:bodyPr anchor="t" rtlCol="false" tIns="0" lIns="0" bIns="0" rIns="0">
            <a:spAutoFit/>
          </a:bodyPr>
          <a:lstStyle/>
          <a:p>
            <a:pPr algn="ctr">
              <a:lnSpc>
                <a:spcPts val="2341"/>
              </a:lnSpc>
            </a:pPr>
            <a:r>
              <a:rPr lang="en-US" sz="1951" b="true">
                <a:solidFill>
                  <a:srgbClr val="121F37"/>
                </a:solidFill>
                <a:latin typeface="Aptos Bold"/>
                <a:ea typeface="Aptos Bold"/>
                <a:cs typeface="Aptos Bold"/>
                <a:sym typeface="Aptos Bold"/>
              </a:rPr>
              <a:t>analysis</a:t>
            </a:r>
          </a:p>
        </p:txBody>
      </p:sp>
      <p:sp>
        <p:nvSpPr>
          <p:cNvPr name="TextBox 48" id="48"/>
          <p:cNvSpPr txBox="true"/>
          <p:nvPr/>
        </p:nvSpPr>
        <p:spPr>
          <a:xfrm rot="0">
            <a:off x="14477048" y="7252249"/>
            <a:ext cx="2425198" cy="347815"/>
          </a:xfrm>
          <a:prstGeom prst="rect">
            <a:avLst/>
          </a:prstGeom>
        </p:spPr>
        <p:txBody>
          <a:bodyPr anchor="t" rtlCol="false" tIns="0" lIns="0" bIns="0" rIns="0">
            <a:spAutoFit/>
          </a:bodyPr>
          <a:lstStyle/>
          <a:p>
            <a:pPr algn="ctr">
              <a:lnSpc>
                <a:spcPts val="1711"/>
              </a:lnSpc>
            </a:pPr>
            <a:r>
              <a:rPr lang="en-US" sz="1426">
                <a:solidFill>
                  <a:srgbClr val="667180"/>
                </a:solidFill>
                <a:latin typeface="Aptos"/>
                <a:ea typeface="Aptos"/>
                <a:cs typeface="Aptos"/>
                <a:sym typeface="Aptos"/>
              </a:rPr>
              <a:t>Counts &amp; timing</a:t>
            </a:r>
          </a:p>
        </p:txBody>
      </p:sp>
      <p:sp>
        <p:nvSpPr>
          <p:cNvPr name="TextBox 49" id="49"/>
          <p:cNvSpPr txBox="true"/>
          <p:nvPr/>
        </p:nvSpPr>
        <p:spPr>
          <a:xfrm rot="0">
            <a:off x="1024861" y="8624926"/>
            <a:ext cx="15877384" cy="388991"/>
          </a:xfrm>
          <a:prstGeom prst="rect">
            <a:avLst/>
          </a:prstGeom>
        </p:spPr>
        <p:txBody>
          <a:bodyPr anchor="t" rtlCol="false" tIns="0" lIns="0" bIns="0" rIns="0">
            <a:spAutoFit/>
          </a:bodyPr>
          <a:lstStyle/>
          <a:p>
            <a:pPr algn="ctr">
              <a:lnSpc>
                <a:spcPts val="2251"/>
              </a:lnSpc>
            </a:pPr>
            <a:r>
              <a:rPr lang="en-US" sz="1876" b="true">
                <a:solidFill>
                  <a:srgbClr val="273140"/>
                </a:solidFill>
                <a:latin typeface="Aptos Bold"/>
                <a:ea typeface="Aptos Bold"/>
                <a:cs typeface="Aptos Bold"/>
                <a:sym typeface="Aptos Bold"/>
              </a:rPr>
              <a:t>Concepts demonstrated: structures • arrays • modular programming • Big-O • operation counting</a:t>
            </a:r>
          </a:p>
        </p:txBody>
      </p:sp>
      <p:grpSp>
        <p:nvGrpSpPr>
          <p:cNvPr name="Group 50" id="50"/>
          <p:cNvGrpSpPr/>
          <p:nvPr/>
        </p:nvGrpSpPr>
        <p:grpSpPr>
          <a:xfrm rot="0">
            <a:off x="892235" y="9800882"/>
            <a:ext cx="16472068" cy="13726"/>
            <a:chOff x="0" y="0"/>
            <a:chExt cx="21962758" cy="18301"/>
          </a:xfrm>
        </p:grpSpPr>
        <p:sp>
          <p:nvSpPr>
            <p:cNvPr name="Freeform 51" id="51"/>
            <p:cNvSpPr/>
            <p:nvPr/>
          </p:nvSpPr>
          <p:spPr>
            <a:xfrm flipH="false" flipV="false" rot="0">
              <a:off x="0" y="0"/>
              <a:ext cx="21962745" cy="18288"/>
            </a:xfrm>
            <a:custGeom>
              <a:avLst/>
              <a:gdLst/>
              <a:ahLst/>
              <a:cxnLst/>
              <a:rect r="r" b="b" t="t" l="l"/>
              <a:pathLst>
                <a:path h="18288" w="21962745">
                  <a:moveTo>
                    <a:pt x="0" y="0"/>
                  </a:moveTo>
                  <a:lnTo>
                    <a:pt x="21962745" y="0"/>
                  </a:lnTo>
                  <a:lnTo>
                    <a:pt x="21962745" y="18288"/>
                  </a:lnTo>
                  <a:lnTo>
                    <a:pt x="0" y="18288"/>
                  </a:lnTo>
                  <a:close/>
                </a:path>
              </a:pathLst>
            </a:custGeom>
            <a:solidFill>
              <a:srgbClr val="DEE6F0"/>
            </a:solidFill>
          </p:spPr>
        </p:sp>
      </p:grpSp>
      <p:sp>
        <p:nvSpPr>
          <p:cNvPr name="TextBox 52" id="52"/>
          <p:cNvSpPr txBox="true"/>
          <p:nvPr/>
        </p:nvSpPr>
        <p:spPr>
          <a:xfrm rot="0">
            <a:off x="983675" y="9915239"/>
            <a:ext cx="10798502" cy="183099"/>
          </a:xfrm>
          <a:prstGeom prst="rect">
            <a:avLst/>
          </a:prstGeom>
        </p:spPr>
        <p:txBody>
          <a:bodyPr anchor="t" rtlCol="false" tIns="0" lIns="0" bIns="0" rIns="0">
            <a:spAutoFit/>
          </a:bodyPr>
          <a:lstStyle/>
          <a:p>
            <a:pPr algn="l">
              <a:lnSpc>
                <a:spcPts val="1441"/>
              </a:lnSpc>
            </a:pPr>
            <a:r>
              <a:rPr lang="en-US" sz="1200">
                <a:solidFill>
                  <a:srgbClr val="667180"/>
                </a:solidFill>
                <a:latin typeface="Aptos"/>
                <a:ea typeface="Aptos"/>
                <a:cs typeface="Aptos"/>
                <a:sym typeface="Aptos"/>
              </a:rPr>
              <a:t>Smart Student Search &amp; Ranking System</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4" id="4"/>
          <p:cNvGrpSpPr/>
          <p:nvPr/>
        </p:nvGrpSpPr>
        <p:grpSpPr>
          <a:xfrm rot="0">
            <a:off x="0" y="0"/>
            <a:ext cx="18301840" cy="178451"/>
            <a:chOff x="0" y="0"/>
            <a:chExt cx="24402453" cy="237934"/>
          </a:xfrm>
        </p:grpSpPr>
        <p:sp>
          <p:nvSpPr>
            <p:cNvPr name="Freeform 5" id="5"/>
            <p:cNvSpPr/>
            <p:nvPr/>
          </p:nvSpPr>
          <p:spPr>
            <a:xfrm flipH="false" flipV="false" rot="0">
              <a:off x="0" y="0"/>
              <a:ext cx="24402414" cy="237871"/>
            </a:xfrm>
            <a:custGeom>
              <a:avLst/>
              <a:gdLst/>
              <a:ahLst/>
              <a:cxnLst/>
              <a:rect r="r" b="b" t="t" l="l"/>
              <a:pathLst>
                <a:path h="237871" w="24402414">
                  <a:moveTo>
                    <a:pt x="0" y="0"/>
                  </a:moveTo>
                  <a:lnTo>
                    <a:pt x="24402414" y="0"/>
                  </a:lnTo>
                  <a:lnTo>
                    <a:pt x="24402414" y="237871"/>
                  </a:lnTo>
                  <a:lnTo>
                    <a:pt x="0" y="237871"/>
                  </a:lnTo>
                  <a:close/>
                </a:path>
              </a:pathLst>
            </a:custGeom>
            <a:solidFill>
              <a:srgbClr val="1A9191"/>
            </a:solidFill>
          </p:spPr>
        </p:sp>
      </p:grpSp>
      <p:sp>
        <p:nvSpPr>
          <p:cNvPr name="TextBox 6" id="6"/>
          <p:cNvSpPr txBox="true"/>
          <p:nvPr/>
        </p:nvSpPr>
        <p:spPr>
          <a:xfrm rot="0">
            <a:off x="983675" y="420548"/>
            <a:ext cx="6131414" cy="329889"/>
          </a:xfrm>
          <a:prstGeom prst="rect">
            <a:avLst/>
          </a:prstGeom>
        </p:spPr>
        <p:txBody>
          <a:bodyPr anchor="t" rtlCol="false" tIns="0" lIns="0" bIns="0" rIns="0">
            <a:spAutoFit/>
          </a:bodyPr>
          <a:lstStyle/>
          <a:p>
            <a:pPr algn="l">
              <a:lnSpc>
                <a:spcPts val="1621"/>
              </a:lnSpc>
            </a:pPr>
            <a:r>
              <a:rPr lang="en-US" sz="1351" b="true">
                <a:solidFill>
                  <a:srgbClr val="1A9191"/>
                </a:solidFill>
                <a:latin typeface="Aptos Bold"/>
                <a:ea typeface="Aptos Bold"/>
                <a:cs typeface="Aptos Bold"/>
                <a:sym typeface="Aptos Bold"/>
              </a:rPr>
              <a:t>SEARCHING</a:t>
            </a:r>
          </a:p>
        </p:txBody>
      </p:sp>
      <p:sp>
        <p:nvSpPr>
          <p:cNvPr name="TextBox 7" id="7"/>
          <p:cNvSpPr txBox="true"/>
          <p:nvPr/>
        </p:nvSpPr>
        <p:spPr>
          <a:xfrm rot="0">
            <a:off x="16700773" y="420548"/>
            <a:ext cx="572091" cy="329889"/>
          </a:xfrm>
          <a:prstGeom prst="rect">
            <a:avLst/>
          </a:prstGeom>
        </p:spPr>
        <p:txBody>
          <a:bodyPr anchor="t" rtlCol="false" tIns="0" lIns="0" bIns="0" rIns="0">
            <a:spAutoFit/>
          </a:bodyPr>
          <a:lstStyle/>
          <a:p>
            <a:pPr algn="r">
              <a:lnSpc>
                <a:spcPts val="1621"/>
              </a:lnSpc>
            </a:pPr>
            <a:r>
              <a:rPr lang="en-US" sz="1351" b="true">
                <a:solidFill>
                  <a:srgbClr val="667180"/>
                </a:solidFill>
                <a:latin typeface="Aptos Bold"/>
                <a:ea typeface="Aptos Bold"/>
                <a:cs typeface="Aptos Bold"/>
                <a:sym typeface="Aptos Bold"/>
              </a:rPr>
              <a:t>05</a:t>
            </a:r>
          </a:p>
        </p:txBody>
      </p:sp>
      <p:sp>
        <p:nvSpPr>
          <p:cNvPr name="TextBox 8" id="8"/>
          <p:cNvSpPr txBox="true"/>
          <p:nvPr/>
        </p:nvSpPr>
        <p:spPr>
          <a:xfrm rot="0">
            <a:off x="983675" y="1034044"/>
            <a:ext cx="16289188" cy="938060"/>
          </a:xfrm>
          <a:prstGeom prst="rect">
            <a:avLst/>
          </a:prstGeom>
        </p:spPr>
        <p:txBody>
          <a:bodyPr anchor="t" rtlCol="false" tIns="0" lIns="0" bIns="0" rIns="0">
            <a:spAutoFit/>
          </a:bodyPr>
          <a:lstStyle/>
          <a:p>
            <a:pPr algn="l">
              <a:lnSpc>
                <a:spcPts val="5043"/>
              </a:lnSpc>
            </a:pPr>
            <a:r>
              <a:rPr lang="en-US" sz="4203" b="true">
                <a:solidFill>
                  <a:srgbClr val="121F37"/>
                </a:solidFill>
                <a:latin typeface="Aptos Bold"/>
                <a:ea typeface="Aptos Bold"/>
                <a:cs typeface="Aptos Bold"/>
                <a:sym typeface="Aptos Bold"/>
              </a:rPr>
              <a:t>Four Searching Algorithms</a:t>
            </a:r>
          </a:p>
        </p:txBody>
      </p:sp>
      <p:sp>
        <p:nvSpPr>
          <p:cNvPr name="TextBox 9" id="9"/>
          <p:cNvSpPr txBox="true"/>
          <p:nvPr/>
        </p:nvSpPr>
        <p:spPr>
          <a:xfrm rot="0">
            <a:off x="1011126" y="1967465"/>
            <a:ext cx="15877384" cy="567442"/>
          </a:xfrm>
          <a:prstGeom prst="rect">
            <a:avLst/>
          </a:prstGeom>
        </p:spPr>
        <p:txBody>
          <a:bodyPr anchor="t" rtlCol="false" tIns="0" lIns="0" bIns="0" rIns="0">
            <a:spAutoFit/>
          </a:bodyPr>
          <a:lstStyle/>
          <a:p>
            <a:pPr algn="l">
              <a:lnSpc>
                <a:spcPts val="2251"/>
              </a:lnSpc>
            </a:pPr>
            <a:r>
              <a:rPr lang="en-US" sz="1876">
                <a:solidFill>
                  <a:srgbClr val="667180"/>
                </a:solidFill>
                <a:latin typeface="Aptos"/>
                <a:ea typeface="Aptos"/>
                <a:cs typeface="Aptos"/>
                <a:sym typeface="Aptos"/>
              </a:rPr>
              <a:t>All four methods search for a student ID; binary and Fibonacci search require sorted data.</a:t>
            </a:r>
          </a:p>
        </p:txBody>
      </p:sp>
      <p:graphicFrame>
        <p:nvGraphicFramePr>
          <p:cNvPr name="Table 10" id="10"/>
          <p:cNvGraphicFramePr>
            <a:graphicFrameLocks noGrp="true"/>
          </p:cNvGraphicFramePr>
          <p:nvPr/>
        </p:nvGraphicFramePr>
        <p:xfrm>
          <a:off x="892237" y="2402177"/>
          <a:ext cx="15404435" cy="3622330"/>
        </p:xfrm>
        <a:graphic>
          <a:graphicData uri="http://schemas.openxmlformats.org/drawingml/2006/table">
            <a:tbl>
              <a:tblPr/>
              <a:tblGrid>
                <a:gridCol w="2259317"/>
                <a:gridCol w="5682525"/>
                <a:gridCol w="3354744"/>
                <a:gridCol w="4107849"/>
              </a:tblGrid>
              <a:tr h="724466">
                <a:tc>
                  <a:txBody>
                    <a:bodyPr anchor="t" rtlCol="false"/>
                    <a:lstStyle/>
                    <a:p>
                      <a:pPr algn="ctr">
                        <a:lnSpc>
                          <a:spcPts val="1981"/>
                        </a:lnSpc>
                        <a:defRPr/>
                      </a:pPr>
                      <a:r>
                        <a:rPr lang="en-US" sz="1651" b="true">
                          <a:solidFill>
                            <a:srgbClr val="FFFFFF"/>
                          </a:solidFill>
                          <a:latin typeface="Aptos Bold"/>
                          <a:ea typeface="Aptos Bold"/>
                          <a:cs typeface="Aptos Bold"/>
                          <a:sym typeface="Aptos Bold"/>
                        </a:rPr>
                        <a:t>Algorithm</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21F37"/>
                    </a:solidFill>
                  </a:tcPr>
                </a:tc>
                <a:tc>
                  <a:txBody>
                    <a:bodyPr anchor="t" rtlCol="false"/>
                    <a:lstStyle/>
                    <a:p>
                      <a:pPr algn="ctr">
                        <a:lnSpc>
                          <a:spcPts val="1981"/>
                        </a:lnSpc>
                        <a:defRPr/>
                      </a:pPr>
                      <a:r>
                        <a:rPr lang="en-US" sz="1651" b="true">
                          <a:solidFill>
                            <a:srgbClr val="FFFFFF"/>
                          </a:solidFill>
                          <a:latin typeface="Aptos Bold"/>
                          <a:ea typeface="Aptos Bold"/>
                          <a:cs typeface="Aptos Bold"/>
                          <a:sym typeface="Aptos Bold"/>
                        </a:rPr>
                        <a:t>Main idea</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21F37"/>
                    </a:solidFill>
                  </a:tcPr>
                </a:tc>
                <a:tc>
                  <a:txBody>
                    <a:bodyPr anchor="t" rtlCol="false"/>
                    <a:lstStyle/>
                    <a:p>
                      <a:pPr algn="ctr">
                        <a:lnSpc>
                          <a:spcPts val="1981"/>
                        </a:lnSpc>
                        <a:defRPr/>
                      </a:pPr>
                      <a:r>
                        <a:rPr lang="en-US" sz="1651" b="true">
                          <a:solidFill>
                            <a:srgbClr val="FFFFFF"/>
                          </a:solidFill>
                          <a:latin typeface="Aptos Bold"/>
                          <a:ea typeface="Aptos Bold"/>
                          <a:cs typeface="Aptos Bold"/>
                          <a:sym typeface="Aptos Bold"/>
                        </a:rPr>
                        <a:t>Data requirement</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21F37"/>
                    </a:solidFill>
                  </a:tcPr>
                </a:tc>
                <a:tc>
                  <a:txBody>
                    <a:bodyPr anchor="t" rtlCol="false"/>
                    <a:lstStyle/>
                    <a:p>
                      <a:pPr algn="ctr">
                        <a:lnSpc>
                          <a:spcPts val="1981"/>
                        </a:lnSpc>
                        <a:defRPr/>
                      </a:pPr>
                      <a:r>
                        <a:rPr lang="en-US" sz="1651" b="true">
                          <a:solidFill>
                            <a:srgbClr val="FFFFFF"/>
                          </a:solidFill>
                          <a:latin typeface="Aptos Bold"/>
                          <a:ea typeface="Aptos Bold"/>
                          <a:cs typeface="Aptos Bold"/>
                          <a:sym typeface="Aptos Bold"/>
                        </a:rPr>
                        <a:t>Typical complexity</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21F37"/>
                    </a:solidFill>
                  </a:tcPr>
                </a:tc>
              </a:tr>
              <a:tr h="724466">
                <a:tc>
                  <a:txBody>
                    <a:bodyPr anchor="t" rtlCol="false"/>
                    <a:lstStyle/>
                    <a:p>
                      <a:pPr algn="ctr">
                        <a:lnSpc>
                          <a:spcPts val="1981"/>
                        </a:lnSpc>
                        <a:defRPr/>
                      </a:pPr>
                      <a:r>
                        <a:rPr lang="en-US" sz="1651">
                          <a:solidFill>
                            <a:srgbClr val="273140"/>
                          </a:solidFill>
                          <a:latin typeface="Aptos"/>
                          <a:ea typeface="Aptos"/>
                          <a:cs typeface="Aptos"/>
                          <a:sym typeface="Aptos"/>
                        </a:rPr>
                        <a:t>Linear</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a:solidFill>
                            <a:srgbClr val="273140"/>
                          </a:solidFill>
                          <a:latin typeface="Aptos"/>
                          <a:ea typeface="Aptos"/>
                          <a:cs typeface="Aptos"/>
                          <a:sym typeface="Aptos"/>
                        </a:rPr>
                        <a:t>Check records one by one</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a:solidFill>
                            <a:srgbClr val="273140"/>
                          </a:solidFill>
                          <a:latin typeface="Aptos"/>
                          <a:ea typeface="Aptos"/>
                          <a:cs typeface="Aptos"/>
                          <a:sym typeface="Aptos"/>
                        </a:rPr>
                        <a:t>Any order</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a:solidFill>
                            <a:srgbClr val="273140"/>
                          </a:solidFill>
                          <a:latin typeface="Aptos"/>
                          <a:ea typeface="Aptos"/>
                          <a:cs typeface="Aptos"/>
                          <a:sym typeface="Aptos"/>
                        </a:rPr>
                        <a:t>O(n)</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24466">
                <a:tc>
                  <a:txBody>
                    <a:bodyPr anchor="t" rtlCol="false"/>
                    <a:lstStyle/>
                    <a:p>
                      <a:pPr algn="ctr">
                        <a:lnSpc>
                          <a:spcPts val="1981"/>
                        </a:lnSpc>
                        <a:defRPr/>
                      </a:pPr>
                      <a:r>
                        <a:rPr lang="en-US" sz="1651">
                          <a:solidFill>
                            <a:srgbClr val="273140"/>
                          </a:solidFill>
                          <a:latin typeface="Aptos"/>
                          <a:ea typeface="Aptos"/>
                          <a:cs typeface="Aptos"/>
                          <a:sym typeface="Aptos"/>
                        </a:rPr>
                        <a:t>Sentinel</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981"/>
                        </a:lnSpc>
                        <a:defRPr/>
                      </a:pPr>
                      <a:r>
                        <a:rPr lang="en-US" sz="1651">
                          <a:solidFill>
                            <a:srgbClr val="273140"/>
                          </a:solidFill>
                          <a:latin typeface="Aptos"/>
                          <a:ea typeface="Aptos"/>
                          <a:cs typeface="Aptos"/>
                          <a:sym typeface="Aptos"/>
                        </a:rPr>
                        <a:t>Linear search with a sentinel</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981"/>
                        </a:lnSpc>
                        <a:defRPr/>
                      </a:pPr>
                      <a:r>
                        <a:rPr lang="en-US" sz="1651">
                          <a:solidFill>
                            <a:srgbClr val="273140"/>
                          </a:solidFill>
                          <a:latin typeface="Aptos"/>
                          <a:ea typeface="Aptos"/>
                          <a:cs typeface="Aptos"/>
                          <a:sym typeface="Aptos"/>
                        </a:rPr>
                        <a:t>Any order</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981"/>
                        </a:lnSpc>
                        <a:defRPr/>
                      </a:pPr>
                      <a:r>
                        <a:rPr lang="en-US" sz="1651">
                          <a:solidFill>
                            <a:srgbClr val="273140"/>
                          </a:solidFill>
                          <a:latin typeface="Aptos"/>
                          <a:ea typeface="Aptos"/>
                          <a:cs typeface="Aptos"/>
                          <a:sym typeface="Aptos"/>
                        </a:rPr>
                        <a:t>O(n)</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r>
              <a:tr h="724466">
                <a:tc>
                  <a:txBody>
                    <a:bodyPr anchor="t" rtlCol="false"/>
                    <a:lstStyle/>
                    <a:p>
                      <a:pPr algn="ctr">
                        <a:lnSpc>
                          <a:spcPts val="1981"/>
                        </a:lnSpc>
                        <a:defRPr/>
                      </a:pPr>
                      <a:r>
                        <a:rPr lang="en-US" sz="1651">
                          <a:solidFill>
                            <a:srgbClr val="273140"/>
                          </a:solidFill>
                          <a:latin typeface="Aptos"/>
                          <a:ea typeface="Aptos"/>
                          <a:cs typeface="Aptos"/>
                          <a:sym typeface="Aptos"/>
                        </a:rPr>
                        <a:t>Binary</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a:solidFill>
                            <a:srgbClr val="273140"/>
                          </a:solidFill>
                          <a:latin typeface="Aptos"/>
                          <a:ea typeface="Aptos"/>
                          <a:cs typeface="Aptos"/>
                          <a:sym typeface="Aptos"/>
                        </a:rPr>
                        <a:t>Repeatedly halve the search range</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a:solidFill>
                            <a:srgbClr val="273140"/>
                          </a:solidFill>
                          <a:latin typeface="Aptos"/>
                          <a:ea typeface="Aptos"/>
                          <a:cs typeface="Aptos"/>
                          <a:sym typeface="Aptos"/>
                        </a:rPr>
                        <a:t>Sorted IDs</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a:solidFill>
                            <a:srgbClr val="273140"/>
                          </a:solidFill>
                          <a:latin typeface="Aptos"/>
                          <a:ea typeface="Aptos"/>
                          <a:cs typeface="Aptos"/>
                          <a:sym typeface="Aptos"/>
                        </a:rPr>
                        <a:t>O(log n)</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24466">
                <a:tc>
                  <a:txBody>
                    <a:bodyPr anchor="t" rtlCol="false"/>
                    <a:lstStyle/>
                    <a:p>
                      <a:pPr algn="ctr">
                        <a:lnSpc>
                          <a:spcPts val="1981"/>
                        </a:lnSpc>
                        <a:defRPr/>
                      </a:pPr>
                      <a:r>
                        <a:rPr lang="en-US" sz="1651">
                          <a:solidFill>
                            <a:srgbClr val="273140"/>
                          </a:solidFill>
                          <a:latin typeface="Aptos"/>
                          <a:ea typeface="Aptos"/>
                          <a:cs typeface="Aptos"/>
                          <a:sym typeface="Aptos"/>
                        </a:rPr>
                        <a:t>Fibonacci</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981"/>
                        </a:lnSpc>
                        <a:defRPr/>
                      </a:pPr>
                      <a:r>
                        <a:rPr lang="en-US" sz="1651">
                          <a:solidFill>
                            <a:srgbClr val="273140"/>
                          </a:solidFill>
                          <a:latin typeface="Aptos"/>
                          <a:ea typeface="Aptos"/>
                          <a:cs typeface="Aptos"/>
                          <a:sym typeface="Aptos"/>
                        </a:rPr>
                        <a:t>Use Fibonacci-sized search intervals</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981"/>
                        </a:lnSpc>
                        <a:defRPr/>
                      </a:pPr>
                      <a:r>
                        <a:rPr lang="en-US" sz="1651">
                          <a:solidFill>
                            <a:srgbClr val="273140"/>
                          </a:solidFill>
                          <a:latin typeface="Aptos"/>
                          <a:ea typeface="Aptos"/>
                          <a:cs typeface="Aptos"/>
                          <a:sym typeface="Aptos"/>
                        </a:rPr>
                        <a:t>Sorted IDs</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981"/>
                        </a:lnSpc>
                        <a:defRPr/>
                      </a:pPr>
                      <a:r>
                        <a:rPr lang="en-US" sz="1651">
                          <a:solidFill>
                            <a:srgbClr val="273140"/>
                          </a:solidFill>
                          <a:latin typeface="Aptos"/>
                          <a:ea typeface="Aptos"/>
                          <a:cs typeface="Aptos"/>
                          <a:sym typeface="Aptos"/>
                        </a:rPr>
                        <a:t>O(log n)</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r>
            </a:tbl>
          </a:graphicData>
        </a:graphic>
      </p:graphicFrame>
      <p:grpSp>
        <p:nvGrpSpPr>
          <p:cNvPr name="Group 11" id="11"/>
          <p:cNvGrpSpPr/>
          <p:nvPr/>
        </p:nvGrpSpPr>
        <p:grpSpPr>
          <a:xfrm rot="0">
            <a:off x="882701" y="6510661"/>
            <a:ext cx="7980569" cy="2009442"/>
            <a:chOff x="0" y="0"/>
            <a:chExt cx="10640758" cy="2679256"/>
          </a:xfrm>
        </p:grpSpPr>
        <p:sp>
          <p:nvSpPr>
            <p:cNvPr name="Freeform 12" id="12"/>
            <p:cNvSpPr/>
            <p:nvPr/>
          </p:nvSpPr>
          <p:spPr>
            <a:xfrm flipH="false" flipV="false" rot="0">
              <a:off x="0" y="0"/>
              <a:ext cx="10640695" cy="2679192"/>
            </a:xfrm>
            <a:custGeom>
              <a:avLst/>
              <a:gdLst/>
              <a:ahLst/>
              <a:cxnLst/>
              <a:rect r="r" b="b" t="t" l="l"/>
              <a:pathLst>
                <a:path h="2679192" w="10640695">
                  <a:moveTo>
                    <a:pt x="0" y="446532"/>
                  </a:moveTo>
                  <a:cubicBezTo>
                    <a:pt x="0" y="199898"/>
                    <a:pt x="199898" y="0"/>
                    <a:pt x="446532" y="0"/>
                  </a:cubicBezTo>
                  <a:lnTo>
                    <a:pt x="10194163" y="0"/>
                  </a:lnTo>
                  <a:cubicBezTo>
                    <a:pt x="10440797" y="0"/>
                    <a:pt x="10640695" y="199898"/>
                    <a:pt x="10640695" y="446532"/>
                  </a:cubicBezTo>
                  <a:lnTo>
                    <a:pt x="10640695" y="2232660"/>
                  </a:lnTo>
                  <a:cubicBezTo>
                    <a:pt x="10640695" y="2479294"/>
                    <a:pt x="10440797" y="2679192"/>
                    <a:pt x="10194163" y="2679192"/>
                  </a:cubicBezTo>
                  <a:lnTo>
                    <a:pt x="446532" y="2679192"/>
                  </a:lnTo>
                  <a:cubicBezTo>
                    <a:pt x="199898" y="2679192"/>
                    <a:pt x="0" y="2479294"/>
                    <a:pt x="0" y="2232660"/>
                  </a:cubicBezTo>
                  <a:close/>
                </a:path>
              </a:pathLst>
            </a:custGeom>
            <a:solidFill>
              <a:srgbClr val="F5F8FC"/>
            </a:solidFill>
            <a:ln w="19065" cap="sq">
              <a:solidFill>
                <a:srgbClr val="DEE6F0"/>
              </a:solidFill>
              <a:prstDash val="solid"/>
              <a:miter/>
            </a:ln>
          </p:spPr>
        </p:sp>
      </p:grpSp>
      <p:grpSp>
        <p:nvGrpSpPr>
          <p:cNvPr name="Group 13" id="13"/>
          <p:cNvGrpSpPr/>
          <p:nvPr/>
        </p:nvGrpSpPr>
        <p:grpSpPr>
          <a:xfrm rot="0">
            <a:off x="892235" y="6520196"/>
            <a:ext cx="96088" cy="1990373"/>
            <a:chOff x="0" y="0"/>
            <a:chExt cx="128118" cy="2653830"/>
          </a:xfrm>
        </p:grpSpPr>
        <p:sp>
          <p:nvSpPr>
            <p:cNvPr name="Freeform 14" id="14"/>
            <p:cNvSpPr/>
            <p:nvPr/>
          </p:nvSpPr>
          <p:spPr>
            <a:xfrm flipH="false" flipV="false" rot="0">
              <a:off x="0" y="0"/>
              <a:ext cx="128143" cy="2653792"/>
            </a:xfrm>
            <a:custGeom>
              <a:avLst/>
              <a:gdLst/>
              <a:ahLst/>
              <a:cxnLst/>
              <a:rect r="r" b="b" t="t" l="l"/>
              <a:pathLst>
                <a:path h="2653792" w="128143">
                  <a:moveTo>
                    <a:pt x="0" y="0"/>
                  </a:moveTo>
                  <a:lnTo>
                    <a:pt x="128143" y="0"/>
                  </a:lnTo>
                  <a:lnTo>
                    <a:pt x="128143" y="2653792"/>
                  </a:lnTo>
                  <a:lnTo>
                    <a:pt x="0" y="2653792"/>
                  </a:lnTo>
                  <a:close/>
                </a:path>
              </a:pathLst>
            </a:custGeom>
            <a:solidFill>
              <a:srgbClr val="1A9191"/>
            </a:solidFill>
          </p:spPr>
        </p:sp>
      </p:grpSp>
      <p:sp>
        <p:nvSpPr>
          <p:cNvPr name="TextBox 15" id="15"/>
          <p:cNvSpPr txBox="true"/>
          <p:nvPr/>
        </p:nvSpPr>
        <p:spPr>
          <a:xfrm rot="0">
            <a:off x="1285665" y="6799269"/>
            <a:ext cx="7257002" cy="388991"/>
          </a:xfrm>
          <a:prstGeom prst="rect">
            <a:avLst/>
          </a:prstGeom>
        </p:spPr>
        <p:txBody>
          <a:bodyPr anchor="t" rtlCol="false" tIns="0" lIns="0" bIns="0" rIns="0">
            <a:spAutoFit/>
          </a:bodyPr>
          <a:lstStyle/>
          <a:p>
            <a:pPr algn="l">
              <a:lnSpc>
                <a:spcPts val="2702"/>
              </a:lnSpc>
            </a:pPr>
            <a:r>
              <a:rPr lang="en-US" sz="2251" b="true">
                <a:solidFill>
                  <a:srgbClr val="121F37"/>
                </a:solidFill>
                <a:latin typeface="Aptos Bold"/>
                <a:ea typeface="Aptos Bold"/>
                <a:cs typeface="Aptos Bold"/>
                <a:sym typeface="Aptos Bold"/>
              </a:rPr>
              <a:t>Observed example</a:t>
            </a:r>
          </a:p>
        </p:txBody>
      </p:sp>
      <p:sp>
        <p:nvSpPr>
          <p:cNvPr name="TextBox 16" id="16"/>
          <p:cNvSpPr txBox="true"/>
          <p:nvPr/>
        </p:nvSpPr>
        <p:spPr>
          <a:xfrm rot="0">
            <a:off x="1285665" y="7416975"/>
            <a:ext cx="7257002" cy="828246"/>
          </a:xfrm>
          <a:prstGeom prst="rect">
            <a:avLst/>
          </a:prstGeom>
        </p:spPr>
        <p:txBody>
          <a:bodyPr anchor="t" rtlCol="false" tIns="0" lIns="0" bIns="0" rIns="0">
            <a:spAutoFit/>
          </a:bodyPr>
          <a:lstStyle/>
          <a:p>
            <a:pPr algn="l">
              <a:lnSpc>
                <a:spcPts val="2161"/>
              </a:lnSpc>
            </a:pPr>
            <a:r>
              <a:rPr lang="en-US" sz="1801">
                <a:solidFill>
                  <a:srgbClr val="273140"/>
                </a:solidFill>
                <a:latin typeface="Aptos"/>
                <a:ea typeface="Aptos"/>
                <a:cs typeface="Aptos"/>
                <a:sym typeface="Aptos"/>
              </a:rPr>
              <a:t>ID 103 was found with Binary Search in 1 comparison, while Linear Search needed 3 comparisons in the shown run.</a:t>
            </a:r>
          </a:p>
        </p:txBody>
      </p:sp>
      <p:grpSp>
        <p:nvGrpSpPr>
          <p:cNvPr name="Group 17" id="17"/>
          <p:cNvGrpSpPr/>
          <p:nvPr/>
        </p:nvGrpSpPr>
        <p:grpSpPr>
          <a:xfrm rot="0">
            <a:off x="9118740" y="6510661"/>
            <a:ext cx="8255098" cy="2009442"/>
            <a:chOff x="0" y="0"/>
            <a:chExt cx="11006798" cy="2679256"/>
          </a:xfrm>
        </p:grpSpPr>
        <p:sp>
          <p:nvSpPr>
            <p:cNvPr name="Freeform 18" id="18"/>
            <p:cNvSpPr/>
            <p:nvPr/>
          </p:nvSpPr>
          <p:spPr>
            <a:xfrm flipH="false" flipV="false" rot="0">
              <a:off x="0" y="0"/>
              <a:ext cx="11006836" cy="2679192"/>
            </a:xfrm>
            <a:custGeom>
              <a:avLst/>
              <a:gdLst/>
              <a:ahLst/>
              <a:cxnLst/>
              <a:rect r="r" b="b" t="t" l="l"/>
              <a:pathLst>
                <a:path h="2679192" w="11006836">
                  <a:moveTo>
                    <a:pt x="0" y="446532"/>
                  </a:moveTo>
                  <a:cubicBezTo>
                    <a:pt x="0" y="199898"/>
                    <a:pt x="199898" y="0"/>
                    <a:pt x="446532" y="0"/>
                  </a:cubicBezTo>
                  <a:lnTo>
                    <a:pt x="10560304" y="0"/>
                  </a:lnTo>
                  <a:cubicBezTo>
                    <a:pt x="10806938" y="0"/>
                    <a:pt x="11006836" y="199898"/>
                    <a:pt x="11006836" y="446532"/>
                  </a:cubicBezTo>
                  <a:lnTo>
                    <a:pt x="11006836" y="2232660"/>
                  </a:lnTo>
                  <a:cubicBezTo>
                    <a:pt x="11006836" y="2479294"/>
                    <a:pt x="10806938" y="2679192"/>
                    <a:pt x="10560304" y="2679192"/>
                  </a:cubicBezTo>
                  <a:lnTo>
                    <a:pt x="446532" y="2679192"/>
                  </a:lnTo>
                  <a:cubicBezTo>
                    <a:pt x="199898" y="2679192"/>
                    <a:pt x="0" y="2479294"/>
                    <a:pt x="0" y="2232660"/>
                  </a:cubicBezTo>
                  <a:close/>
                </a:path>
              </a:pathLst>
            </a:custGeom>
            <a:solidFill>
              <a:srgbClr val="F5F8FC"/>
            </a:solidFill>
            <a:ln w="19065" cap="sq">
              <a:solidFill>
                <a:srgbClr val="DEE6F0"/>
              </a:solidFill>
              <a:prstDash val="solid"/>
              <a:miter/>
            </a:ln>
          </p:spPr>
        </p:sp>
      </p:grpSp>
      <p:grpSp>
        <p:nvGrpSpPr>
          <p:cNvPr name="Group 19" id="19"/>
          <p:cNvGrpSpPr/>
          <p:nvPr/>
        </p:nvGrpSpPr>
        <p:grpSpPr>
          <a:xfrm rot="0">
            <a:off x="9128274" y="6520196"/>
            <a:ext cx="96088" cy="1990373"/>
            <a:chOff x="0" y="0"/>
            <a:chExt cx="128118" cy="2653830"/>
          </a:xfrm>
        </p:grpSpPr>
        <p:sp>
          <p:nvSpPr>
            <p:cNvPr name="Freeform 20" id="20"/>
            <p:cNvSpPr/>
            <p:nvPr/>
          </p:nvSpPr>
          <p:spPr>
            <a:xfrm flipH="false" flipV="false" rot="0">
              <a:off x="0" y="0"/>
              <a:ext cx="128143" cy="2653792"/>
            </a:xfrm>
            <a:custGeom>
              <a:avLst/>
              <a:gdLst/>
              <a:ahLst/>
              <a:cxnLst/>
              <a:rect r="r" b="b" t="t" l="l"/>
              <a:pathLst>
                <a:path h="2653792" w="128143">
                  <a:moveTo>
                    <a:pt x="0" y="0"/>
                  </a:moveTo>
                  <a:lnTo>
                    <a:pt x="128143" y="0"/>
                  </a:lnTo>
                  <a:lnTo>
                    <a:pt x="128143" y="2653792"/>
                  </a:lnTo>
                  <a:lnTo>
                    <a:pt x="0" y="2653792"/>
                  </a:lnTo>
                  <a:close/>
                </a:path>
              </a:pathLst>
            </a:custGeom>
            <a:solidFill>
              <a:srgbClr val="2B5DA6"/>
            </a:solidFill>
          </p:spPr>
        </p:sp>
      </p:grpSp>
      <p:sp>
        <p:nvSpPr>
          <p:cNvPr name="TextBox 21" id="21"/>
          <p:cNvSpPr txBox="true"/>
          <p:nvPr/>
        </p:nvSpPr>
        <p:spPr>
          <a:xfrm rot="0">
            <a:off x="9521695" y="6799269"/>
            <a:ext cx="7531541" cy="388991"/>
          </a:xfrm>
          <a:prstGeom prst="rect">
            <a:avLst/>
          </a:prstGeom>
        </p:spPr>
        <p:txBody>
          <a:bodyPr anchor="t" rtlCol="false" tIns="0" lIns="0" bIns="0" rIns="0">
            <a:spAutoFit/>
          </a:bodyPr>
          <a:lstStyle/>
          <a:p>
            <a:pPr algn="l">
              <a:lnSpc>
                <a:spcPts val="2702"/>
              </a:lnSpc>
            </a:pPr>
            <a:r>
              <a:rPr lang="en-US" sz="2251" b="true">
                <a:solidFill>
                  <a:srgbClr val="121F37"/>
                </a:solidFill>
                <a:latin typeface="Aptos Bold"/>
                <a:ea typeface="Aptos Bold"/>
                <a:cs typeface="Aptos Bold"/>
                <a:sym typeface="Aptos Bold"/>
              </a:rPr>
              <a:t>Why sorted copy?</a:t>
            </a:r>
          </a:p>
        </p:txBody>
      </p:sp>
      <p:sp>
        <p:nvSpPr>
          <p:cNvPr name="TextBox 22" id="22"/>
          <p:cNvSpPr txBox="true"/>
          <p:nvPr/>
        </p:nvSpPr>
        <p:spPr>
          <a:xfrm rot="0">
            <a:off x="9521695" y="7416975"/>
            <a:ext cx="7531541" cy="828246"/>
          </a:xfrm>
          <a:prstGeom prst="rect">
            <a:avLst/>
          </a:prstGeom>
        </p:spPr>
        <p:txBody>
          <a:bodyPr anchor="t" rtlCol="false" tIns="0" lIns="0" bIns="0" rIns="0">
            <a:spAutoFit/>
          </a:bodyPr>
          <a:lstStyle/>
          <a:p>
            <a:pPr algn="l">
              <a:lnSpc>
                <a:spcPts val="2161"/>
              </a:lnSpc>
            </a:pPr>
            <a:r>
              <a:rPr lang="en-US" sz="1801">
                <a:solidFill>
                  <a:srgbClr val="273140"/>
                </a:solidFill>
                <a:latin typeface="Aptos"/>
                <a:ea typeface="Aptos"/>
                <a:cs typeface="Aptos"/>
                <a:sym typeface="Aptos"/>
              </a:rPr>
              <a:t>Sorting the working copy enables Binary/Fibonacci Search without changing the original order in which students were entered.</a:t>
            </a:r>
          </a:p>
        </p:txBody>
      </p:sp>
      <p:grpSp>
        <p:nvGrpSpPr>
          <p:cNvPr name="Group 23" id="23"/>
          <p:cNvGrpSpPr/>
          <p:nvPr/>
        </p:nvGrpSpPr>
        <p:grpSpPr>
          <a:xfrm rot="0">
            <a:off x="892235" y="9800882"/>
            <a:ext cx="16472068" cy="13726"/>
            <a:chOff x="0" y="0"/>
            <a:chExt cx="21962758" cy="18301"/>
          </a:xfrm>
        </p:grpSpPr>
        <p:sp>
          <p:nvSpPr>
            <p:cNvPr name="Freeform 24" id="24"/>
            <p:cNvSpPr/>
            <p:nvPr/>
          </p:nvSpPr>
          <p:spPr>
            <a:xfrm flipH="false" flipV="false" rot="0">
              <a:off x="0" y="0"/>
              <a:ext cx="21962745" cy="18288"/>
            </a:xfrm>
            <a:custGeom>
              <a:avLst/>
              <a:gdLst/>
              <a:ahLst/>
              <a:cxnLst/>
              <a:rect r="r" b="b" t="t" l="l"/>
              <a:pathLst>
                <a:path h="18288" w="21962745">
                  <a:moveTo>
                    <a:pt x="0" y="0"/>
                  </a:moveTo>
                  <a:lnTo>
                    <a:pt x="21962745" y="0"/>
                  </a:lnTo>
                  <a:lnTo>
                    <a:pt x="21962745" y="18288"/>
                  </a:lnTo>
                  <a:lnTo>
                    <a:pt x="0" y="18288"/>
                  </a:lnTo>
                  <a:close/>
                </a:path>
              </a:pathLst>
            </a:custGeom>
            <a:solidFill>
              <a:srgbClr val="DEE6F0"/>
            </a:solidFill>
          </p:spPr>
        </p:sp>
      </p:grpSp>
      <p:sp>
        <p:nvSpPr>
          <p:cNvPr name="TextBox 25" id="25"/>
          <p:cNvSpPr txBox="true"/>
          <p:nvPr/>
        </p:nvSpPr>
        <p:spPr>
          <a:xfrm rot="0">
            <a:off x="983675" y="9915239"/>
            <a:ext cx="10798502" cy="183099"/>
          </a:xfrm>
          <a:prstGeom prst="rect">
            <a:avLst/>
          </a:prstGeom>
        </p:spPr>
        <p:txBody>
          <a:bodyPr anchor="t" rtlCol="false" tIns="0" lIns="0" bIns="0" rIns="0">
            <a:spAutoFit/>
          </a:bodyPr>
          <a:lstStyle/>
          <a:p>
            <a:pPr algn="l">
              <a:lnSpc>
                <a:spcPts val="1441"/>
              </a:lnSpc>
            </a:pPr>
            <a:r>
              <a:rPr lang="en-US" sz="1200">
                <a:solidFill>
                  <a:srgbClr val="667180"/>
                </a:solidFill>
                <a:latin typeface="Aptos"/>
                <a:ea typeface="Aptos"/>
                <a:cs typeface="Aptos"/>
                <a:sym typeface="Aptos"/>
              </a:rPr>
              <a:t>Smart Student Search &amp; Ranking System</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4" id="4"/>
          <p:cNvGrpSpPr/>
          <p:nvPr/>
        </p:nvGrpSpPr>
        <p:grpSpPr>
          <a:xfrm rot="0">
            <a:off x="0" y="0"/>
            <a:ext cx="18301840" cy="178451"/>
            <a:chOff x="0" y="0"/>
            <a:chExt cx="24402453" cy="237934"/>
          </a:xfrm>
        </p:grpSpPr>
        <p:sp>
          <p:nvSpPr>
            <p:cNvPr name="Freeform 5" id="5"/>
            <p:cNvSpPr/>
            <p:nvPr/>
          </p:nvSpPr>
          <p:spPr>
            <a:xfrm flipH="false" flipV="false" rot="0">
              <a:off x="0" y="0"/>
              <a:ext cx="24402414" cy="237871"/>
            </a:xfrm>
            <a:custGeom>
              <a:avLst/>
              <a:gdLst/>
              <a:ahLst/>
              <a:cxnLst/>
              <a:rect r="r" b="b" t="t" l="l"/>
              <a:pathLst>
                <a:path h="237871" w="24402414">
                  <a:moveTo>
                    <a:pt x="0" y="0"/>
                  </a:moveTo>
                  <a:lnTo>
                    <a:pt x="24402414" y="0"/>
                  </a:lnTo>
                  <a:lnTo>
                    <a:pt x="24402414" y="237871"/>
                  </a:lnTo>
                  <a:lnTo>
                    <a:pt x="0" y="237871"/>
                  </a:lnTo>
                  <a:close/>
                </a:path>
              </a:pathLst>
            </a:custGeom>
            <a:solidFill>
              <a:srgbClr val="1A9191"/>
            </a:solidFill>
          </p:spPr>
        </p:sp>
      </p:grpSp>
      <p:sp>
        <p:nvSpPr>
          <p:cNvPr name="TextBox 6" id="6"/>
          <p:cNvSpPr txBox="true"/>
          <p:nvPr/>
        </p:nvSpPr>
        <p:spPr>
          <a:xfrm rot="0">
            <a:off x="983675" y="420548"/>
            <a:ext cx="6131414" cy="329889"/>
          </a:xfrm>
          <a:prstGeom prst="rect">
            <a:avLst/>
          </a:prstGeom>
        </p:spPr>
        <p:txBody>
          <a:bodyPr anchor="t" rtlCol="false" tIns="0" lIns="0" bIns="0" rIns="0">
            <a:spAutoFit/>
          </a:bodyPr>
          <a:lstStyle/>
          <a:p>
            <a:pPr algn="l">
              <a:lnSpc>
                <a:spcPts val="1621"/>
              </a:lnSpc>
            </a:pPr>
            <a:r>
              <a:rPr lang="en-US" sz="1351" b="true">
                <a:solidFill>
                  <a:srgbClr val="1A9191"/>
                </a:solidFill>
                <a:latin typeface="Aptos Bold"/>
                <a:ea typeface="Aptos Bold"/>
                <a:cs typeface="Aptos Bold"/>
                <a:sym typeface="Aptos Bold"/>
              </a:rPr>
              <a:t>SORTING</a:t>
            </a:r>
          </a:p>
        </p:txBody>
      </p:sp>
      <p:sp>
        <p:nvSpPr>
          <p:cNvPr name="TextBox 7" id="7"/>
          <p:cNvSpPr txBox="true"/>
          <p:nvPr/>
        </p:nvSpPr>
        <p:spPr>
          <a:xfrm rot="0">
            <a:off x="16700773" y="420548"/>
            <a:ext cx="572091" cy="329889"/>
          </a:xfrm>
          <a:prstGeom prst="rect">
            <a:avLst/>
          </a:prstGeom>
        </p:spPr>
        <p:txBody>
          <a:bodyPr anchor="t" rtlCol="false" tIns="0" lIns="0" bIns="0" rIns="0">
            <a:spAutoFit/>
          </a:bodyPr>
          <a:lstStyle/>
          <a:p>
            <a:pPr algn="r">
              <a:lnSpc>
                <a:spcPts val="1621"/>
              </a:lnSpc>
            </a:pPr>
            <a:r>
              <a:rPr lang="en-US" sz="1351" b="true">
                <a:solidFill>
                  <a:srgbClr val="667180"/>
                </a:solidFill>
                <a:latin typeface="Aptos Bold"/>
                <a:ea typeface="Aptos Bold"/>
                <a:cs typeface="Aptos Bold"/>
                <a:sym typeface="Aptos Bold"/>
              </a:rPr>
              <a:t>06</a:t>
            </a:r>
          </a:p>
        </p:txBody>
      </p:sp>
      <p:sp>
        <p:nvSpPr>
          <p:cNvPr name="TextBox 8" id="8"/>
          <p:cNvSpPr txBox="true"/>
          <p:nvPr/>
        </p:nvSpPr>
        <p:spPr>
          <a:xfrm rot="0">
            <a:off x="983675" y="1034044"/>
            <a:ext cx="16289188" cy="938060"/>
          </a:xfrm>
          <a:prstGeom prst="rect">
            <a:avLst/>
          </a:prstGeom>
        </p:spPr>
        <p:txBody>
          <a:bodyPr anchor="t" rtlCol="false" tIns="0" lIns="0" bIns="0" rIns="0">
            <a:spAutoFit/>
          </a:bodyPr>
          <a:lstStyle/>
          <a:p>
            <a:pPr algn="l">
              <a:lnSpc>
                <a:spcPts val="5043"/>
              </a:lnSpc>
            </a:pPr>
            <a:r>
              <a:rPr lang="en-US" sz="4203" b="true">
                <a:solidFill>
                  <a:srgbClr val="121F37"/>
                </a:solidFill>
                <a:latin typeface="Aptos Bold"/>
                <a:ea typeface="Aptos Bold"/>
                <a:cs typeface="Aptos Bold"/>
                <a:sym typeface="Aptos Bold"/>
              </a:rPr>
              <a:t>Eight Sorting Algorithms</a:t>
            </a:r>
          </a:p>
        </p:txBody>
      </p:sp>
      <p:sp>
        <p:nvSpPr>
          <p:cNvPr name="TextBox 9" id="9"/>
          <p:cNvSpPr txBox="true"/>
          <p:nvPr/>
        </p:nvSpPr>
        <p:spPr>
          <a:xfrm rot="0">
            <a:off x="1011126" y="1967465"/>
            <a:ext cx="15877384" cy="567442"/>
          </a:xfrm>
          <a:prstGeom prst="rect">
            <a:avLst/>
          </a:prstGeom>
        </p:spPr>
        <p:txBody>
          <a:bodyPr anchor="t" rtlCol="false" tIns="0" lIns="0" bIns="0" rIns="0">
            <a:spAutoFit/>
          </a:bodyPr>
          <a:lstStyle/>
          <a:p>
            <a:pPr algn="l">
              <a:lnSpc>
                <a:spcPts val="2251"/>
              </a:lnSpc>
            </a:pPr>
            <a:r>
              <a:rPr lang="en-US" sz="1876">
                <a:solidFill>
                  <a:srgbClr val="667180"/>
                </a:solidFill>
                <a:latin typeface="Aptos"/>
                <a:ea typeface="Aptos"/>
                <a:cs typeface="Aptos"/>
                <a:sym typeface="Aptos"/>
              </a:rPr>
              <a:t>The same comparison function controls the desired order, so each sorting algorithm is implemented once.</a:t>
            </a:r>
          </a:p>
        </p:txBody>
      </p:sp>
      <p:graphicFrame>
        <p:nvGraphicFramePr>
          <p:cNvPr name="Table 10" id="10"/>
          <p:cNvGraphicFramePr>
            <a:graphicFrameLocks noGrp="true"/>
          </p:cNvGraphicFramePr>
          <p:nvPr/>
        </p:nvGraphicFramePr>
        <p:xfrm>
          <a:off x="892237" y="2402177"/>
          <a:ext cx="16433939" cy="3527005"/>
        </p:xfrm>
        <a:graphic>
          <a:graphicData uri="http://schemas.openxmlformats.org/drawingml/2006/table">
            <a:tbl>
              <a:tblPr/>
              <a:tblGrid>
                <a:gridCol w="2944414"/>
                <a:gridCol w="4519333"/>
                <a:gridCol w="8970192"/>
              </a:tblGrid>
              <a:tr h="705401">
                <a:tc>
                  <a:txBody>
                    <a:bodyPr anchor="t" rtlCol="false"/>
                    <a:lstStyle/>
                    <a:p>
                      <a:pPr algn="ctr">
                        <a:lnSpc>
                          <a:spcPts val="1981"/>
                        </a:lnSpc>
                        <a:defRPr/>
                      </a:pPr>
                      <a:r>
                        <a:rPr lang="en-US" sz="1651" b="true">
                          <a:solidFill>
                            <a:srgbClr val="FFFFFF"/>
                          </a:solidFill>
                          <a:latin typeface="Aptos Bold"/>
                          <a:ea typeface="Aptos Bold"/>
                          <a:cs typeface="Aptos Bold"/>
                          <a:sym typeface="Aptos Bold"/>
                        </a:rPr>
                        <a:t>Group</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21F37"/>
                    </a:solidFill>
                  </a:tcPr>
                </a:tc>
                <a:tc>
                  <a:txBody>
                    <a:bodyPr anchor="t" rtlCol="false"/>
                    <a:lstStyle/>
                    <a:p>
                      <a:pPr algn="ctr">
                        <a:lnSpc>
                          <a:spcPts val="1981"/>
                        </a:lnSpc>
                        <a:defRPr/>
                      </a:pPr>
                      <a:r>
                        <a:rPr lang="en-US" sz="1651" b="true">
                          <a:solidFill>
                            <a:srgbClr val="FFFFFF"/>
                          </a:solidFill>
                          <a:latin typeface="Aptos Bold"/>
                          <a:ea typeface="Aptos Bold"/>
                          <a:cs typeface="Aptos Bold"/>
                          <a:sym typeface="Aptos Bold"/>
                        </a:rPr>
                        <a:t>Algorithms</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21F37"/>
                    </a:solidFill>
                  </a:tcPr>
                </a:tc>
                <a:tc>
                  <a:txBody>
                    <a:bodyPr anchor="t" rtlCol="false"/>
                    <a:lstStyle/>
                    <a:p>
                      <a:pPr algn="ctr">
                        <a:lnSpc>
                          <a:spcPts val="1981"/>
                        </a:lnSpc>
                        <a:defRPr/>
                      </a:pPr>
                      <a:r>
                        <a:rPr lang="en-US" sz="1651" b="true">
                          <a:solidFill>
                            <a:srgbClr val="FFFFFF"/>
                          </a:solidFill>
                          <a:latin typeface="Aptos Bold"/>
                          <a:ea typeface="Aptos Bold"/>
                          <a:cs typeface="Aptos Bold"/>
                          <a:sym typeface="Aptos Bold"/>
                        </a:rPr>
                        <a:t>Typical idea / complexity</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21F37"/>
                    </a:solidFill>
                  </a:tcPr>
                </a:tc>
              </a:tr>
              <a:tr h="705401">
                <a:tc>
                  <a:txBody>
                    <a:bodyPr anchor="t" rtlCol="false"/>
                    <a:lstStyle/>
                    <a:p>
                      <a:pPr algn="ctr">
                        <a:lnSpc>
                          <a:spcPts val="1981"/>
                        </a:lnSpc>
                        <a:defRPr/>
                      </a:pPr>
                      <a:r>
                        <a:rPr lang="en-US" sz="1651">
                          <a:solidFill>
                            <a:srgbClr val="273140"/>
                          </a:solidFill>
                          <a:latin typeface="Aptos"/>
                          <a:ea typeface="Aptos"/>
                          <a:cs typeface="Aptos"/>
                          <a:sym typeface="Aptos"/>
                        </a:rPr>
                        <a:t>Simple</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a:solidFill>
                            <a:srgbClr val="273140"/>
                          </a:solidFill>
                          <a:latin typeface="Aptos"/>
                          <a:ea typeface="Aptos"/>
                          <a:cs typeface="Aptos"/>
                          <a:sym typeface="Aptos"/>
                        </a:rPr>
                        <a:t>Bubble • Selection • Insertion</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a:solidFill>
                            <a:srgbClr val="273140"/>
                          </a:solidFill>
                          <a:latin typeface="Aptos"/>
                          <a:ea typeface="Aptos"/>
                          <a:cs typeface="Aptos"/>
                          <a:sym typeface="Aptos"/>
                        </a:rPr>
                        <a:t>Easy to understand • O(n²)</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05401">
                <a:tc>
                  <a:txBody>
                    <a:bodyPr anchor="t" rtlCol="false"/>
                    <a:lstStyle/>
                    <a:p>
                      <a:pPr algn="ctr">
                        <a:lnSpc>
                          <a:spcPts val="1981"/>
                        </a:lnSpc>
                        <a:defRPr/>
                      </a:pPr>
                      <a:r>
                        <a:rPr lang="en-US" sz="1651">
                          <a:solidFill>
                            <a:srgbClr val="273140"/>
                          </a:solidFill>
                          <a:latin typeface="Aptos"/>
                          <a:ea typeface="Aptos"/>
                          <a:cs typeface="Aptos"/>
                          <a:sym typeface="Aptos"/>
                        </a:rPr>
                        <a:t>Improved</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981"/>
                        </a:lnSpc>
                        <a:defRPr/>
                      </a:pPr>
                      <a:r>
                        <a:rPr lang="en-US" sz="1651">
                          <a:solidFill>
                            <a:srgbClr val="273140"/>
                          </a:solidFill>
                          <a:latin typeface="Aptos"/>
                          <a:ea typeface="Aptos"/>
                          <a:cs typeface="Aptos"/>
                          <a:sym typeface="Aptos"/>
                        </a:rPr>
                        <a:t>Shell</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981"/>
                        </a:lnSpc>
                        <a:defRPr/>
                      </a:pPr>
                      <a:r>
                        <a:rPr lang="en-US" sz="1651">
                          <a:solidFill>
                            <a:srgbClr val="273140"/>
                          </a:solidFill>
                          <a:latin typeface="Aptos"/>
                          <a:ea typeface="Aptos"/>
                          <a:cs typeface="Aptos"/>
                          <a:sym typeface="Aptos"/>
                        </a:rPr>
                        <a:t>Gap-based insertion • depends on gaps</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r>
              <a:tr h="705401">
                <a:tc>
                  <a:txBody>
                    <a:bodyPr anchor="t" rtlCol="false"/>
                    <a:lstStyle/>
                    <a:p>
                      <a:pPr algn="ctr">
                        <a:lnSpc>
                          <a:spcPts val="1981"/>
                        </a:lnSpc>
                        <a:defRPr/>
                      </a:pPr>
                      <a:r>
                        <a:rPr lang="en-US" sz="1651">
                          <a:solidFill>
                            <a:srgbClr val="273140"/>
                          </a:solidFill>
                          <a:latin typeface="Aptos"/>
                          <a:ea typeface="Aptos"/>
                          <a:cs typeface="Aptos"/>
                          <a:sym typeface="Aptos"/>
                        </a:rPr>
                        <a:t>Divide &amp; conquer</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a:solidFill>
                            <a:srgbClr val="273140"/>
                          </a:solidFill>
                          <a:latin typeface="Aptos"/>
                          <a:ea typeface="Aptos"/>
                          <a:cs typeface="Aptos"/>
                          <a:sym typeface="Aptos"/>
                        </a:rPr>
                        <a:t>Merge • Quick</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a:solidFill>
                            <a:srgbClr val="273140"/>
                          </a:solidFill>
                          <a:latin typeface="Aptos"/>
                          <a:ea typeface="Aptos"/>
                          <a:cs typeface="Aptos"/>
                          <a:sym typeface="Aptos"/>
                        </a:rPr>
                        <a:t>O(n log n) typical efficient performance</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05401">
                <a:tc>
                  <a:txBody>
                    <a:bodyPr anchor="t" rtlCol="false"/>
                    <a:lstStyle/>
                    <a:p>
                      <a:pPr algn="ctr">
                        <a:lnSpc>
                          <a:spcPts val="1981"/>
                        </a:lnSpc>
                        <a:defRPr/>
                      </a:pPr>
                      <a:r>
                        <a:rPr lang="en-US" sz="1651">
                          <a:solidFill>
                            <a:srgbClr val="273140"/>
                          </a:solidFill>
                          <a:latin typeface="Aptos"/>
                          <a:ea typeface="Aptos"/>
                          <a:cs typeface="Aptos"/>
                          <a:sym typeface="Aptos"/>
                        </a:rPr>
                        <a:t>Non-comparison</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981"/>
                        </a:lnSpc>
                        <a:defRPr/>
                      </a:pPr>
                      <a:r>
                        <a:rPr lang="en-US" sz="1651">
                          <a:solidFill>
                            <a:srgbClr val="273140"/>
                          </a:solidFill>
                          <a:latin typeface="Aptos"/>
                          <a:ea typeface="Aptos"/>
                          <a:cs typeface="Aptos"/>
                          <a:sym typeface="Aptos"/>
                        </a:rPr>
                        <a:t>Radix • Bucket</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981"/>
                        </a:lnSpc>
                        <a:defRPr/>
                      </a:pPr>
                      <a:r>
                        <a:rPr lang="en-US" sz="1651">
                          <a:solidFill>
                            <a:srgbClr val="273140"/>
                          </a:solidFill>
                          <a:latin typeface="Aptos"/>
                          <a:ea typeface="Aptos"/>
                          <a:cs typeface="Aptos"/>
                          <a:sym typeface="Aptos"/>
                        </a:rPr>
                        <a:t>Use digits / value ranges rather than pairwise comparisons</a:t>
                      </a:r>
                      <a:endParaRPr lang="en-US" sz="1100"/>
                    </a:p>
                  </a:txBody>
                  <a:tcPr marL="73152" marR="73152" marT="73152" marB="73152"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r>
            </a:tbl>
          </a:graphicData>
        </a:graphic>
      </p:graphicFrame>
      <p:sp>
        <p:nvSpPr>
          <p:cNvPr name="TextBox 11" id="11"/>
          <p:cNvSpPr txBox="true"/>
          <p:nvPr/>
        </p:nvSpPr>
        <p:spPr>
          <a:xfrm rot="0">
            <a:off x="1024861" y="6428651"/>
            <a:ext cx="4484208" cy="388991"/>
          </a:xfrm>
          <a:prstGeom prst="rect">
            <a:avLst/>
          </a:prstGeom>
        </p:spPr>
        <p:txBody>
          <a:bodyPr anchor="t" rtlCol="false" tIns="0" lIns="0" bIns="0" rIns="0">
            <a:spAutoFit/>
          </a:bodyPr>
          <a:lstStyle/>
          <a:p>
            <a:pPr algn="l">
              <a:lnSpc>
                <a:spcPts val="2702"/>
              </a:lnSpc>
            </a:pPr>
            <a:r>
              <a:rPr lang="en-US" sz="2251" b="true">
                <a:solidFill>
                  <a:srgbClr val="121F37"/>
                </a:solidFill>
                <a:latin typeface="Aptos Bold"/>
                <a:ea typeface="Aptos Bold"/>
                <a:cs typeface="Aptos Bold"/>
                <a:sym typeface="Aptos Bold"/>
              </a:rPr>
              <a:t>Project comparison on 100 records</a:t>
            </a:r>
          </a:p>
        </p:txBody>
      </p:sp>
      <p:sp>
        <p:nvSpPr>
          <p:cNvPr name="TextBox 12" id="12"/>
          <p:cNvSpPr txBox="true"/>
          <p:nvPr/>
        </p:nvSpPr>
        <p:spPr>
          <a:xfrm rot="0">
            <a:off x="1052312" y="7073798"/>
            <a:ext cx="1189796" cy="251727"/>
          </a:xfrm>
          <a:prstGeom prst="rect">
            <a:avLst/>
          </a:prstGeom>
        </p:spPr>
        <p:txBody>
          <a:bodyPr anchor="t" rtlCol="false" tIns="0" lIns="0" bIns="0" rIns="0">
            <a:spAutoFit/>
          </a:bodyPr>
          <a:lstStyle/>
          <a:p>
            <a:pPr algn="l">
              <a:lnSpc>
                <a:spcPts val="1801"/>
              </a:lnSpc>
            </a:pPr>
            <a:r>
              <a:rPr lang="en-US" sz="1501" b="true">
                <a:solidFill>
                  <a:srgbClr val="273140"/>
                </a:solidFill>
                <a:latin typeface="Aptos Bold"/>
                <a:ea typeface="Aptos Bold"/>
                <a:cs typeface="Aptos Bold"/>
                <a:sym typeface="Aptos Bold"/>
              </a:rPr>
              <a:t>Bubble</a:t>
            </a:r>
          </a:p>
        </p:txBody>
      </p:sp>
      <p:grpSp>
        <p:nvGrpSpPr>
          <p:cNvPr name="Group 13" id="13"/>
          <p:cNvGrpSpPr/>
          <p:nvPr/>
        </p:nvGrpSpPr>
        <p:grpSpPr>
          <a:xfrm rot="0">
            <a:off x="2361000" y="7041813"/>
            <a:ext cx="9608706" cy="301990"/>
            <a:chOff x="0" y="0"/>
            <a:chExt cx="12811608" cy="402654"/>
          </a:xfrm>
        </p:grpSpPr>
        <p:sp>
          <p:nvSpPr>
            <p:cNvPr name="Freeform 14" id="14"/>
            <p:cNvSpPr/>
            <p:nvPr/>
          </p:nvSpPr>
          <p:spPr>
            <a:xfrm flipH="false" flipV="false" rot="0">
              <a:off x="0" y="0"/>
              <a:ext cx="12811506" cy="402590"/>
            </a:xfrm>
            <a:custGeom>
              <a:avLst/>
              <a:gdLst/>
              <a:ahLst/>
              <a:cxnLst/>
              <a:rect r="r" b="b" t="t" l="l"/>
              <a:pathLst>
                <a:path h="402590" w="12811506">
                  <a:moveTo>
                    <a:pt x="0" y="67056"/>
                  </a:moveTo>
                  <a:cubicBezTo>
                    <a:pt x="0" y="30099"/>
                    <a:pt x="30099" y="0"/>
                    <a:pt x="67056" y="0"/>
                  </a:cubicBezTo>
                  <a:lnTo>
                    <a:pt x="12744450" y="0"/>
                  </a:lnTo>
                  <a:cubicBezTo>
                    <a:pt x="12781534" y="0"/>
                    <a:pt x="12811506" y="30099"/>
                    <a:pt x="12811506" y="67056"/>
                  </a:cubicBezTo>
                  <a:lnTo>
                    <a:pt x="12811506" y="335534"/>
                  </a:lnTo>
                  <a:cubicBezTo>
                    <a:pt x="12811506" y="372618"/>
                    <a:pt x="12781407" y="402590"/>
                    <a:pt x="12744450" y="402590"/>
                  </a:cubicBezTo>
                  <a:lnTo>
                    <a:pt x="67056" y="402590"/>
                  </a:lnTo>
                  <a:cubicBezTo>
                    <a:pt x="30099" y="402590"/>
                    <a:pt x="0" y="372618"/>
                    <a:pt x="0" y="335534"/>
                  </a:cubicBezTo>
                  <a:close/>
                </a:path>
              </a:pathLst>
            </a:custGeom>
            <a:solidFill>
              <a:srgbClr val="DEE6F0"/>
            </a:solidFill>
          </p:spPr>
        </p:sp>
      </p:grpSp>
      <p:grpSp>
        <p:nvGrpSpPr>
          <p:cNvPr name="Group 15" id="15"/>
          <p:cNvGrpSpPr/>
          <p:nvPr/>
        </p:nvGrpSpPr>
        <p:grpSpPr>
          <a:xfrm rot="0">
            <a:off x="2361000" y="7041813"/>
            <a:ext cx="9608706" cy="301990"/>
            <a:chOff x="0" y="0"/>
            <a:chExt cx="12811608" cy="402654"/>
          </a:xfrm>
        </p:grpSpPr>
        <p:sp>
          <p:nvSpPr>
            <p:cNvPr name="Freeform 16" id="16"/>
            <p:cNvSpPr/>
            <p:nvPr/>
          </p:nvSpPr>
          <p:spPr>
            <a:xfrm flipH="false" flipV="false" rot="0">
              <a:off x="0" y="0"/>
              <a:ext cx="12811506" cy="402590"/>
            </a:xfrm>
            <a:custGeom>
              <a:avLst/>
              <a:gdLst/>
              <a:ahLst/>
              <a:cxnLst/>
              <a:rect r="r" b="b" t="t" l="l"/>
              <a:pathLst>
                <a:path h="402590" w="12811506">
                  <a:moveTo>
                    <a:pt x="0" y="67056"/>
                  </a:moveTo>
                  <a:cubicBezTo>
                    <a:pt x="0" y="30099"/>
                    <a:pt x="30099" y="0"/>
                    <a:pt x="67056" y="0"/>
                  </a:cubicBezTo>
                  <a:lnTo>
                    <a:pt x="12744450" y="0"/>
                  </a:lnTo>
                  <a:cubicBezTo>
                    <a:pt x="12781534" y="0"/>
                    <a:pt x="12811506" y="30099"/>
                    <a:pt x="12811506" y="67056"/>
                  </a:cubicBezTo>
                  <a:lnTo>
                    <a:pt x="12811506" y="335534"/>
                  </a:lnTo>
                  <a:cubicBezTo>
                    <a:pt x="12811506" y="372618"/>
                    <a:pt x="12781407" y="402590"/>
                    <a:pt x="12744450" y="402590"/>
                  </a:cubicBezTo>
                  <a:lnTo>
                    <a:pt x="67056" y="402590"/>
                  </a:lnTo>
                  <a:cubicBezTo>
                    <a:pt x="30099" y="402590"/>
                    <a:pt x="0" y="372618"/>
                    <a:pt x="0" y="335534"/>
                  </a:cubicBezTo>
                  <a:close/>
                </a:path>
              </a:pathLst>
            </a:custGeom>
            <a:solidFill>
              <a:srgbClr val="EF8F3E"/>
            </a:solidFill>
          </p:spPr>
        </p:sp>
      </p:grpSp>
      <p:sp>
        <p:nvSpPr>
          <p:cNvPr name="TextBox 17" id="17"/>
          <p:cNvSpPr txBox="true"/>
          <p:nvPr/>
        </p:nvSpPr>
        <p:spPr>
          <a:xfrm rot="0">
            <a:off x="12376861" y="7060073"/>
            <a:ext cx="2837002" cy="251727"/>
          </a:xfrm>
          <a:prstGeom prst="rect">
            <a:avLst/>
          </a:prstGeom>
        </p:spPr>
        <p:txBody>
          <a:bodyPr anchor="t" rtlCol="false" tIns="0" lIns="0" bIns="0" rIns="0">
            <a:spAutoFit/>
          </a:bodyPr>
          <a:lstStyle/>
          <a:p>
            <a:pPr algn="l">
              <a:lnSpc>
                <a:spcPts val="1801"/>
              </a:lnSpc>
            </a:pPr>
            <a:r>
              <a:rPr lang="en-US" sz="1501" b="true">
                <a:solidFill>
                  <a:srgbClr val="273140"/>
                </a:solidFill>
                <a:latin typeface="Aptos Bold"/>
                <a:ea typeface="Aptos Bold"/>
                <a:cs typeface="Aptos Bold"/>
                <a:sym typeface="Aptos Bold"/>
              </a:rPr>
              <a:t>≈ 5,000 comparisons</a:t>
            </a:r>
          </a:p>
        </p:txBody>
      </p:sp>
      <p:sp>
        <p:nvSpPr>
          <p:cNvPr name="TextBox 18" id="18"/>
          <p:cNvSpPr txBox="true"/>
          <p:nvPr/>
        </p:nvSpPr>
        <p:spPr>
          <a:xfrm rot="0">
            <a:off x="1052312" y="7664053"/>
            <a:ext cx="1189796" cy="251727"/>
          </a:xfrm>
          <a:prstGeom prst="rect">
            <a:avLst/>
          </a:prstGeom>
        </p:spPr>
        <p:txBody>
          <a:bodyPr anchor="t" rtlCol="false" tIns="0" lIns="0" bIns="0" rIns="0">
            <a:spAutoFit/>
          </a:bodyPr>
          <a:lstStyle/>
          <a:p>
            <a:pPr algn="l">
              <a:lnSpc>
                <a:spcPts val="1801"/>
              </a:lnSpc>
            </a:pPr>
            <a:r>
              <a:rPr lang="en-US" sz="1501" b="true">
                <a:solidFill>
                  <a:srgbClr val="273140"/>
                </a:solidFill>
                <a:latin typeface="Aptos Bold"/>
                <a:ea typeface="Aptos Bold"/>
                <a:cs typeface="Aptos Bold"/>
                <a:sym typeface="Aptos Bold"/>
              </a:rPr>
              <a:t>Selection</a:t>
            </a:r>
          </a:p>
        </p:txBody>
      </p:sp>
      <p:grpSp>
        <p:nvGrpSpPr>
          <p:cNvPr name="Group 19" id="19"/>
          <p:cNvGrpSpPr/>
          <p:nvPr/>
        </p:nvGrpSpPr>
        <p:grpSpPr>
          <a:xfrm rot="0">
            <a:off x="2361000" y="7632059"/>
            <a:ext cx="9608706" cy="301990"/>
            <a:chOff x="0" y="0"/>
            <a:chExt cx="12811608" cy="402654"/>
          </a:xfrm>
        </p:grpSpPr>
        <p:sp>
          <p:nvSpPr>
            <p:cNvPr name="Freeform 20" id="20"/>
            <p:cNvSpPr/>
            <p:nvPr/>
          </p:nvSpPr>
          <p:spPr>
            <a:xfrm flipH="false" flipV="false" rot="0">
              <a:off x="0" y="0"/>
              <a:ext cx="12811506" cy="402590"/>
            </a:xfrm>
            <a:custGeom>
              <a:avLst/>
              <a:gdLst/>
              <a:ahLst/>
              <a:cxnLst/>
              <a:rect r="r" b="b" t="t" l="l"/>
              <a:pathLst>
                <a:path h="402590" w="12811506">
                  <a:moveTo>
                    <a:pt x="0" y="67056"/>
                  </a:moveTo>
                  <a:cubicBezTo>
                    <a:pt x="0" y="30099"/>
                    <a:pt x="30099" y="0"/>
                    <a:pt x="67056" y="0"/>
                  </a:cubicBezTo>
                  <a:lnTo>
                    <a:pt x="12744450" y="0"/>
                  </a:lnTo>
                  <a:cubicBezTo>
                    <a:pt x="12781534" y="0"/>
                    <a:pt x="12811506" y="30099"/>
                    <a:pt x="12811506" y="67056"/>
                  </a:cubicBezTo>
                  <a:lnTo>
                    <a:pt x="12811506" y="335534"/>
                  </a:lnTo>
                  <a:cubicBezTo>
                    <a:pt x="12811506" y="372618"/>
                    <a:pt x="12781407" y="402590"/>
                    <a:pt x="12744450" y="402590"/>
                  </a:cubicBezTo>
                  <a:lnTo>
                    <a:pt x="67056" y="402590"/>
                  </a:lnTo>
                  <a:cubicBezTo>
                    <a:pt x="30099" y="402590"/>
                    <a:pt x="0" y="372618"/>
                    <a:pt x="0" y="335534"/>
                  </a:cubicBezTo>
                  <a:close/>
                </a:path>
              </a:pathLst>
            </a:custGeom>
            <a:solidFill>
              <a:srgbClr val="DEE6F0"/>
            </a:solidFill>
          </p:spPr>
        </p:sp>
      </p:grpSp>
      <p:grpSp>
        <p:nvGrpSpPr>
          <p:cNvPr name="Group 21" id="21"/>
          <p:cNvGrpSpPr/>
          <p:nvPr/>
        </p:nvGrpSpPr>
        <p:grpSpPr>
          <a:xfrm rot="0">
            <a:off x="2361000" y="7632059"/>
            <a:ext cx="9608706" cy="301990"/>
            <a:chOff x="0" y="0"/>
            <a:chExt cx="12811608" cy="402654"/>
          </a:xfrm>
        </p:grpSpPr>
        <p:sp>
          <p:nvSpPr>
            <p:cNvPr name="Freeform 22" id="22"/>
            <p:cNvSpPr/>
            <p:nvPr/>
          </p:nvSpPr>
          <p:spPr>
            <a:xfrm flipH="false" flipV="false" rot="0">
              <a:off x="0" y="0"/>
              <a:ext cx="12811506" cy="402590"/>
            </a:xfrm>
            <a:custGeom>
              <a:avLst/>
              <a:gdLst/>
              <a:ahLst/>
              <a:cxnLst/>
              <a:rect r="r" b="b" t="t" l="l"/>
              <a:pathLst>
                <a:path h="402590" w="12811506">
                  <a:moveTo>
                    <a:pt x="0" y="67056"/>
                  </a:moveTo>
                  <a:cubicBezTo>
                    <a:pt x="0" y="30099"/>
                    <a:pt x="30099" y="0"/>
                    <a:pt x="67056" y="0"/>
                  </a:cubicBezTo>
                  <a:lnTo>
                    <a:pt x="12744450" y="0"/>
                  </a:lnTo>
                  <a:cubicBezTo>
                    <a:pt x="12781534" y="0"/>
                    <a:pt x="12811506" y="30099"/>
                    <a:pt x="12811506" y="67056"/>
                  </a:cubicBezTo>
                  <a:lnTo>
                    <a:pt x="12811506" y="335534"/>
                  </a:lnTo>
                  <a:cubicBezTo>
                    <a:pt x="12811506" y="372618"/>
                    <a:pt x="12781407" y="402590"/>
                    <a:pt x="12744450" y="402590"/>
                  </a:cubicBezTo>
                  <a:lnTo>
                    <a:pt x="67056" y="402590"/>
                  </a:lnTo>
                  <a:cubicBezTo>
                    <a:pt x="30099" y="402590"/>
                    <a:pt x="0" y="372618"/>
                    <a:pt x="0" y="335534"/>
                  </a:cubicBezTo>
                  <a:close/>
                </a:path>
              </a:pathLst>
            </a:custGeom>
            <a:solidFill>
              <a:srgbClr val="EF8F3E"/>
            </a:solidFill>
          </p:spPr>
        </p:sp>
      </p:grpSp>
      <p:sp>
        <p:nvSpPr>
          <p:cNvPr name="TextBox 23" id="23"/>
          <p:cNvSpPr txBox="true"/>
          <p:nvPr/>
        </p:nvSpPr>
        <p:spPr>
          <a:xfrm rot="0">
            <a:off x="12376861" y="7650328"/>
            <a:ext cx="2837002" cy="251727"/>
          </a:xfrm>
          <a:prstGeom prst="rect">
            <a:avLst/>
          </a:prstGeom>
        </p:spPr>
        <p:txBody>
          <a:bodyPr anchor="t" rtlCol="false" tIns="0" lIns="0" bIns="0" rIns="0">
            <a:spAutoFit/>
          </a:bodyPr>
          <a:lstStyle/>
          <a:p>
            <a:pPr algn="l">
              <a:lnSpc>
                <a:spcPts val="1801"/>
              </a:lnSpc>
            </a:pPr>
            <a:r>
              <a:rPr lang="en-US" sz="1501" b="true">
                <a:solidFill>
                  <a:srgbClr val="273140"/>
                </a:solidFill>
                <a:latin typeface="Aptos Bold"/>
                <a:ea typeface="Aptos Bold"/>
                <a:cs typeface="Aptos Bold"/>
                <a:sym typeface="Aptos Bold"/>
              </a:rPr>
              <a:t>≈ 5,000 comparisons</a:t>
            </a:r>
          </a:p>
        </p:txBody>
      </p:sp>
      <p:sp>
        <p:nvSpPr>
          <p:cNvPr name="TextBox 24" id="24"/>
          <p:cNvSpPr txBox="true"/>
          <p:nvPr/>
        </p:nvSpPr>
        <p:spPr>
          <a:xfrm rot="0">
            <a:off x="1052312" y="8254298"/>
            <a:ext cx="1189796" cy="251727"/>
          </a:xfrm>
          <a:prstGeom prst="rect">
            <a:avLst/>
          </a:prstGeom>
        </p:spPr>
        <p:txBody>
          <a:bodyPr anchor="t" rtlCol="false" tIns="0" lIns="0" bIns="0" rIns="0">
            <a:spAutoFit/>
          </a:bodyPr>
          <a:lstStyle/>
          <a:p>
            <a:pPr algn="l">
              <a:lnSpc>
                <a:spcPts val="1801"/>
              </a:lnSpc>
            </a:pPr>
            <a:r>
              <a:rPr lang="en-US" sz="1501" b="true">
                <a:solidFill>
                  <a:srgbClr val="273140"/>
                </a:solidFill>
                <a:latin typeface="Aptos Bold"/>
                <a:ea typeface="Aptos Bold"/>
                <a:cs typeface="Aptos Bold"/>
                <a:sym typeface="Aptos Bold"/>
              </a:rPr>
              <a:t>Merge</a:t>
            </a:r>
          </a:p>
        </p:txBody>
      </p:sp>
      <p:grpSp>
        <p:nvGrpSpPr>
          <p:cNvPr name="Group 25" id="25"/>
          <p:cNvGrpSpPr/>
          <p:nvPr/>
        </p:nvGrpSpPr>
        <p:grpSpPr>
          <a:xfrm rot="0">
            <a:off x="2361000" y="8222304"/>
            <a:ext cx="9608706" cy="301990"/>
            <a:chOff x="0" y="0"/>
            <a:chExt cx="12811608" cy="402654"/>
          </a:xfrm>
        </p:grpSpPr>
        <p:sp>
          <p:nvSpPr>
            <p:cNvPr name="Freeform 26" id="26"/>
            <p:cNvSpPr/>
            <p:nvPr/>
          </p:nvSpPr>
          <p:spPr>
            <a:xfrm flipH="false" flipV="false" rot="0">
              <a:off x="0" y="0"/>
              <a:ext cx="12811506" cy="402590"/>
            </a:xfrm>
            <a:custGeom>
              <a:avLst/>
              <a:gdLst/>
              <a:ahLst/>
              <a:cxnLst/>
              <a:rect r="r" b="b" t="t" l="l"/>
              <a:pathLst>
                <a:path h="402590" w="12811506">
                  <a:moveTo>
                    <a:pt x="0" y="67056"/>
                  </a:moveTo>
                  <a:cubicBezTo>
                    <a:pt x="0" y="30099"/>
                    <a:pt x="30099" y="0"/>
                    <a:pt x="67056" y="0"/>
                  </a:cubicBezTo>
                  <a:lnTo>
                    <a:pt x="12744450" y="0"/>
                  </a:lnTo>
                  <a:cubicBezTo>
                    <a:pt x="12781534" y="0"/>
                    <a:pt x="12811506" y="30099"/>
                    <a:pt x="12811506" y="67056"/>
                  </a:cubicBezTo>
                  <a:lnTo>
                    <a:pt x="12811506" y="335534"/>
                  </a:lnTo>
                  <a:cubicBezTo>
                    <a:pt x="12811506" y="372618"/>
                    <a:pt x="12781407" y="402590"/>
                    <a:pt x="12744450" y="402590"/>
                  </a:cubicBezTo>
                  <a:lnTo>
                    <a:pt x="67056" y="402590"/>
                  </a:lnTo>
                  <a:cubicBezTo>
                    <a:pt x="30099" y="402590"/>
                    <a:pt x="0" y="372618"/>
                    <a:pt x="0" y="335534"/>
                  </a:cubicBezTo>
                  <a:close/>
                </a:path>
              </a:pathLst>
            </a:custGeom>
            <a:solidFill>
              <a:srgbClr val="DEE6F0"/>
            </a:solidFill>
          </p:spPr>
        </p:sp>
      </p:grpSp>
      <p:grpSp>
        <p:nvGrpSpPr>
          <p:cNvPr name="Group 27" id="27"/>
          <p:cNvGrpSpPr/>
          <p:nvPr/>
        </p:nvGrpSpPr>
        <p:grpSpPr>
          <a:xfrm rot="0">
            <a:off x="2361000" y="8222304"/>
            <a:ext cx="1105005" cy="301990"/>
            <a:chOff x="0" y="0"/>
            <a:chExt cx="1473340" cy="402654"/>
          </a:xfrm>
        </p:grpSpPr>
        <p:sp>
          <p:nvSpPr>
            <p:cNvPr name="Freeform 28" id="28"/>
            <p:cNvSpPr/>
            <p:nvPr/>
          </p:nvSpPr>
          <p:spPr>
            <a:xfrm flipH="false" flipV="false" rot="0">
              <a:off x="0" y="0"/>
              <a:ext cx="1473327" cy="402590"/>
            </a:xfrm>
            <a:custGeom>
              <a:avLst/>
              <a:gdLst/>
              <a:ahLst/>
              <a:cxnLst/>
              <a:rect r="r" b="b" t="t" l="l"/>
              <a:pathLst>
                <a:path h="402590" w="1473327">
                  <a:moveTo>
                    <a:pt x="0" y="67056"/>
                  </a:moveTo>
                  <a:cubicBezTo>
                    <a:pt x="0" y="30099"/>
                    <a:pt x="30099" y="0"/>
                    <a:pt x="67056" y="0"/>
                  </a:cubicBezTo>
                  <a:lnTo>
                    <a:pt x="1406271" y="0"/>
                  </a:lnTo>
                  <a:cubicBezTo>
                    <a:pt x="1443355" y="0"/>
                    <a:pt x="1473327" y="30099"/>
                    <a:pt x="1473327" y="67056"/>
                  </a:cubicBezTo>
                  <a:lnTo>
                    <a:pt x="1473327" y="335534"/>
                  </a:lnTo>
                  <a:cubicBezTo>
                    <a:pt x="1473327" y="372618"/>
                    <a:pt x="1443228" y="402590"/>
                    <a:pt x="1406271" y="402590"/>
                  </a:cubicBezTo>
                  <a:lnTo>
                    <a:pt x="67056" y="402590"/>
                  </a:lnTo>
                  <a:cubicBezTo>
                    <a:pt x="30099" y="402590"/>
                    <a:pt x="0" y="372618"/>
                    <a:pt x="0" y="335534"/>
                  </a:cubicBezTo>
                  <a:close/>
                </a:path>
              </a:pathLst>
            </a:custGeom>
            <a:solidFill>
              <a:srgbClr val="1A9191"/>
            </a:solidFill>
          </p:spPr>
        </p:sp>
      </p:grpSp>
      <p:sp>
        <p:nvSpPr>
          <p:cNvPr name="TextBox 29" id="29"/>
          <p:cNvSpPr txBox="true"/>
          <p:nvPr/>
        </p:nvSpPr>
        <p:spPr>
          <a:xfrm rot="0">
            <a:off x="12376861" y="8240573"/>
            <a:ext cx="2837002" cy="251727"/>
          </a:xfrm>
          <a:prstGeom prst="rect">
            <a:avLst/>
          </a:prstGeom>
        </p:spPr>
        <p:txBody>
          <a:bodyPr anchor="t" rtlCol="false" tIns="0" lIns="0" bIns="0" rIns="0">
            <a:spAutoFit/>
          </a:bodyPr>
          <a:lstStyle/>
          <a:p>
            <a:pPr algn="l">
              <a:lnSpc>
                <a:spcPts val="1801"/>
              </a:lnSpc>
            </a:pPr>
            <a:r>
              <a:rPr lang="en-US" sz="1501" b="true">
                <a:solidFill>
                  <a:srgbClr val="273140"/>
                </a:solidFill>
                <a:latin typeface="Aptos Bold"/>
                <a:ea typeface="Aptos Bold"/>
                <a:cs typeface="Aptos Bold"/>
                <a:sym typeface="Aptos Bold"/>
              </a:rPr>
              <a:t>≈ 575 comparisons</a:t>
            </a:r>
          </a:p>
        </p:txBody>
      </p:sp>
      <p:sp>
        <p:nvSpPr>
          <p:cNvPr name="TextBox 30" id="30"/>
          <p:cNvSpPr txBox="true"/>
          <p:nvPr/>
        </p:nvSpPr>
        <p:spPr>
          <a:xfrm rot="0">
            <a:off x="1052312" y="8844553"/>
            <a:ext cx="1189796" cy="251727"/>
          </a:xfrm>
          <a:prstGeom prst="rect">
            <a:avLst/>
          </a:prstGeom>
        </p:spPr>
        <p:txBody>
          <a:bodyPr anchor="t" rtlCol="false" tIns="0" lIns="0" bIns="0" rIns="0">
            <a:spAutoFit/>
          </a:bodyPr>
          <a:lstStyle/>
          <a:p>
            <a:pPr algn="l">
              <a:lnSpc>
                <a:spcPts val="1801"/>
              </a:lnSpc>
            </a:pPr>
            <a:r>
              <a:rPr lang="en-US" sz="1501" b="true">
                <a:solidFill>
                  <a:srgbClr val="273140"/>
                </a:solidFill>
                <a:latin typeface="Aptos Bold"/>
                <a:ea typeface="Aptos Bold"/>
                <a:cs typeface="Aptos Bold"/>
                <a:sym typeface="Aptos Bold"/>
              </a:rPr>
              <a:t>Quick</a:t>
            </a:r>
          </a:p>
        </p:txBody>
      </p:sp>
      <p:grpSp>
        <p:nvGrpSpPr>
          <p:cNvPr name="Group 31" id="31"/>
          <p:cNvGrpSpPr/>
          <p:nvPr/>
        </p:nvGrpSpPr>
        <p:grpSpPr>
          <a:xfrm rot="0">
            <a:off x="2361000" y="8812559"/>
            <a:ext cx="9608706" cy="301990"/>
            <a:chOff x="0" y="0"/>
            <a:chExt cx="12811608" cy="402654"/>
          </a:xfrm>
        </p:grpSpPr>
        <p:sp>
          <p:nvSpPr>
            <p:cNvPr name="Freeform 32" id="32"/>
            <p:cNvSpPr/>
            <p:nvPr/>
          </p:nvSpPr>
          <p:spPr>
            <a:xfrm flipH="false" flipV="false" rot="0">
              <a:off x="0" y="0"/>
              <a:ext cx="12811506" cy="402590"/>
            </a:xfrm>
            <a:custGeom>
              <a:avLst/>
              <a:gdLst/>
              <a:ahLst/>
              <a:cxnLst/>
              <a:rect r="r" b="b" t="t" l="l"/>
              <a:pathLst>
                <a:path h="402590" w="12811506">
                  <a:moveTo>
                    <a:pt x="0" y="67056"/>
                  </a:moveTo>
                  <a:cubicBezTo>
                    <a:pt x="0" y="30099"/>
                    <a:pt x="30099" y="0"/>
                    <a:pt x="67056" y="0"/>
                  </a:cubicBezTo>
                  <a:lnTo>
                    <a:pt x="12744450" y="0"/>
                  </a:lnTo>
                  <a:cubicBezTo>
                    <a:pt x="12781534" y="0"/>
                    <a:pt x="12811506" y="30099"/>
                    <a:pt x="12811506" y="67056"/>
                  </a:cubicBezTo>
                  <a:lnTo>
                    <a:pt x="12811506" y="335534"/>
                  </a:lnTo>
                  <a:cubicBezTo>
                    <a:pt x="12811506" y="372618"/>
                    <a:pt x="12781407" y="402590"/>
                    <a:pt x="12744450" y="402590"/>
                  </a:cubicBezTo>
                  <a:lnTo>
                    <a:pt x="67056" y="402590"/>
                  </a:lnTo>
                  <a:cubicBezTo>
                    <a:pt x="30099" y="402590"/>
                    <a:pt x="0" y="372618"/>
                    <a:pt x="0" y="335534"/>
                  </a:cubicBezTo>
                  <a:close/>
                </a:path>
              </a:pathLst>
            </a:custGeom>
            <a:solidFill>
              <a:srgbClr val="DEE6F0"/>
            </a:solidFill>
          </p:spPr>
        </p:sp>
      </p:grpSp>
      <p:grpSp>
        <p:nvGrpSpPr>
          <p:cNvPr name="Group 33" id="33"/>
          <p:cNvGrpSpPr/>
          <p:nvPr/>
        </p:nvGrpSpPr>
        <p:grpSpPr>
          <a:xfrm rot="0">
            <a:off x="2361000" y="8812559"/>
            <a:ext cx="1153049" cy="301990"/>
            <a:chOff x="0" y="0"/>
            <a:chExt cx="1537398" cy="402654"/>
          </a:xfrm>
        </p:grpSpPr>
        <p:sp>
          <p:nvSpPr>
            <p:cNvPr name="Freeform 34" id="34"/>
            <p:cNvSpPr/>
            <p:nvPr/>
          </p:nvSpPr>
          <p:spPr>
            <a:xfrm flipH="false" flipV="false" rot="0">
              <a:off x="0" y="0"/>
              <a:ext cx="1537335" cy="402590"/>
            </a:xfrm>
            <a:custGeom>
              <a:avLst/>
              <a:gdLst/>
              <a:ahLst/>
              <a:cxnLst/>
              <a:rect r="r" b="b" t="t" l="l"/>
              <a:pathLst>
                <a:path h="402590" w="1537335">
                  <a:moveTo>
                    <a:pt x="0" y="67056"/>
                  </a:moveTo>
                  <a:cubicBezTo>
                    <a:pt x="0" y="30099"/>
                    <a:pt x="30099" y="0"/>
                    <a:pt x="67056" y="0"/>
                  </a:cubicBezTo>
                  <a:lnTo>
                    <a:pt x="1470279" y="0"/>
                  </a:lnTo>
                  <a:cubicBezTo>
                    <a:pt x="1507363" y="0"/>
                    <a:pt x="1537335" y="30099"/>
                    <a:pt x="1537335" y="67056"/>
                  </a:cubicBezTo>
                  <a:lnTo>
                    <a:pt x="1537335" y="335534"/>
                  </a:lnTo>
                  <a:cubicBezTo>
                    <a:pt x="1537335" y="372618"/>
                    <a:pt x="1507236" y="402590"/>
                    <a:pt x="1470279" y="402590"/>
                  </a:cubicBezTo>
                  <a:lnTo>
                    <a:pt x="67056" y="402590"/>
                  </a:lnTo>
                  <a:cubicBezTo>
                    <a:pt x="30099" y="402590"/>
                    <a:pt x="0" y="372618"/>
                    <a:pt x="0" y="335534"/>
                  </a:cubicBezTo>
                  <a:close/>
                </a:path>
              </a:pathLst>
            </a:custGeom>
            <a:solidFill>
              <a:srgbClr val="2B5DA6"/>
            </a:solidFill>
          </p:spPr>
        </p:sp>
      </p:grpSp>
      <p:sp>
        <p:nvSpPr>
          <p:cNvPr name="TextBox 35" id="35"/>
          <p:cNvSpPr txBox="true"/>
          <p:nvPr/>
        </p:nvSpPr>
        <p:spPr>
          <a:xfrm rot="0">
            <a:off x="12376861" y="8830828"/>
            <a:ext cx="2837002" cy="251727"/>
          </a:xfrm>
          <a:prstGeom prst="rect">
            <a:avLst/>
          </a:prstGeom>
        </p:spPr>
        <p:txBody>
          <a:bodyPr anchor="t" rtlCol="false" tIns="0" lIns="0" bIns="0" rIns="0">
            <a:spAutoFit/>
          </a:bodyPr>
          <a:lstStyle/>
          <a:p>
            <a:pPr algn="l">
              <a:lnSpc>
                <a:spcPts val="1801"/>
              </a:lnSpc>
            </a:pPr>
            <a:r>
              <a:rPr lang="en-US" sz="1501" b="true">
                <a:solidFill>
                  <a:srgbClr val="273140"/>
                </a:solidFill>
                <a:latin typeface="Aptos Bold"/>
                <a:ea typeface="Aptos Bold"/>
                <a:cs typeface="Aptos Bold"/>
                <a:sym typeface="Aptos Bold"/>
              </a:rPr>
              <a:t>≈ 600 comparisons</a:t>
            </a:r>
          </a:p>
        </p:txBody>
      </p:sp>
      <p:sp>
        <p:nvSpPr>
          <p:cNvPr name="TextBox 36" id="36"/>
          <p:cNvSpPr txBox="true"/>
          <p:nvPr/>
        </p:nvSpPr>
        <p:spPr>
          <a:xfrm rot="0">
            <a:off x="1052312" y="9544612"/>
            <a:ext cx="8053159" cy="251727"/>
          </a:xfrm>
          <a:prstGeom prst="rect">
            <a:avLst/>
          </a:prstGeom>
        </p:spPr>
        <p:txBody>
          <a:bodyPr anchor="t" rtlCol="false" tIns="0" lIns="0" bIns="0" rIns="0">
            <a:spAutoFit/>
          </a:bodyPr>
          <a:lstStyle/>
          <a:p>
            <a:pPr algn="l">
              <a:lnSpc>
                <a:spcPts val="1981"/>
              </a:lnSpc>
            </a:pPr>
            <a:r>
              <a:rPr lang="en-US" sz="1651" b="true">
                <a:solidFill>
                  <a:srgbClr val="339D67"/>
                </a:solidFill>
                <a:latin typeface="Aptos Bold"/>
                <a:ea typeface="Aptos Bold"/>
                <a:cs typeface="Aptos Bold"/>
                <a:sym typeface="Aptos Bold"/>
              </a:rPr>
              <a:t>Radix sort: 0 comparisons because it sorts by digits.</a:t>
            </a:r>
          </a:p>
        </p:txBody>
      </p:sp>
      <p:grpSp>
        <p:nvGrpSpPr>
          <p:cNvPr name="Group 37" id="37"/>
          <p:cNvGrpSpPr/>
          <p:nvPr/>
        </p:nvGrpSpPr>
        <p:grpSpPr>
          <a:xfrm rot="0">
            <a:off x="892235" y="9800882"/>
            <a:ext cx="16472068" cy="13726"/>
            <a:chOff x="0" y="0"/>
            <a:chExt cx="21962758" cy="18301"/>
          </a:xfrm>
        </p:grpSpPr>
        <p:sp>
          <p:nvSpPr>
            <p:cNvPr name="Freeform 38" id="38"/>
            <p:cNvSpPr/>
            <p:nvPr/>
          </p:nvSpPr>
          <p:spPr>
            <a:xfrm flipH="false" flipV="false" rot="0">
              <a:off x="0" y="0"/>
              <a:ext cx="21962745" cy="18288"/>
            </a:xfrm>
            <a:custGeom>
              <a:avLst/>
              <a:gdLst/>
              <a:ahLst/>
              <a:cxnLst/>
              <a:rect r="r" b="b" t="t" l="l"/>
              <a:pathLst>
                <a:path h="18288" w="21962745">
                  <a:moveTo>
                    <a:pt x="0" y="0"/>
                  </a:moveTo>
                  <a:lnTo>
                    <a:pt x="21962745" y="0"/>
                  </a:lnTo>
                  <a:lnTo>
                    <a:pt x="21962745" y="18288"/>
                  </a:lnTo>
                  <a:lnTo>
                    <a:pt x="0" y="18288"/>
                  </a:lnTo>
                  <a:close/>
                </a:path>
              </a:pathLst>
            </a:custGeom>
            <a:solidFill>
              <a:srgbClr val="DEE6F0"/>
            </a:solidFill>
          </p:spPr>
        </p:sp>
      </p:grpSp>
      <p:sp>
        <p:nvSpPr>
          <p:cNvPr name="TextBox 39" id="39"/>
          <p:cNvSpPr txBox="true"/>
          <p:nvPr/>
        </p:nvSpPr>
        <p:spPr>
          <a:xfrm rot="0">
            <a:off x="983675" y="9915239"/>
            <a:ext cx="10798502" cy="183099"/>
          </a:xfrm>
          <a:prstGeom prst="rect">
            <a:avLst/>
          </a:prstGeom>
        </p:spPr>
        <p:txBody>
          <a:bodyPr anchor="t" rtlCol="false" tIns="0" lIns="0" bIns="0" rIns="0">
            <a:spAutoFit/>
          </a:bodyPr>
          <a:lstStyle/>
          <a:p>
            <a:pPr algn="l">
              <a:lnSpc>
                <a:spcPts val="1441"/>
              </a:lnSpc>
            </a:pPr>
            <a:r>
              <a:rPr lang="en-US" sz="1200">
                <a:solidFill>
                  <a:srgbClr val="667180"/>
                </a:solidFill>
                <a:latin typeface="Aptos"/>
                <a:ea typeface="Aptos"/>
                <a:cs typeface="Aptos"/>
                <a:sym typeface="Aptos"/>
              </a:rPr>
              <a:t>Smart Student Search &amp; Ranking System</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4" id="4"/>
          <p:cNvGrpSpPr/>
          <p:nvPr/>
        </p:nvGrpSpPr>
        <p:grpSpPr>
          <a:xfrm rot="0">
            <a:off x="0" y="0"/>
            <a:ext cx="18301840" cy="178451"/>
            <a:chOff x="0" y="0"/>
            <a:chExt cx="24402453" cy="237934"/>
          </a:xfrm>
        </p:grpSpPr>
        <p:sp>
          <p:nvSpPr>
            <p:cNvPr name="Freeform 5" id="5"/>
            <p:cNvSpPr/>
            <p:nvPr/>
          </p:nvSpPr>
          <p:spPr>
            <a:xfrm flipH="false" flipV="false" rot="0">
              <a:off x="0" y="0"/>
              <a:ext cx="24402414" cy="237871"/>
            </a:xfrm>
            <a:custGeom>
              <a:avLst/>
              <a:gdLst/>
              <a:ahLst/>
              <a:cxnLst/>
              <a:rect r="r" b="b" t="t" l="l"/>
              <a:pathLst>
                <a:path h="237871" w="24402414">
                  <a:moveTo>
                    <a:pt x="0" y="0"/>
                  </a:moveTo>
                  <a:lnTo>
                    <a:pt x="24402414" y="0"/>
                  </a:lnTo>
                  <a:lnTo>
                    <a:pt x="24402414" y="237871"/>
                  </a:lnTo>
                  <a:lnTo>
                    <a:pt x="0" y="237871"/>
                  </a:lnTo>
                  <a:close/>
                </a:path>
              </a:pathLst>
            </a:custGeom>
            <a:solidFill>
              <a:srgbClr val="1A9191"/>
            </a:solidFill>
          </p:spPr>
        </p:sp>
      </p:grpSp>
      <p:sp>
        <p:nvSpPr>
          <p:cNvPr name="TextBox 6" id="6"/>
          <p:cNvSpPr txBox="true"/>
          <p:nvPr/>
        </p:nvSpPr>
        <p:spPr>
          <a:xfrm rot="0">
            <a:off x="983675" y="420548"/>
            <a:ext cx="6131414" cy="329889"/>
          </a:xfrm>
          <a:prstGeom prst="rect">
            <a:avLst/>
          </a:prstGeom>
        </p:spPr>
        <p:txBody>
          <a:bodyPr anchor="t" rtlCol="false" tIns="0" lIns="0" bIns="0" rIns="0">
            <a:spAutoFit/>
          </a:bodyPr>
          <a:lstStyle/>
          <a:p>
            <a:pPr algn="l">
              <a:lnSpc>
                <a:spcPts val="1621"/>
              </a:lnSpc>
            </a:pPr>
            <a:r>
              <a:rPr lang="en-US" sz="1351" b="true">
                <a:solidFill>
                  <a:srgbClr val="1A9191"/>
                </a:solidFill>
                <a:latin typeface="Aptos Bold"/>
                <a:ea typeface="Aptos Bold"/>
                <a:cs typeface="Aptos Bold"/>
                <a:sym typeface="Aptos Bold"/>
              </a:rPr>
              <a:t>RANKING &amp; ANALYSIS</a:t>
            </a:r>
          </a:p>
        </p:txBody>
      </p:sp>
      <p:sp>
        <p:nvSpPr>
          <p:cNvPr name="TextBox 7" id="7"/>
          <p:cNvSpPr txBox="true"/>
          <p:nvPr/>
        </p:nvSpPr>
        <p:spPr>
          <a:xfrm rot="0">
            <a:off x="16700773" y="420548"/>
            <a:ext cx="572091" cy="329889"/>
          </a:xfrm>
          <a:prstGeom prst="rect">
            <a:avLst/>
          </a:prstGeom>
        </p:spPr>
        <p:txBody>
          <a:bodyPr anchor="t" rtlCol="false" tIns="0" lIns="0" bIns="0" rIns="0">
            <a:spAutoFit/>
          </a:bodyPr>
          <a:lstStyle/>
          <a:p>
            <a:pPr algn="r">
              <a:lnSpc>
                <a:spcPts val="1621"/>
              </a:lnSpc>
            </a:pPr>
            <a:r>
              <a:rPr lang="en-US" sz="1351" b="true">
                <a:solidFill>
                  <a:srgbClr val="667180"/>
                </a:solidFill>
                <a:latin typeface="Aptos Bold"/>
                <a:ea typeface="Aptos Bold"/>
                <a:cs typeface="Aptos Bold"/>
                <a:sym typeface="Aptos Bold"/>
              </a:rPr>
              <a:t>07</a:t>
            </a:r>
          </a:p>
        </p:txBody>
      </p:sp>
      <p:sp>
        <p:nvSpPr>
          <p:cNvPr name="TextBox 8" id="8"/>
          <p:cNvSpPr txBox="true"/>
          <p:nvPr/>
        </p:nvSpPr>
        <p:spPr>
          <a:xfrm rot="0">
            <a:off x="983675" y="1034044"/>
            <a:ext cx="16289188" cy="938060"/>
          </a:xfrm>
          <a:prstGeom prst="rect">
            <a:avLst/>
          </a:prstGeom>
        </p:spPr>
        <p:txBody>
          <a:bodyPr anchor="t" rtlCol="false" tIns="0" lIns="0" bIns="0" rIns="0">
            <a:spAutoFit/>
          </a:bodyPr>
          <a:lstStyle/>
          <a:p>
            <a:pPr algn="l">
              <a:lnSpc>
                <a:spcPts val="5043"/>
              </a:lnSpc>
            </a:pPr>
            <a:r>
              <a:rPr lang="en-US" sz="4203" b="true">
                <a:solidFill>
                  <a:srgbClr val="121F37"/>
                </a:solidFill>
                <a:latin typeface="Aptos Bold"/>
                <a:ea typeface="Aptos Bold"/>
                <a:cs typeface="Aptos Bold"/>
                <a:sym typeface="Aptos Bold"/>
              </a:rPr>
              <a:t>Ranking Logic &amp; Real Performance</a:t>
            </a:r>
          </a:p>
        </p:txBody>
      </p:sp>
      <p:sp>
        <p:nvSpPr>
          <p:cNvPr name="TextBox 9" id="9"/>
          <p:cNvSpPr txBox="true"/>
          <p:nvPr/>
        </p:nvSpPr>
        <p:spPr>
          <a:xfrm rot="0">
            <a:off x="1011126" y="1967465"/>
            <a:ext cx="15877384" cy="567442"/>
          </a:xfrm>
          <a:prstGeom prst="rect">
            <a:avLst/>
          </a:prstGeom>
        </p:spPr>
        <p:txBody>
          <a:bodyPr anchor="t" rtlCol="false" tIns="0" lIns="0" bIns="0" rIns="0">
            <a:spAutoFit/>
          </a:bodyPr>
          <a:lstStyle/>
          <a:p>
            <a:pPr algn="l">
              <a:lnSpc>
                <a:spcPts val="2251"/>
              </a:lnSpc>
            </a:pPr>
            <a:r>
              <a:rPr lang="en-US" sz="1876">
                <a:solidFill>
                  <a:srgbClr val="667180"/>
                </a:solidFill>
                <a:latin typeface="Aptos"/>
                <a:ea typeface="Aptos"/>
                <a:cs typeface="Aptos"/>
                <a:sym typeface="Aptos"/>
              </a:rPr>
              <a:t>Ranking uses merge sort by marks, then a single pass assigns ranks with ties handled correctly.</a:t>
            </a:r>
          </a:p>
        </p:txBody>
      </p:sp>
      <p:grpSp>
        <p:nvGrpSpPr>
          <p:cNvPr name="Group 10" id="10"/>
          <p:cNvGrpSpPr/>
          <p:nvPr/>
        </p:nvGrpSpPr>
        <p:grpSpPr>
          <a:xfrm rot="0">
            <a:off x="882701" y="2324014"/>
            <a:ext cx="7156961" cy="3107579"/>
            <a:chOff x="0" y="0"/>
            <a:chExt cx="9542615" cy="4143438"/>
          </a:xfrm>
        </p:grpSpPr>
        <p:sp>
          <p:nvSpPr>
            <p:cNvPr name="Freeform 11" id="11"/>
            <p:cNvSpPr/>
            <p:nvPr/>
          </p:nvSpPr>
          <p:spPr>
            <a:xfrm flipH="false" flipV="false" rot="0">
              <a:off x="0" y="0"/>
              <a:ext cx="9542653" cy="4143502"/>
            </a:xfrm>
            <a:custGeom>
              <a:avLst/>
              <a:gdLst/>
              <a:ahLst/>
              <a:cxnLst/>
              <a:rect r="r" b="b" t="t" l="l"/>
              <a:pathLst>
                <a:path h="4143502" w="9542653">
                  <a:moveTo>
                    <a:pt x="0" y="690626"/>
                  </a:moveTo>
                  <a:cubicBezTo>
                    <a:pt x="0" y="309245"/>
                    <a:pt x="309245" y="0"/>
                    <a:pt x="690626" y="0"/>
                  </a:cubicBezTo>
                  <a:lnTo>
                    <a:pt x="8852027" y="0"/>
                  </a:lnTo>
                  <a:cubicBezTo>
                    <a:pt x="9233408" y="0"/>
                    <a:pt x="9542653" y="309245"/>
                    <a:pt x="9542653" y="690626"/>
                  </a:cubicBezTo>
                  <a:lnTo>
                    <a:pt x="9542653" y="3452876"/>
                  </a:lnTo>
                  <a:cubicBezTo>
                    <a:pt x="9542653" y="3834257"/>
                    <a:pt x="9233408" y="4143502"/>
                    <a:pt x="8852027" y="4143502"/>
                  </a:cubicBezTo>
                  <a:lnTo>
                    <a:pt x="690626" y="4143502"/>
                  </a:lnTo>
                  <a:cubicBezTo>
                    <a:pt x="309245" y="4143375"/>
                    <a:pt x="0" y="3834257"/>
                    <a:pt x="0" y="3452876"/>
                  </a:cubicBezTo>
                  <a:close/>
                </a:path>
              </a:pathLst>
            </a:custGeom>
            <a:solidFill>
              <a:srgbClr val="F5F8FC"/>
            </a:solidFill>
            <a:ln w="19065" cap="sq">
              <a:solidFill>
                <a:srgbClr val="DEE6F0"/>
              </a:solidFill>
              <a:prstDash val="solid"/>
              <a:miter/>
            </a:ln>
          </p:spPr>
        </p:sp>
      </p:grpSp>
      <p:grpSp>
        <p:nvGrpSpPr>
          <p:cNvPr name="Group 12" id="12"/>
          <p:cNvGrpSpPr/>
          <p:nvPr/>
        </p:nvGrpSpPr>
        <p:grpSpPr>
          <a:xfrm rot="0">
            <a:off x="892235" y="2333539"/>
            <a:ext cx="96088" cy="3088510"/>
            <a:chOff x="0" y="0"/>
            <a:chExt cx="128118" cy="4118013"/>
          </a:xfrm>
        </p:grpSpPr>
        <p:sp>
          <p:nvSpPr>
            <p:cNvPr name="Freeform 13" id="13"/>
            <p:cNvSpPr/>
            <p:nvPr/>
          </p:nvSpPr>
          <p:spPr>
            <a:xfrm flipH="false" flipV="false" rot="0">
              <a:off x="0" y="0"/>
              <a:ext cx="128143" cy="4117975"/>
            </a:xfrm>
            <a:custGeom>
              <a:avLst/>
              <a:gdLst/>
              <a:ahLst/>
              <a:cxnLst/>
              <a:rect r="r" b="b" t="t" l="l"/>
              <a:pathLst>
                <a:path h="4117975" w="128143">
                  <a:moveTo>
                    <a:pt x="0" y="0"/>
                  </a:moveTo>
                  <a:lnTo>
                    <a:pt x="128143" y="0"/>
                  </a:lnTo>
                  <a:lnTo>
                    <a:pt x="128143" y="4117975"/>
                  </a:lnTo>
                  <a:lnTo>
                    <a:pt x="0" y="4117975"/>
                  </a:lnTo>
                  <a:close/>
                </a:path>
              </a:pathLst>
            </a:custGeom>
            <a:solidFill>
              <a:srgbClr val="1A9191"/>
            </a:solidFill>
          </p:spPr>
        </p:sp>
      </p:grpSp>
      <p:sp>
        <p:nvSpPr>
          <p:cNvPr name="TextBox 14" id="14"/>
          <p:cNvSpPr txBox="true"/>
          <p:nvPr/>
        </p:nvSpPr>
        <p:spPr>
          <a:xfrm rot="0">
            <a:off x="1285665" y="2612622"/>
            <a:ext cx="6433404" cy="388991"/>
          </a:xfrm>
          <a:prstGeom prst="rect">
            <a:avLst/>
          </a:prstGeom>
        </p:spPr>
        <p:txBody>
          <a:bodyPr anchor="t" rtlCol="false" tIns="0" lIns="0" bIns="0" rIns="0">
            <a:spAutoFit/>
          </a:bodyPr>
          <a:lstStyle/>
          <a:p>
            <a:pPr algn="l">
              <a:lnSpc>
                <a:spcPts val="3062"/>
              </a:lnSpc>
            </a:pPr>
            <a:r>
              <a:rPr lang="en-US" sz="2551" b="true">
                <a:solidFill>
                  <a:srgbClr val="121F37"/>
                </a:solidFill>
                <a:latin typeface="Aptos Bold"/>
                <a:ea typeface="Aptos Bold"/>
                <a:cs typeface="Aptos Bold"/>
                <a:sym typeface="Aptos Bold"/>
              </a:rPr>
              <a:t>Ranking rule</a:t>
            </a:r>
          </a:p>
        </p:txBody>
      </p:sp>
      <p:sp>
        <p:nvSpPr>
          <p:cNvPr name="TextBox 15" id="15"/>
          <p:cNvSpPr txBox="true"/>
          <p:nvPr/>
        </p:nvSpPr>
        <p:spPr>
          <a:xfrm rot="0">
            <a:off x="1285665" y="3230318"/>
            <a:ext cx="6433404" cy="1926393"/>
          </a:xfrm>
          <a:prstGeom prst="rect">
            <a:avLst/>
          </a:prstGeom>
        </p:spPr>
        <p:txBody>
          <a:bodyPr anchor="t" rtlCol="false" tIns="0" lIns="0" bIns="0" rIns="0">
            <a:spAutoFit/>
          </a:bodyPr>
          <a:lstStyle/>
          <a:p>
            <a:pPr algn="l">
              <a:lnSpc>
                <a:spcPts val="2251"/>
              </a:lnSpc>
            </a:pPr>
            <a:r>
              <a:rPr lang="en-US" sz="1876">
                <a:solidFill>
                  <a:srgbClr val="273140"/>
                </a:solidFill>
                <a:latin typeface="Aptos"/>
                <a:ea typeface="Aptos"/>
                <a:cs typeface="Aptos"/>
                <a:sym typeface="Aptos"/>
              </a:rPr>
              <a:t>1. Sort marks from highest to lowest.</a:t>
            </a:r>
          </a:p>
          <a:p>
            <a:pPr algn="l">
              <a:lnSpc>
                <a:spcPts val="2251"/>
              </a:lnSpc>
            </a:pPr>
            <a:r>
              <a:rPr lang="en-US" sz="1876">
                <a:solidFill>
                  <a:srgbClr val="273140"/>
                </a:solidFill>
                <a:latin typeface="Aptos"/>
                <a:ea typeface="Aptos"/>
                <a:cs typeface="Aptos"/>
                <a:sym typeface="Aptos"/>
              </a:rPr>
              <a:t>2. First student gets rank 1.</a:t>
            </a:r>
          </a:p>
          <a:p>
            <a:pPr algn="l">
              <a:lnSpc>
                <a:spcPts val="2251"/>
              </a:lnSpc>
            </a:pPr>
            <a:r>
              <a:rPr lang="en-US" sz="1876">
                <a:solidFill>
                  <a:srgbClr val="273140"/>
                </a:solidFill>
                <a:latin typeface="Aptos"/>
                <a:ea typeface="Aptos"/>
                <a:cs typeface="Aptos"/>
                <a:sym typeface="Aptos"/>
              </a:rPr>
              <a:t>3. Equal marks share the same rank.</a:t>
            </a:r>
          </a:p>
          <a:p>
            <a:pPr algn="l">
              <a:lnSpc>
                <a:spcPts val="2251"/>
              </a:lnSpc>
            </a:pPr>
            <a:r>
              <a:rPr lang="en-US" sz="1876">
                <a:solidFill>
                  <a:srgbClr val="273140"/>
                </a:solidFill>
                <a:latin typeface="Aptos"/>
                <a:ea typeface="Aptos"/>
                <a:cs typeface="Aptos"/>
                <a:sym typeface="Aptos"/>
              </a:rPr>
              <a:t>4. The next rank is skipped after a tie.</a:t>
            </a:r>
          </a:p>
          <a:p>
            <a:pPr algn="l">
              <a:lnSpc>
                <a:spcPts val="2251"/>
              </a:lnSpc>
            </a:pPr>
          </a:p>
          <a:p>
            <a:pPr algn="l">
              <a:lnSpc>
                <a:spcPts val="2251"/>
              </a:lnSpc>
            </a:pPr>
            <a:r>
              <a:rPr lang="en-US" sz="1876">
                <a:solidFill>
                  <a:srgbClr val="273140"/>
                </a:solidFill>
                <a:latin typeface="Aptos"/>
                <a:ea typeface="Aptos"/>
                <a:cs typeface="Aptos"/>
                <a:sym typeface="Aptos"/>
              </a:rPr>
              <a:t>Example: 95, 92, 92, 85 → 1, 2, 2, 4</a:t>
            </a:r>
          </a:p>
        </p:txBody>
      </p:sp>
      <p:grpSp>
        <p:nvGrpSpPr>
          <p:cNvPr name="Group 16" id="16"/>
          <p:cNvGrpSpPr/>
          <p:nvPr/>
        </p:nvGrpSpPr>
        <p:grpSpPr>
          <a:xfrm rot="0">
            <a:off x="8363769" y="2324014"/>
            <a:ext cx="9010069" cy="3107579"/>
            <a:chOff x="0" y="0"/>
            <a:chExt cx="12013425" cy="4143438"/>
          </a:xfrm>
        </p:grpSpPr>
        <p:sp>
          <p:nvSpPr>
            <p:cNvPr name="Freeform 17" id="17"/>
            <p:cNvSpPr/>
            <p:nvPr/>
          </p:nvSpPr>
          <p:spPr>
            <a:xfrm flipH="false" flipV="false" rot="0">
              <a:off x="0" y="0"/>
              <a:ext cx="12013438" cy="4143502"/>
            </a:xfrm>
            <a:custGeom>
              <a:avLst/>
              <a:gdLst/>
              <a:ahLst/>
              <a:cxnLst/>
              <a:rect r="r" b="b" t="t" l="l"/>
              <a:pathLst>
                <a:path h="4143502" w="12013438">
                  <a:moveTo>
                    <a:pt x="0" y="690626"/>
                  </a:moveTo>
                  <a:cubicBezTo>
                    <a:pt x="0" y="309245"/>
                    <a:pt x="309245" y="0"/>
                    <a:pt x="690626" y="0"/>
                  </a:cubicBezTo>
                  <a:lnTo>
                    <a:pt x="11322812" y="0"/>
                  </a:lnTo>
                  <a:cubicBezTo>
                    <a:pt x="11704193" y="0"/>
                    <a:pt x="12013438" y="309245"/>
                    <a:pt x="12013438" y="690626"/>
                  </a:cubicBezTo>
                  <a:lnTo>
                    <a:pt x="12013438" y="3452876"/>
                  </a:lnTo>
                  <a:cubicBezTo>
                    <a:pt x="12013438" y="3834257"/>
                    <a:pt x="11704193" y="4143502"/>
                    <a:pt x="11322812" y="4143502"/>
                  </a:cubicBezTo>
                  <a:lnTo>
                    <a:pt x="690626" y="4143502"/>
                  </a:lnTo>
                  <a:cubicBezTo>
                    <a:pt x="309245" y="4143375"/>
                    <a:pt x="0" y="3834257"/>
                    <a:pt x="0" y="3452876"/>
                  </a:cubicBezTo>
                  <a:close/>
                </a:path>
              </a:pathLst>
            </a:custGeom>
            <a:solidFill>
              <a:srgbClr val="F5F8FC"/>
            </a:solidFill>
            <a:ln w="19065" cap="sq">
              <a:solidFill>
                <a:srgbClr val="DEE6F0"/>
              </a:solidFill>
              <a:prstDash val="solid"/>
              <a:miter/>
            </a:ln>
          </p:spPr>
        </p:sp>
      </p:grpSp>
      <p:grpSp>
        <p:nvGrpSpPr>
          <p:cNvPr name="Group 18" id="18"/>
          <p:cNvGrpSpPr/>
          <p:nvPr/>
        </p:nvGrpSpPr>
        <p:grpSpPr>
          <a:xfrm rot="0">
            <a:off x="8373304" y="2333539"/>
            <a:ext cx="96088" cy="3088510"/>
            <a:chOff x="0" y="0"/>
            <a:chExt cx="128118" cy="4118013"/>
          </a:xfrm>
        </p:grpSpPr>
        <p:sp>
          <p:nvSpPr>
            <p:cNvPr name="Freeform 19" id="19"/>
            <p:cNvSpPr/>
            <p:nvPr/>
          </p:nvSpPr>
          <p:spPr>
            <a:xfrm flipH="false" flipV="false" rot="0">
              <a:off x="0" y="0"/>
              <a:ext cx="128143" cy="4117975"/>
            </a:xfrm>
            <a:custGeom>
              <a:avLst/>
              <a:gdLst/>
              <a:ahLst/>
              <a:cxnLst/>
              <a:rect r="r" b="b" t="t" l="l"/>
              <a:pathLst>
                <a:path h="4117975" w="128143">
                  <a:moveTo>
                    <a:pt x="0" y="0"/>
                  </a:moveTo>
                  <a:lnTo>
                    <a:pt x="128143" y="0"/>
                  </a:lnTo>
                  <a:lnTo>
                    <a:pt x="128143" y="4117975"/>
                  </a:lnTo>
                  <a:lnTo>
                    <a:pt x="0" y="4117975"/>
                  </a:lnTo>
                  <a:close/>
                </a:path>
              </a:pathLst>
            </a:custGeom>
            <a:solidFill>
              <a:srgbClr val="2B5DA6"/>
            </a:solidFill>
          </p:spPr>
        </p:sp>
      </p:grpSp>
      <p:sp>
        <p:nvSpPr>
          <p:cNvPr name="TextBox 20" id="20"/>
          <p:cNvSpPr txBox="true"/>
          <p:nvPr/>
        </p:nvSpPr>
        <p:spPr>
          <a:xfrm rot="0">
            <a:off x="8766724" y="2612622"/>
            <a:ext cx="8286512" cy="388991"/>
          </a:xfrm>
          <a:prstGeom prst="rect">
            <a:avLst/>
          </a:prstGeom>
        </p:spPr>
        <p:txBody>
          <a:bodyPr anchor="t" rtlCol="false" tIns="0" lIns="0" bIns="0" rIns="0">
            <a:spAutoFit/>
          </a:bodyPr>
          <a:lstStyle/>
          <a:p>
            <a:pPr algn="l">
              <a:lnSpc>
                <a:spcPts val="3062"/>
              </a:lnSpc>
            </a:pPr>
            <a:r>
              <a:rPr lang="en-US" sz="2551" b="true">
                <a:solidFill>
                  <a:srgbClr val="121F37"/>
                </a:solidFill>
                <a:latin typeface="Aptos Bold"/>
                <a:ea typeface="Aptos Bold"/>
                <a:cs typeface="Aptos Bold"/>
                <a:sym typeface="Aptos Bold"/>
              </a:rPr>
              <a:t>Performance measurement</a:t>
            </a:r>
          </a:p>
        </p:txBody>
      </p:sp>
      <p:sp>
        <p:nvSpPr>
          <p:cNvPr name="TextBox 21" id="21"/>
          <p:cNvSpPr txBox="true"/>
          <p:nvPr/>
        </p:nvSpPr>
        <p:spPr>
          <a:xfrm rot="0">
            <a:off x="8766724" y="3230318"/>
            <a:ext cx="8286512" cy="1926393"/>
          </a:xfrm>
          <a:prstGeom prst="rect">
            <a:avLst/>
          </a:prstGeom>
        </p:spPr>
        <p:txBody>
          <a:bodyPr anchor="t" rtlCol="false" tIns="0" lIns="0" bIns="0" rIns="0">
            <a:spAutoFit/>
          </a:bodyPr>
          <a:lstStyle/>
          <a:p>
            <a:pPr algn="l">
              <a:lnSpc>
                <a:spcPts val="2251"/>
              </a:lnSpc>
            </a:pPr>
            <a:r>
              <a:rPr lang="en-US" sz="1876">
                <a:solidFill>
                  <a:srgbClr val="273140"/>
                </a:solidFill>
                <a:latin typeface="Aptos"/>
                <a:ea typeface="Aptos"/>
                <a:cs typeface="Aptos"/>
                <a:sym typeface="Aptos"/>
              </a:rPr>
              <a:t>Counters inside the algorithms record comparisons and swaps during real runs. The C clock() function measures execution time. Values are produced by the program—not hard-coded.</a:t>
            </a:r>
          </a:p>
        </p:txBody>
      </p:sp>
      <p:grpSp>
        <p:nvGrpSpPr>
          <p:cNvPr name="Group 22" id="22"/>
          <p:cNvGrpSpPr/>
          <p:nvPr/>
        </p:nvGrpSpPr>
        <p:grpSpPr>
          <a:xfrm rot="0">
            <a:off x="926268" y="6101239"/>
            <a:ext cx="3747964" cy="2004670"/>
            <a:chOff x="0" y="0"/>
            <a:chExt cx="4997285" cy="2672893"/>
          </a:xfrm>
        </p:grpSpPr>
        <p:sp>
          <p:nvSpPr>
            <p:cNvPr name="Freeform 23" id="23"/>
            <p:cNvSpPr/>
            <p:nvPr/>
          </p:nvSpPr>
          <p:spPr>
            <a:xfrm flipH="false" flipV="false" rot="0">
              <a:off x="0" y="0"/>
              <a:ext cx="4997323" cy="2672969"/>
            </a:xfrm>
            <a:custGeom>
              <a:avLst/>
              <a:gdLst/>
              <a:ahLst/>
              <a:cxnLst/>
              <a:rect r="r" b="b" t="t" l="l"/>
              <a:pathLst>
                <a:path h="2672969" w="4997323">
                  <a:moveTo>
                    <a:pt x="0" y="445516"/>
                  </a:moveTo>
                  <a:cubicBezTo>
                    <a:pt x="0" y="199517"/>
                    <a:pt x="199517" y="0"/>
                    <a:pt x="445516" y="0"/>
                  </a:cubicBezTo>
                  <a:lnTo>
                    <a:pt x="4551807" y="0"/>
                  </a:lnTo>
                  <a:cubicBezTo>
                    <a:pt x="4797806" y="0"/>
                    <a:pt x="4997323" y="199517"/>
                    <a:pt x="4997323" y="445516"/>
                  </a:cubicBezTo>
                  <a:lnTo>
                    <a:pt x="4997323" y="2227453"/>
                  </a:lnTo>
                  <a:cubicBezTo>
                    <a:pt x="4997323" y="2473452"/>
                    <a:pt x="4797806" y="2672969"/>
                    <a:pt x="4551807" y="2672969"/>
                  </a:cubicBezTo>
                  <a:lnTo>
                    <a:pt x="445516" y="2672969"/>
                  </a:lnTo>
                  <a:cubicBezTo>
                    <a:pt x="199517" y="2672842"/>
                    <a:pt x="0" y="2473452"/>
                    <a:pt x="0" y="2227453"/>
                  </a:cubicBezTo>
                  <a:close/>
                </a:path>
              </a:pathLst>
            </a:custGeom>
            <a:solidFill>
              <a:srgbClr val="F5F8FC"/>
            </a:solidFill>
            <a:ln w="14299" cap="sq">
              <a:solidFill>
                <a:srgbClr val="DEE6F0"/>
              </a:solidFill>
              <a:prstDash val="solid"/>
              <a:miter/>
            </a:ln>
          </p:spPr>
        </p:sp>
      </p:grpSp>
      <p:sp>
        <p:nvSpPr>
          <p:cNvPr name="TextBox 24" id="24"/>
          <p:cNvSpPr txBox="true"/>
          <p:nvPr/>
        </p:nvSpPr>
        <p:spPr>
          <a:xfrm rot="0">
            <a:off x="1024861" y="6401191"/>
            <a:ext cx="3550787" cy="594893"/>
          </a:xfrm>
          <a:prstGeom prst="rect">
            <a:avLst/>
          </a:prstGeom>
        </p:spPr>
        <p:txBody>
          <a:bodyPr anchor="t" rtlCol="false" tIns="0" lIns="0" bIns="0" rIns="0">
            <a:spAutoFit/>
          </a:bodyPr>
          <a:lstStyle/>
          <a:p>
            <a:pPr algn="ctr">
              <a:lnSpc>
                <a:spcPts val="4323"/>
              </a:lnSpc>
            </a:pPr>
            <a:r>
              <a:rPr lang="en-US" sz="3602" b="true">
                <a:solidFill>
                  <a:srgbClr val="1A9191"/>
                </a:solidFill>
                <a:latin typeface="Aptos Bold"/>
                <a:ea typeface="Aptos Bold"/>
                <a:cs typeface="Aptos Bold"/>
                <a:sym typeface="Aptos Bold"/>
              </a:rPr>
              <a:t>4</a:t>
            </a:r>
          </a:p>
        </p:txBody>
      </p:sp>
      <p:sp>
        <p:nvSpPr>
          <p:cNvPr name="TextBox 25" id="25"/>
          <p:cNvSpPr txBox="true"/>
          <p:nvPr/>
        </p:nvSpPr>
        <p:spPr>
          <a:xfrm rot="0">
            <a:off x="1162126" y="7156161"/>
            <a:ext cx="3276257" cy="320364"/>
          </a:xfrm>
          <a:prstGeom prst="rect">
            <a:avLst/>
          </a:prstGeom>
        </p:spPr>
        <p:txBody>
          <a:bodyPr anchor="t" rtlCol="false" tIns="0" lIns="0" bIns="0" rIns="0">
            <a:spAutoFit/>
          </a:bodyPr>
          <a:lstStyle/>
          <a:p>
            <a:pPr algn="ctr">
              <a:lnSpc>
                <a:spcPts val="1891"/>
              </a:lnSpc>
            </a:pPr>
            <a:r>
              <a:rPr lang="en-US" sz="1576" b="true">
                <a:solidFill>
                  <a:srgbClr val="667180"/>
                </a:solidFill>
                <a:latin typeface="Aptos Bold"/>
                <a:ea typeface="Aptos Bold"/>
                <a:cs typeface="Aptos Bold"/>
                <a:sym typeface="Aptos Bold"/>
              </a:rPr>
              <a:t>search algorithms</a:t>
            </a:r>
          </a:p>
        </p:txBody>
      </p:sp>
      <p:grpSp>
        <p:nvGrpSpPr>
          <p:cNvPr name="Group 26" id="26"/>
          <p:cNvGrpSpPr/>
          <p:nvPr/>
        </p:nvGrpSpPr>
        <p:grpSpPr>
          <a:xfrm rot="0">
            <a:off x="5112915" y="6101239"/>
            <a:ext cx="3747964" cy="2004670"/>
            <a:chOff x="0" y="0"/>
            <a:chExt cx="4997285" cy="2672893"/>
          </a:xfrm>
        </p:grpSpPr>
        <p:sp>
          <p:nvSpPr>
            <p:cNvPr name="Freeform 27" id="27"/>
            <p:cNvSpPr/>
            <p:nvPr/>
          </p:nvSpPr>
          <p:spPr>
            <a:xfrm flipH="false" flipV="false" rot="0">
              <a:off x="0" y="0"/>
              <a:ext cx="4997323" cy="2672969"/>
            </a:xfrm>
            <a:custGeom>
              <a:avLst/>
              <a:gdLst/>
              <a:ahLst/>
              <a:cxnLst/>
              <a:rect r="r" b="b" t="t" l="l"/>
              <a:pathLst>
                <a:path h="2672969" w="4997323">
                  <a:moveTo>
                    <a:pt x="0" y="445516"/>
                  </a:moveTo>
                  <a:cubicBezTo>
                    <a:pt x="0" y="199517"/>
                    <a:pt x="199517" y="0"/>
                    <a:pt x="445516" y="0"/>
                  </a:cubicBezTo>
                  <a:lnTo>
                    <a:pt x="4551807" y="0"/>
                  </a:lnTo>
                  <a:cubicBezTo>
                    <a:pt x="4797806" y="0"/>
                    <a:pt x="4997323" y="199517"/>
                    <a:pt x="4997323" y="445516"/>
                  </a:cubicBezTo>
                  <a:lnTo>
                    <a:pt x="4997323" y="2227453"/>
                  </a:lnTo>
                  <a:cubicBezTo>
                    <a:pt x="4997323" y="2473452"/>
                    <a:pt x="4797806" y="2672969"/>
                    <a:pt x="4551807" y="2672969"/>
                  </a:cubicBezTo>
                  <a:lnTo>
                    <a:pt x="445516" y="2672969"/>
                  </a:lnTo>
                  <a:cubicBezTo>
                    <a:pt x="199517" y="2672842"/>
                    <a:pt x="0" y="2473452"/>
                    <a:pt x="0" y="2227453"/>
                  </a:cubicBezTo>
                  <a:close/>
                </a:path>
              </a:pathLst>
            </a:custGeom>
            <a:solidFill>
              <a:srgbClr val="F5F8FC"/>
            </a:solidFill>
            <a:ln w="14299" cap="sq">
              <a:solidFill>
                <a:srgbClr val="DEE6F0"/>
              </a:solidFill>
              <a:prstDash val="solid"/>
              <a:miter/>
            </a:ln>
          </p:spPr>
        </p:sp>
      </p:grpSp>
      <p:sp>
        <p:nvSpPr>
          <p:cNvPr name="TextBox 28" id="28"/>
          <p:cNvSpPr txBox="true"/>
          <p:nvPr/>
        </p:nvSpPr>
        <p:spPr>
          <a:xfrm rot="0">
            <a:off x="5211508" y="6401191"/>
            <a:ext cx="3550787" cy="594893"/>
          </a:xfrm>
          <a:prstGeom prst="rect">
            <a:avLst/>
          </a:prstGeom>
        </p:spPr>
        <p:txBody>
          <a:bodyPr anchor="t" rtlCol="false" tIns="0" lIns="0" bIns="0" rIns="0">
            <a:spAutoFit/>
          </a:bodyPr>
          <a:lstStyle/>
          <a:p>
            <a:pPr algn="ctr">
              <a:lnSpc>
                <a:spcPts val="4323"/>
              </a:lnSpc>
            </a:pPr>
            <a:r>
              <a:rPr lang="en-US" sz="3602" b="true">
                <a:solidFill>
                  <a:srgbClr val="EF8F3E"/>
                </a:solidFill>
                <a:latin typeface="Aptos Bold"/>
                <a:ea typeface="Aptos Bold"/>
                <a:cs typeface="Aptos Bold"/>
                <a:sym typeface="Aptos Bold"/>
              </a:rPr>
              <a:t>8</a:t>
            </a:r>
          </a:p>
        </p:txBody>
      </p:sp>
      <p:sp>
        <p:nvSpPr>
          <p:cNvPr name="TextBox 29" id="29"/>
          <p:cNvSpPr txBox="true"/>
          <p:nvPr/>
        </p:nvSpPr>
        <p:spPr>
          <a:xfrm rot="0">
            <a:off x="5348773" y="7156161"/>
            <a:ext cx="3276257" cy="320364"/>
          </a:xfrm>
          <a:prstGeom prst="rect">
            <a:avLst/>
          </a:prstGeom>
        </p:spPr>
        <p:txBody>
          <a:bodyPr anchor="t" rtlCol="false" tIns="0" lIns="0" bIns="0" rIns="0">
            <a:spAutoFit/>
          </a:bodyPr>
          <a:lstStyle/>
          <a:p>
            <a:pPr algn="ctr">
              <a:lnSpc>
                <a:spcPts val="1891"/>
              </a:lnSpc>
            </a:pPr>
            <a:r>
              <a:rPr lang="en-US" sz="1576" b="true">
                <a:solidFill>
                  <a:srgbClr val="667180"/>
                </a:solidFill>
                <a:latin typeface="Aptos Bold"/>
                <a:ea typeface="Aptos Bold"/>
                <a:cs typeface="Aptos Bold"/>
                <a:sym typeface="Aptos Bold"/>
              </a:rPr>
              <a:t>sorting algorithms</a:t>
            </a:r>
          </a:p>
        </p:txBody>
      </p:sp>
      <p:grpSp>
        <p:nvGrpSpPr>
          <p:cNvPr name="Group 30" id="30"/>
          <p:cNvGrpSpPr/>
          <p:nvPr/>
        </p:nvGrpSpPr>
        <p:grpSpPr>
          <a:xfrm rot="0">
            <a:off x="9299572" y="6101239"/>
            <a:ext cx="3747964" cy="2004670"/>
            <a:chOff x="0" y="0"/>
            <a:chExt cx="4997285" cy="2672893"/>
          </a:xfrm>
        </p:grpSpPr>
        <p:sp>
          <p:nvSpPr>
            <p:cNvPr name="Freeform 31" id="31"/>
            <p:cNvSpPr/>
            <p:nvPr/>
          </p:nvSpPr>
          <p:spPr>
            <a:xfrm flipH="false" flipV="false" rot="0">
              <a:off x="0" y="0"/>
              <a:ext cx="4997323" cy="2672969"/>
            </a:xfrm>
            <a:custGeom>
              <a:avLst/>
              <a:gdLst/>
              <a:ahLst/>
              <a:cxnLst/>
              <a:rect r="r" b="b" t="t" l="l"/>
              <a:pathLst>
                <a:path h="2672969" w="4997323">
                  <a:moveTo>
                    <a:pt x="0" y="445516"/>
                  </a:moveTo>
                  <a:cubicBezTo>
                    <a:pt x="0" y="199517"/>
                    <a:pt x="199517" y="0"/>
                    <a:pt x="445516" y="0"/>
                  </a:cubicBezTo>
                  <a:lnTo>
                    <a:pt x="4551807" y="0"/>
                  </a:lnTo>
                  <a:cubicBezTo>
                    <a:pt x="4797806" y="0"/>
                    <a:pt x="4997323" y="199517"/>
                    <a:pt x="4997323" y="445516"/>
                  </a:cubicBezTo>
                  <a:lnTo>
                    <a:pt x="4997323" y="2227453"/>
                  </a:lnTo>
                  <a:cubicBezTo>
                    <a:pt x="4997323" y="2473452"/>
                    <a:pt x="4797806" y="2672969"/>
                    <a:pt x="4551807" y="2672969"/>
                  </a:cubicBezTo>
                  <a:lnTo>
                    <a:pt x="445516" y="2672969"/>
                  </a:lnTo>
                  <a:cubicBezTo>
                    <a:pt x="199517" y="2672842"/>
                    <a:pt x="0" y="2473452"/>
                    <a:pt x="0" y="2227453"/>
                  </a:cubicBezTo>
                  <a:close/>
                </a:path>
              </a:pathLst>
            </a:custGeom>
            <a:solidFill>
              <a:srgbClr val="F5F8FC"/>
            </a:solidFill>
            <a:ln w="14299" cap="sq">
              <a:solidFill>
                <a:srgbClr val="DEE6F0"/>
              </a:solidFill>
              <a:prstDash val="solid"/>
              <a:miter/>
            </a:ln>
          </p:spPr>
        </p:sp>
      </p:grpSp>
      <p:sp>
        <p:nvSpPr>
          <p:cNvPr name="TextBox 32" id="32"/>
          <p:cNvSpPr txBox="true"/>
          <p:nvPr/>
        </p:nvSpPr>
        <p:spPr>
          <a:xfrm rot="0">
            <a:off x="9398156" y="6401191"/>
            <a:ext cx="3550787" cy="594893"/>
          </a:xfrm>
          <a:prstGeom prst="rect">
            <a:avLst/>
          </a:prstGeom>
        </p:spPr>
        <p:txBody>
          <a:bodyPr anchor="t" rtlCol="false" tIns="0" lIns="0" bIns="0" rIns="0">
            <a:spAutoFit/>
          </a:bodyPr>
          <a:lstStyle/>
          <a:p>
            <a:pPr algn="ctr">
              <a:lnSpc>
                <a:spcPts val="4323"/>
              </a:lnSpc>
            </a:pPr>
            <a:r>
              <a:rPr lang="en-US" sz="3602" b="true">
                <a:solidFill>
                  <a:srgbClr val="2B5DA6"/>
                </a:solidFill>
                <a:latin typeface="Aptos Bold"/>
                <a:ea typeface="Aptos Bold"/>
                <a:cs typeface="Aptos Bold"/>
                <a:sym typeface="Aptos Bold"/>
              </a:rPr>
              <a:t>100</a:t>
            </a:r>
          </a:p>
        </p:txBody>
      </p:sp>
      <p:sp>
        <p:nvSpPr>
          <p:cNvPr name="TextBox 33" id="33"/>
          <p:cNvSpPr txBox="true"/>
          <p:nvPr/>
        </p:nvSpPr>
        <p:spPr>
          <a:xfrm rot="0">
            <a:off x="9535420" y="7156161"/>
            <a:ext cx="3276257" cy="320364"/>
          </a:xfrm>
          <a:prstGeom prst="rect">
            <a:avLst/>
          </a:prstGeom>
        </p:spPr>
        <p:txBody>
          <a:bodyPr anchor="t" rtlCol="false" tIns="0" lIns="0" bIns="0" rIns="0">
            <a:spAutoFit/>
          </a:bodyPr>
          <a:lstStyle/>
          <a:p>
            <a:pPr algn="ctr">
              <a:lnSpc>
                <a:spcPts val="1891"/>
              </a:lnSpc>
            </a:pPr>
            <a:r>
              <a:rPr lang="en-US" sz="1576" b="true">
                <a:solidFill>
                  <a:srgbClr val="667180"/>
                </a:solidFill>
                <a:latin typeface="Aptos Bold"/>
                <a:ea typeface="Aptos Bold"/>
                <a:cs typeface="Aptos Bold"/>
                <a:sym typeface="Aptos Bold"/>
              </a:rPr>
              <a:t>maximum records</a:t>
            </a:r>
          </a:p>
        </p:txBody>
      </p:sp>
      <p:grpSp>
        <p:nvGrpSpPr>
          <p:cNvPr name="Group 34" id="34"/>
          <p:cNvGrpSpPr/>
          <p:nvPr/>
        </p:nvGrpSpPr>
        <p:grpSpPr>
          <a:xfrm rot="0">
            <a:off x="13486219" y="6101239"/>
            <a:ext cx="3747964" cy="2004670"/>
            <a:chOff x="0" y="0"/>
            <a:chExt cx="4997285" cy="2672893"/>
          </a:xfrm>
        </p:grpSpPr>
        <p:sp>
          <p:nvSpPr>
            <p:cNvPr name="Freeform 35" id="35"/>
            <p:cNvSpPr/>
            <p:nvPr/>
          </p:nvSpPr>
          <p:spPr>
            <a:xfrm flipH="false" flipV="false" rot="0">
              <a:off x="0" y="0"/>
              <a:ext cx="4997323" cy="2672969"/>
            </a:xfrm>
            <a:custGeom>
              <a:avLst/>
              <a:gdLst/>
              <a:ahLst/>
              <a:cxnLst/>
              <a:rect r="r" b="b" t="t" l="l"/>
              <a:pathLst>
                <a:path h="2672969" w="4997323">
                  <a:moveTo>
                    <a:pt x="0" y="445516"/>
                  </a:moveTo>
                  <a:cubicBezTo>
                    <a:pt x="0" y="199517"/>
                    <a:pt x="199517" y="0"/>
                    <a:pt x="445516" y="0"/>
                  </a:cubicBezTo>
                  <a:lnTo>
                    <a:pt x="4551807" y="0"/>
                  </a:lnTo>
                  <a:cubicBezTo>
                    <a:pt x="4797806" y="0"/>
                    <a:pt x="4997323" y="199517"/>
                    <a:pt x="4997323" y="445516"/>
                  </a:cubicBezTo>
                  <a:lnTo>
                    <a:pt x="4997323" y="2227453"/>
                  </a:lnTo>
                  <a:cubicBezTo>
                    <a:pt x="4997323" y="2473452"/>
                    <a:pt x="4797806" y="2672969"/>
                    <a:pt x="4551807" y="2672969"/>
                  </a:cubicBezTo>
                  <a:lnTo>
                    <a:pt x="445516" y="2672969"/>
                  </a:lnTo>
                  <a:cubicBezTo>
                    <a:pt x="199517" y="2672842"/>
                    <a:pt x="0" y="2473452"/>
                    <a:pt x="0" y="2227453"/>
                  </a:cubicBezTo>
                  <a:close/>
                </a:path>
              </a:pathLst>
            </a:custGeom>
            <a:solidFill>
              <a:srgbClr val="F5F8FC"/>
            </a:solidFill>
            <a:ln w="14299" cap="sq">
              <a:solidFill>
                <a:srgbClr val="DEE6F0"/>
              </a:solidFill>
              <a:prstDash val="solid"/>
              <a:miter/>
            </a:ln>
          </p:spPr>
        </p:sp>
      </p:grpSp>
      <p:sp>
        <p:nvSpPr>
          <p:cNvPr name="TextBox 36" id="36"/>
          <p:cNvSpPr txBox="true"/>
          <p:nvPr/>
        </p:nvSpPr>
        <p:spPr>
          <a:xfrm rot="0">
            <a:off x="13584812" y="6401191"/>
            <a:ext cx="3550787" cy="594893"/>
          </a:xfrm>
          <a:prstGeom prst="rect">
            <a:avLst/>
          </a:prstGeom>
        </p:spPr>
        <p:txBody>
          <a:bodyPr anchor="t" rtlCol="false" tIns="0" lIns="0" bIns="0" rIns="0">
            <a:spAutoFit/>
          </a:bodyPr>
          <a:lstStyle/>
          <a:p>
            <a:pPr algn="ctr">
              <a:lnSpc>
                <a:spcPts val="4323"/>
              </a:lnSpc>
            </a:pPr>
            <a:r>
              <a:rPr lang="en-US" sz="3602" b="true">
                <a:solidFill>
                  <a:srgbClr val="339D67"/>
                </a:solidFill>
                <a:latin typeface="Aptos Bold"/>
                <a:ea typeface="Aptos Bold"/>
                <a:cs typeface="Aptos Bold"/>
                <a:sym typeface="Aptos Bold"/>
              </a:rPr>
              <a:t>0</a:t>
            </a:r>
          </a:p>
        </p:txBody>
      </p:sp>
      <p:sp>
        <p:nvSpPr>
          <p:cNvPr name="TextBox 37" id="37"/>
          <p:cNvSpPr txBox="true"/>
          <p:nvPr/>
        </p:nvSpPr>
        <p:spPr>
          <a:xfrm rot="0">
            <a:off x="13722077" y="7156161"/>
            <a:ext cx="3276257" cy="320364"/>
          </a:xfrm>
          <a:prstGeom prst="rect">
            <a:avLst/>
          </a:prstGeom>
        </p:spPr>
        <p:txBody>
          <a:bodyPr anchor="t" rtlCol="false" tIns="0" lIns="0" bIns="0" rIns="0">
            <a:spAutoFit/>
          </a:bodyPr>
          <a:lstStyle/>
          <a:p>
            <a:pPr algn="ctr">
              <a:lnSpc>
                <a:spcPts val="1891"/>
              </a:lnSpc>
            </a:pPr>
            <a:r>
              <a:rPr lang="en-US" sz="1576" b="true">
                <a:solidFill>
                  <a:srgbClr val="667180"/>
                </a:solidFill>
                <a:latin typeface="Aptos Bold"/>
                <a:ea typeface="Aptos Bold"/>
                <a:cs typeface="Aptos Bold"/>
                <a:sym typeface="Aptos Bold"/>
              </a:rPr>
              <a:t>Radix comparisons</a:t>
            </a:r>
          </a:p>
        </p:txBody>
      </p:sp>
      <p:sp>
        <p:nvSpPr>
          <p:cNvPr name="TextBox 38" id="38"/>
          <p:cNvSpPr txBox="true"/>
          <p:nvPr/>
        </p:nvSpPr>
        <p:spPr>
          <a:xfrm rot="0">
            <a:off x="1189577" y="8583740"/>
            <a:ext cx="15740120" cy="526266"/>
          </a:xfrm>
          <a:prstGeom prst="rect">
            <a:avLst/>
          </a:prstGeom>
        </p:spPr>
        <p:txBody>
          <a:bodyPr anchor="t" rtlCol="false" tIns="0" lIns="0" bIns="0" rIns="0">
            <a:spAutoFit/>
          </a:bodyPr>
          <a:lstStyle/>
          <a:p>
            <a:pPr algn="ctr">
              <a:lnSpc>
                <a:spcPts val="2341"/>
              </a:lnSpc>
            </a:pPr>
            <a:r>
              <a:rPr lang="en-US" sz="1951" b="true">
                <a:solidFill>
                  <a:srgbClr val="121F37"/>
                </a:solidFill>
                <a:latin typeface="Aptos Bold"/>
                <a:ea typeface="Aptos Bold"/>
                <a:cs typeface="Aptos Bold"/>
                <a:sym typeface="Aptos Bold"/>
              </a:rPr>
              <a:t>The value of the project is not only the result—it is seeing the algorithms work on the same dataset.</a:t>
            </a:r>
          </a:p>
        </p:txBody>
      </p:sp>
      <p:grpSp>
        <p:nvGrpSpPr>
          <p:cNvPr name="Group 39" id="39"/>
          <p:cNvGrpSpPr/>
          <p:nvPr/>
        </p:nvGrpSpPr>
        <p:grpSpPr>
          <a:xfrm rot="0">
            <a:off x="892235" y="9800882"/>
            <a:ext cx="16472068" cy="13726"/>
            <a:chOff x="0" y="0"/>
            <a:chExt cx="21962758" cy="18301"/>
          </a:xfrm>
        </p:grpSpPr>
        <p:sp>
          <p:nvSpPr>
            <p:cNvPr name="Freeform 40" id="40"/>
            <p:cNvSpPr/>
            <p:nvPr/>
          </p:nvSpPr>
          <p:spPr>
            <a:xfrm flipH="false" flipV="false" rot="0">
              <a:off x="0" y="0"/>
              <a:ext cx="21962745" cy="18288"/>
            </a:xfrm>
            <a:custGeom>
              <a:avLst/>
              <a:gdLst/>
              <a:ahLst/>
              <a:cxnLst/>
              <a:rect r="r" b="b" t="t" l="l"/>
              <a:pathLst>
                <a:path h="18288" w="21962745">
                  <a:moveTo>
                    <a:pt x="0" y="0"/>
                  </a:moveTo>
                  <a:lnTo>
                    <a:pt x="21962745" y="0"/>
                  </a:lnTo>
                  <a:lnTo>
                    <a:pt x="21962745" y="18288"/>
                  </a:lnTo>
                  <a:lnTo>
                    <a:pt x="0" y="18288"/>
                  </a:lnTo>
                  <a:close/>
                </a:path>
              </a:pathLst>
            </a:custGeom>
            <a:solidFill>
              <a:srgbClr val="DEE6F0"/>
            </a:solidFill>
          </p:spPr>
        </p:sp>
      </p:grpSp>
      <p:sp>
        <p:nvSpPr>
          <p:cNvPr name="TextBox 41" id="41"/>
          <p:cNvSpPr txBox="true"/>
          <p:nvPr/>
        </p:nvSpPr>
        <p:spPr>
          <a:xfrm rot="0">
            <a:off x="983675" y="9915239"/>
            <a:ext cx="10798502" cy="183099"/>
          </a:xfrm>
          <a:prstGeom prst="rect">
            <a:avLst/>
          </a:prstGeom>
        </p:spPr>
        <p:txBody>
          <a:bodyPr anchor="t" rtlCol="false" tIns="0" lIns="0" bIns="0" rIns="0">
            <a:spAutoFit/>
          </a:bodyPr>
          <a:lstStyle/>
          <a:p>
            <a:pPr algn="l">
              <a:lnSpc>
                <a:spcPts val="1441"/>
              </a:lnSpc>
            </a:pPr>
            <a:r>
              <a:rPr lang="en-US" sz="1200">
                <a:solidFill>
                  <a:srgbClr val="667180"/>
                </a:solidFill>
                <a:latin typeface="Aptos"/>
                <a:ea typeface="Aptos"/>
                <a:cs typeface="Aptos"/>
                <a:sym typeface="Aptos"/>
              </a:rPr>
              <a:t>Smart Student Search &amp; Ranking System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4" id="4"/>
          <p:cNvGrpSpPr/>
          <p:nvPr/>
        </p:nvGrpSpPr>
        <p:grpSpPr>
          <a:xfrm rot="0">
            <a:off x="0" y="0"/>
            <a:ext cx="18301840" cy="178451"/>
            <a:chOff x="0" y="0"/>
            <a:chExt cx="24402453" cy="237934"/>
          </a:xfrm>
        </p:grpSpPr>
        <p:sp>
          <p:nvSpPr>
            <p:cNvPr name="Freeform 5" id="5"/>
            <p:cNvSpPr/>
            <p:nvPr/>
          </p:nvSpPr>
          <p:spPr>
            <a:xfrm flipH="false" flipV="false" rot="0">
              <a:off x="0" y="0"/>
              <a:ext cx="24402414" cy="237871"/>
            </a:xfrm>
            <a:custGeom>
              <a:avLst/>
              <a:gdLst/>
              <a:ahLst/>
              <a:cxnLst/>
              <a:rect r="r" b="b" t="t" l="l"/>
              <a:pathLst>
                <a:path h="237871" w="24402414">
                  <a:moveTo>
                    <a:pt x="0" y="0"/>
                  </a:moveTo>
                  <a:lnTo>
                    <a:pt x="24402414" y="0"/>
                  </a:lnTo>
                  <a:lnTo>
                    <a:pt x="24402414" y="237871"/>
                  </a:lnTo>
                  <a:lnTo>
                    <a:pt x="0" y="237871"/>
                  </a:lnTo>
                  <a:close/>
                </a:path>
              </a:pathLst>
            </a:custGeom>
            <a:solidFill>
              <a:srgbClr val="1A9191"/>
            </a:solidFill>
          </p:spPr>
        </p:sp>
      </p:grpSp>
      <p:sp>
        <p:nvSpPr>
          <p:cNvPr name="TextBox 6" id="6"/>
          <p:cNvSpPr txBox="true"/>
          <p:nvPr/>
        </p:nvSpPr>
        <p:spPr>
          <a:xfrm rot="0">
            <a:off x="983675" y="420548"/>
            <a:ext cx="6131414" cy="329889"/>
          </a:xfrm>
          <a:prstGeom prst="rect">
            <a:avLst/>
          </a:prstGeom>
        </p:spPr>
        <p:txBody>
          <a:bodyPr anchor="t" rtlCol="false" tIns="0" lIns="0" bIns="0" rIns="0">
            <a:spAutoFit/>
          </a:bodyPr>
          <a:lstStyle/>
          <a:p>
            <a:pPr algn="l">
              <a:lnSpc>
                <a:spcPts val="1621"/>
              </a:lnSpc>
            </a:pPr>
            <a:r>
              <a:rPr lang="en-US" sz="1351" b="true">
                <a:solidFill>
                  <a:srgbClr val="1A9191"/>
                </a:solidFill>
                <a:latin typeface="Aptos Bold"/>
                <a:ea typeface="Aptos Bold"/>
                <a:cs typeface="Aptos Bold"/>
                <a:sym typeface="Aptos Bold"/>
              </a:rPr>
              <a:t>PROGRAM INPUT</a:t>
            </a:r>
          </a:p>
        </p:txBody>
      </p:sp>
      <p:sp>
        <p:nvSpPr>
          <p:cNvPr name="TextBox 7" id="7"/>
          <p:cNvSpPr txBox="true"/>
          <p:nvPr/>
        </p:nvSpPr>
        <p:spPr>
          <a:xfrm rot="0">
            <a:off x="16700773" y="420548"/>
            <a:ext cx="572091" cy="329889"/>
          </a:xfrm>
          <a:prstGeom prst="rect">
            <a:avLst/>
          </a:prstGeom>
        </p:spPr>
        <p:txBody>
          <a:bodyPr anchor="t" rtlCol="false" tIns="0" lIns="0" bIns="0" rIns="0">
            <a:spAutoFit/>
          </a:bodyPr>
          <a:lstStyle/>
          <a:p>
            <a:pPr algn="r">
              <a:lnSpc>
                <a:spcPts val="1621"/>
              </a:lnSpc>
            </a:pPr>
            <a:r>
              <a:rPr lang="en-US" sz="1351" b="true">
                <a:solidFill>
                  <a:srgbClr val="667180"/>
                </a:solidFill>
                <a:latin typeface="Aptos Bold"/>
                <a:ea typeface="Aptos Bold"/>
                <a:cs typeface="Aptos Bold"/>
                <a:sym typeface="Aptos Bold"/>
              </a:rPr>
              <a:t>08</a:t>
            </a:r>
          </a:p>
        </p:txBody>
      </p:sp>
      <p:sp>
        <p:nvSpPr>
          <p:cNvPr name="TextBox 8" id="8"/>
          <p:cNvSpPr txBox="true"/>
          <p:nvPr/>
        </p:nvSpPr>
        <p:spPr>
          <a:xfrm rot="0">
            <a:off x="983675" y="1034044"/>
            <a:ext cx="16289188" cy="938060"/>
          </a:xfrm>
          <a:prstGeom prst="rect">
            <a:avLst/>
          </a:prstGeom>
        </p:spPr>
        <p:txBody>
          <a:bodyPr anchor="t" rtlCol="false" tIns="0" lIns="0" bIns="0" rIns="0">
            <a:spAutoFit/>
          </a:bodyPr>
          <a:lstStyle/>
          <a:p>
            <a:pPr algn="l">
              <a:lnSpc>
                <a:spcPts val="5043"/>
              </a:lnSpc>
            </a:pPr>
            <a:r>
              <a:rPr lang="en-US" sz="4203" b="true">
                <a:solidFill>
                  <a:srgbClr val="121F37"/>
                </a:solidFill>
                <a:latin typeface="Aptos Bold"/>
                <a:ea typeface="Aptos Bold"/>
                <a:cs typeface="Aptos Bold"/>
                <a:sym typeface="Aptos Bold"/>
              </a:rPr>
              <a:t>Input: Adding Student Records</a:t>
            </a:r>
          </a:p>
        </p:txBody>
      </p:sp>
      <p:sp>
        <p:nvSpPr>
          <p:cNvPr name="TextBox 9" id="9"/>
          <p:cNvSpPr txBox="true"/>
          <p:nvPr/>
        </p:nvSpPr>
        <p:spPr>
          <a:xfrm rot="0">
            <a:off x="1011126" y="1967465"/>
            <a:ext cx="15877384" cy="567442"/>
          </a:xfrm>
          <a:prstGeom prst="rect">
            <a:avLst/>
          </a:prstGeom>
        </p:spPr>
        <p:txBody>
          <a:bodyPr anchor="t" rtlCol="false" tIns="0" lIns="0" bIns="0" rIns="0">
            <a:spAutoFit/>
          </a:bodyPr>
          <a:lstStyle/>
          <a:p>
            <a:pPr algn="l">
              <a:lnSpc>
                <a:spcPts val="2251"/>
              </a:lnSpc>
            </a:pPr>
            <a:r>
              <a:rPr lang="en-US" sz="1876">
                <a:solidFill>
                  <a:srgbClr val="667180"/>
                </a:solidFill>
                <a:latin typeface="Aptos"/>
                <a:ea typeface="Aptos"/>
                <a:cs typeface="Aptos"/>
                <a:sym typeface="Aptos"/>
              </a:rPr>
              <a:t>The screenshots show the actual console input used to create the six-record dataset.</a:t>
            </a:r>
          </a:p>
        </p:txBody>
      </p:sp>
      <p:grpSp>
        <p:nvGrpSpPr>
          <p:cNvPr name="Group 10" id="10"/>
          <p:cNvGrpSpPr/>
          <p:nvPr/>
        </p:nvGrpSpPr>
        <p:grpSpPr>
          <a:xfrm rot="0">
            <a:off x="933421" y="2237461"/>
            <a:ext cx="2127647" cy="521618"/>
            <a:chOff x="0" y="0"/>
            <a:chExt cx="2836862" cy="695490"/>
          </a:xfrm>
        </p:grpSpPr>
        <p:sp>
          <p:nvSpPr>
            <p:cNvPr name="Freeform 11" id="11"/>
            <p:cNvSpPr/>
            <p:nvPr/>
          </p:nvSpPr>
          <p:spPr>
            <a:xfrm flipH="false" flipV="false" rot="0">
              <a:off x="0" y="0"/>
              <a:ext cx="2836926" cy="695579"/>
            </a:xfrm>
            <a:custGeom>
              <a:avLst/>
              <a:gdLst/>
              <a:ahLst/>
              <a:cxnLst/>
              <a:rect r="r" b="b" t="t" l="l"/>
              <a:pathLst>
                <a:path h="695579" w="2836926">
                  <a:moveTo>
                    <a:pt x="0" y="115951"/>
                  </a:moveTo>
                  <a:cubicBezTo>
                    <a:pt x="0" y="51943"/>
                    <a:pt x="51943" y="0"/>
                    <a:pt x="115951" y="0"/>
                  </a:cubicBezTo>
                  <a:lnTo>
                    <a:pt x="2720975" y="0"/>
                  </a:lnTo>
                  <a:cubicBezTo>
                    <a:pt x="2784983" y="0"/>
                    <a:pt x="2836926" y="51943"/>
                    <a:pt x="2836926" y="115951"/>
                  </a:cubicBezTo>
                  <a:lnTo>
                    <a:pt x="2836926" y="579628"/>
                  </a:lnTo>
                  <a:cubicBezTo>
                    <a:pt x="2836926" y="643636"/>
                    <a:pt x="2784983" y="695579"/>
                    <a:pt x="2720975" y="695579"/>
                  </a:cubicBezTo>
                  <a:lnTo>
                    <a:pt x="115951" y="695579"/>
                  </a:lnTo>
                  <a:cubicBezTo>
                    <a:pt x="51943" y="695452"/>
                    <a:pt x="0" y="643636"/>
                    <a:pt x="0" y="579628"/>
                  </a:cubicBezTo>
                  <a:close/>
                </a:path>
              </a:pathLst>
            </a:custGeom>
            <a:solidFill>
              <a:srgbClr val="1A9191"/>
            </a:solidFill>
          </p:spPr>
        </p:sp>
      </p:grpSp>
      <p:grpSp>
        <p:nvGrpSpPr>
          <p:cNvPr name="Group 12" id="12"/>
          <p:cNvGrpSpPr/>
          <p:nvPr/>
        </p:nvGrpSpPr>
        <p:grpSpPr>
          <a:xfrm rot="0">
            <a:off x="933421" y="2264912"/>
            <a:ext cx="2127647" cy="411804"/>
            <a:chOff x="0" y="0"/>
            <a:chExt cx="2836862" cy="549072"/>
          </a:xfrm>
        </p:grpSpPr>
        <p:sp>
          <p:nvSpPr>
            <p:cNvPr name="Freeform 13" id="13"/>
            <p:cNvSpPr/>
            <p:nvPr/>
          </p:nvSpPr>
          <p:spPr>
            <a:xfrm flipH="false" flipV="false" rot="0">
              <a:off x="0" y="0"/>
              <a:ext cx="2836856" cy="549069"/>
            </a:xfrm>
            <a:custGeom>
              <a:avLst/>
              <a:gdLst/>
              <a:ahLst/>
              <a:cxnLst/>
              <a:rect r="r" b="b" t="t" l="l"/>
              <a:pathLst>
                <a:path h="549069" w="2836856">
                  <a:moveTo>
                    <a:pt x="0" y="0"/>
                  </a:moveTo>
                  <a:lnTo>
                    <a:pt x="2836856" y="0"/>
                  </a:lnTo>
                  <a:lnTo>
                    <a:pt x="2836856" y="549069"/>
                  </a:lnTo>
                  <a:lnTo>
                    <a:pt x="0" y="549069"/>
                  </a:lnTo>
                  <a:close/>
                </a:path>
              </a:pathLst>
            </a:custGeom>
            <a:blipFill>
              <a:blip r:embed="rId2">
                <a:alphaModFix amt="0"/>
              </a:blip>
              <a:stretch>
                <a:fillRect l="0" t="-50672" r="0" b="-50673"/>
              </a:stretch>
            </a:blipFill>
          </p:spPr>
        </p:sp>
        <p:sp>
          <p:nvSpPr>
            <p:cNvPr name="TextBox 14" id="14"/>
            <p:cNvSpPr txBox="true"/>
            <p:nvPr/>
          </p:nvSpPr>
          <p:spPr>
            <a:xfrm>
              <a:off x="0" y="0"/>
              <a:ext cx="2836862" cy="549072"/>
            </a:xfrm>
            <a:prstGeom prst="rect">
              <a:avLst/>
            </a:prstGeom>
          </p:spPr>
          <p:txBody>
            <a:bodyPr anchor="ctr" rtlCol="false" tIns="0" lIns="0" bIns="0" rIns="0"/>
            <a:lstStyle/>
            <a:p>
              <a:pPr algn="ctr">
                <a:lnSpc>
                  <a:spcPts val="1801"/>
                </a:lnSpc>
              </a:pPr>
              <a:r>
                <a:rPr lang="en-US" sz="1501" b="true">
                  <a:solidFill>
                    <a:srgbClr val="FFFFFF"/>
                  </a:solidFill>
                  <a:latin typeface="Aptos Bold"/>
                  <a:ea typeface="Aptos Bold"/>
                  <a:cs typeface="Aptos Bold"/>
                  <a:sym typeface="Aptos Bold"/>
                </a:rPr>
                <a:t>STUDENTS 1–3</a:t>
              </a:r>
            </a:p>
          </p:txBody>
        </p:sp>
      </p:grpSp>
      <p:grpSp>
        <p:nvGrpSpPr>
          <p:cNvPr name="Group 15" id="15"/>
          <p:cNvGrpSpPr/>
          <p:nvPr/>
        </p:nvGrpSpPr>
        <p:grpSpPr>
          <a:xfrm rot="0">
            <a:off x="9443990" y="2237461"/>
            <a:ext cx="2127647" cy="521618"/>
            <a:chOff x="0" y="0"/>
            <a:chExt cx="2836862" cy="695490"/>
          </a:xfrm>
        </p:grpSpPr>
        <p:sp>
          <p:nvSpPr>
            <p:cNvPr name="Freeform 16" id="16"/>
            <p:cNvSpPr/>
            <p:nvPr/>
          </p:nvSpPr>
          <p:spPr>
            <a:xfrm flipH="false" flipV="false" rot="0">
              <a:off x="0" y="0"/>
              <a:ext cx="2836926" cy="695579"/>
            </a:xfrm>
            <a:custGeom>
              <a:avLst/>
              <a:gdLst/>
              <a:ahLst/>
              <a:cxnLst/>
              <a:rect r="r" b="b" t="t" l="l"/>
              <a:pathLst>
                <a:path h="695579" w="2836926">
                  <a:moveTo>
                    <a:pt x="0" y="115951"/>
                  </a:moveTo>
                  <a:cubicBezTo>
                    <a:pt x="0" y="51943"/>
                    <a:pt x="51943" y="0"/>
                    <a:pt x="115951" y="0"/>
                  </a:cubicBezTo>
                  <a:lnTo>
                    <a:pt x="2720975" y="0"/>
                  </a:lnTo>
                  <a:cubicBezTo>
                    <a:pt x="2784983" y="0"/>
                    <a:pt x="2836926" y="51943"/>
                    <a:pt x="2836926" y="115951"/>
                  </a:cubicBezTo>
                  <a:lnTo>
                    <a:pt x="2836926" y="579628"/>
                  </a:lnTo>
                  <a:cubicBezTo>
                    <a:pt x="2836926" y="643636"/>
                    <a:pt x="2784983" y="695579"/>
                    <a:pt x="2720975" y="695579"/>
                  </a:cubicBezTo>
                  <a:lnTo>
                    <a:pt x="115951" y="695579"/>
                  </a:lnTo>
                  <a:cubicBezTo>
                    <a:pt x="51943" y="695452"/>
                    <a:pt x="0" y="643636"/>
                    <a:pt x="0" y="579628"/>
                  </a:cubicBezTo>
                  <a:close/>
                </a:path>
              </a:pathLst>
            </a:custGeom>
            <a:solidFill>
              <a:srgbClr val="2B5DA6"/>
            </a:solidFill>
          </p:spPr>
        </p:sp>
      </p:grpSp>
      <p:grpSp>
        <p:nvGrpSpPr>
          <p:cNvPr name="Group 17" id="17"/>
          <p:cNvGrpSpPr/>
          <p:nvPr/>
        </p:nvGrpSpPr>
        <p:grpSpPr>
          <a:xfrm rot="0">
            <a:off x="9443990" y="2264912"/>
            <a:ext cx="2127647" cy="411804"/>
            <a:chOff x="0" y="0"/>
            <a:chExt cx="2836862" cy="549072"/>
          </a:xfrm>
        </p:grpSpPr>
        <p:sp>
          <p:nvSpPr>
            <p:cNvPr name="Freeform 18" id="18"/>
            <p:cNvSpPr/>
            <p:nvPr/>
          </p:nvSpPr>
          <p:spPr>
            <a:xfrm flipH="false" flipV="false" rot="0">
              <a:off x="0" y="0"/>
              <a:ext cx="2836856" cy="549069"/>
            </a:xfrm>
            <a:custGeom>
              <a:avLst/>
              <a:gdLst/>
              <a:ahLst/>
              <a:cxnLst/>
              <a:rect r="r" b="b" t="t" l="l"/>
              <a:pathLst>
                <a:path h="549069" w="2836856">
                  <a:moveTo>
                    <a:pt x="0" y="0"/>
                  </a:moveTo>
                  <a:lnTo>
                    <a:pt x="2836856" y="0"/>
                  </a:lnTo>
                  <a:lnTo>
                    <a:pt x="2836856" y="549069"/>
                  </a:lnTo>
                  <a:lnTo>
                    <a:pt x="0" y="549069"/>
                  </a:lnTo>
                  <a:close/>
                </a:path>
              </a:pathLst>
            </a:custGeom>
            <a:blipFill>
              <a:blip r:embed="rId2">
                <a:alphaModFix amt="0"/>
              </a:blip>
              <a:stretch>
                <a:fillRect l="0" t="-50672" r="0" b="-50673"/>
              </a:stretch>
            </a:blipFill>
          </p:spPr>
        </p:sp>
        <p:sp>
          <p:nvSpPr>
            <p:cNvPr name="TextBox 19" id="19"/>
            <p:cNvSpPr txBox="true"/>
            <p:nvPr/>
          </p:nvSpPr>
          <p:spPr>
            <a:xfrm>
              <a:off x="0" y="0"/>
              <a:ext cx="2836862" cy="549072"/>
            </a:xfrm>
            <a:prstGeom prst="rect">
              <a:avLst/>
            </a:prstGeom>
          </p:spPr>
          <p:txBody>
            <a:bodyPr anchor="ctr" rtlCol="false" tIns="0" lIns="0" bIns="0" rIns="0"/>
            <a:lstStyle/>
            <a:p>
              <a:pPr algn="ctr">
                <a:lnSpc>
                  <a:spcPts val="1801"/>
                </a:lnSpc>
              </a:pPr>
              <a:r>
                <a:rPr lang="en-US" sz="1501" b="true">
                  <a:solidFill>
                    <a:srgbClr val="FFFFFF"/>
                  </a:solidFill>
                  <a:latin typeface="Aptos Bold"/>
                  <a:ea typeface="Aptos Bold"/>
                  <a:cs typeface="Aptos Bold"/>
                  <a:sym typeface="Aptos Bold"/>
                </a:rPr>
                <a:t>STUDENTS 4–6</a:t>
              </a:r>
            </a:p>
          </p:txBody>
        </p:sp>
      </p:grpSp>
      <p:grpSp>
        <p:nvGrpSpPr>
          <p:cNvPr name="Group 20" id="20"/>
          <p:cNvGrpSpPr/>
          <p:nvPr/>
        </p:nvGrpSpPr>
        <p:grpSpPr>
          <a:xfrm rot="0">
            <a:off x="1790186" y="2772794"/>
            <a:ext cx="6371501" cy="6520196"/>
            <a:chOff x="0" y="0"/>
            <a:chExt cx="8495335" cy="8693594"/>
          </a:xfrm>
        </p:grpSpPr>
        <p:sp>
          <p:nvSpPr>
            <p:cNvPr name="Freeform 21" id="21" descr="WhatsApp Image 2026-09-30 at 20.02.29.jpeg"/>
            <p:cNvSpPr/>
            <p:nvPr/>
          </p:nvSpPr>
          <p:spPr>
            <a:xfrm flipH="false" flipV="false" rot="0">
              <a:off x="0" y="0"/>
              <a:ext cx="8495284" cy="8693531"/>
            </a:xfrm>
            <a:custGeom>
              <a:avLst/>
              <a:gdLst/>
              <a:ahLst/>
              <a:cxnLst/>
              <a:rect r="r" b="b" t="t" l="l"/>
              <a:pathLst>
                <a:path h="8693531" w="8495284">
                  <a:moveTo>
                    <a:pt x="0" y="0"/>
                  </a:moveTo>
                  <a:lnTo>
                    <a:pt x="8495284" y="0"/>
                  </a:lnTo>
                  <a:lnTo>
                    <a:pt x="8495284" y="8693531"/>
                  </a:lnTo>
                  <a:lnTo>
                    <a:pt x="0" y="8693531"/>
                  </a:lnTo>
                  <a:lnTo>
                    <a:pt x="0" y="0"/>
                  </a:lnTo>
                  <a:close/>
                </a:path>
              </a:pathLst>
            </a:custGeom>
            <a:blipFill>
              <a:blip r:embed="rId3"/>
              <a:stretch>
                <a:fillRect l="0" t="0" r="0" b="0"/>
              </a:stretch>
            </a:blipFill>
          </p:spPr>
        </p:sp>
      </p:grpSp>
      <p:grpSp>
        <p:nvGrpSpPr>
          <p:cNvPr name="Group 22" id="22"/>
          <p:cNvGrpSpPr/>
          <p:nvPr/>
        </p:nvGrpSpPr>
        <p:grpSpPr>
          <a:xfrm rot="0">
            <a:off x="1780651" y="2763269"/>
            <a:ext cx="6390561" cy="6539255"/>
            <a:chOff x="0" y="0"/>
            <a:chExt cx="8520748" cy="8719007"/>
          </a:xfrm>
        </p:grpSpPr>
        <p:sp>
          <p:nvSpPr>
            <p:cNvPr name="Freeform 23" id="23"/>
            <p:cNvSpPr/>
            <p:nvPr/>
          </p:nvSpPr>
          <p:spPr>
            <a:xfrm flipH="false" flipV="false" rot="0">
              <a:off x="0" y="0"/>
              <a:ext cx="8520811" cy="8719058"/>
            </a:xfrm>
            <a:custGeom>
              <a:avLst/>
              <a:gdLst/>
              <a:ahLst/>
              <a:cxnLst/>
              <a:rect r="r" b="b" t="t" l="l"/>
              <a:pathLst>
                <a:path h="8719058" w="8520811">
                  <a:moveTo>
                    <a:pt x="0" y="0"/>
                  </a:moveTo>
                  <a:lnTo>
                    <a:pt x="8520811" y="0"/>
                  </a:lnTo>
                  <a:lnTo>
                    <a:pt x="8520811" y="8719058"/>
                  </a:lnTo>
                  <a:lnTo>
                    <a:pt x="0" y="8719058"/>
                  </a:lnTo>
                  <a:close/>
                </a:path>
              </a:pathLst>
            </a:custGeom>
            <a:blipFill>
              <a:blip r:embed="rId2">
                <a:alphaModFix amt="0"/>
              </a:blip>
              <a:stretch>
                <a:fillRect l="-81288" t="0" r="-81287" b="0"/>
              </a:stretch>
            </a:blipFill>
            <a:ln w="19065" cap="sq">
              <a:solidFill>
                <a:srgbClr val="DEE6F0"/>
              </a:solidFill>
              <a:prstDash val="solid"/>
              <a:miter/>
            </a:ln>
          </p:spPr>
        </p:sp>
      </p:grpSp>
      <p:grpSp>
        <p:nvGrpSpPr>
          <p:cNvPr name="Group 24" id="24"/>
          <p:cNvGrpSpPr/>
          <p:nvPr/>
        </p:nvGrpSpPr>
        <p:grpSpPr>
          <a:xfrm rot="0">
            <a:off x="9634547" y="2772794"/>
            <a:ext cx="7429386" cy="6520196"/>
            <a:chOff x="0" y="0"/>
            <a:chExt cx="9905848" cy="8693594"/>
          </a:xfrm>
        </p:grpSpPr>
        <p:sp>
          <p:nvSpPr>
            <p:cNvPr name="Freeform 25" id="25" descr="WhatsApp Image 2026-09-30 at 20.02.29 (1).jpeg"/>
            <p:cNvSpPr/>
            <p:nvPr/>
          </p:nvSpPr>
          <p:spPr>
            <a:xfrm flipH="false" flipV="false" rot="0">
              <a:off x="0" y="0"/>
              <a:ext cx="9905873" cy="8693531"/>
            </a:xfrm>
            <a:custGeom>
              <a:avLst/>
              <a:gdLst/>
              <a:ahLst/>
              <a:cxnLst/>
              <a:rect r="r" b="b" t="t" l="l"/>
              <a:pathLst>
                <a:path h="8693531" w="9905873">
                  <a:moveTo>
                    <a:pt x="0" y="0"/>
                  </a:moveTo>
                  <a:lnTo>
                    <a:pt x="9905873" y="0"/>
                  </a:lnTo>
                  <a:lnTo>
                    <a:pt x="9905873" y="8693531"/>
                  </a:lnTo>
                  <a:lnTo>
                    <a:pt x="0" y="8693531"/>
                  </a:lnTo>
                  <a:lnTo>
                    <a:pt x="0" y="0"/>
                  </a:lnTo>
                  <a:close/>
                </a:path>
              </a:pathLst>
            </a:custGeom>
            <a:blipFill>
              <a:blip r:embed="rId4"/>
              <a:stretch>
                <a:fillRect l="0" t="0" r="0" b="0"/>
              </a:stretch>
            </a:blipFill>
          </p:spPr>
        </p:sp>
      </p:grpSp>
      <p:grpSp>
        <p:nvGrpSpPr>
          <p:cNvPr name="Group 26" id="26"/>
          <p:cNvGrpSpPr/>
          <p:nvPr/>
        </p:nvGrpSpPr>
        <p:grpSpPr>
          <a:xfrm rot="0">
            <a:off x="9625012" y="2763269"/>
            <a:ext cx="7448445" cy="6539255"/>
            <a:chOff x="0" y="0"/>
            <a:chExt cx="9931260" cy="8719007"/>
          </a:xfrm>
        </p:grpSpPr>
        <p:sp>
          <p:nvSpPr>
            <p:cNvPr name="Freeform 27" id="27"/>
            <p:cNvSpPr/>
            <p:nvPr/>
          </p:nvSpPr>
          <p:spPr>
            <a:xfrm flipH="false" flipV="false" rot="0">
              <a:off x="0" y="0"/>
              <a:ext cx="9931273" cy="8719058"/>
            </a:xfrm>
            <a:custGeom>
              <a:avLst/>
              <a:gdLst/>
              <a:ahLst/>
              <a:cxnLst/>
              <a:rect r="r" b="b" t="t" l="l"/>
              <a:pathLst>
                <a:path h="8719058" w="9931273">
                  <a:moveTo>
                    <a:pt x="0" y="0"/>
                  </a:moveTo>
                  <a:lnTo>
                    <a:pt x="9931273" y="0"/>
                  </a:lnTo>
                  <a:lnTo>
                    <a:pt x="9931273" y="8719058"/>
                  </a:lnTo>
                  <a:lnTo>
                    <a:pt x="0" y="8719058"/>
                  </a:lnTo>
                  <a:close/>
                </a:path>
              </a:pathLst>
            </a:custGeom>
            <a:blipFill>
              <a:blip r:embed="rId2">
                <a:alphaModFix amt="0"/>
              </a:blip>
              <a:stretch>
                <a:fillRect l="-62642" t="0" r="-62642" b="0"/>
              </a:stretch>
            </a:blipFill>
            <a:ln w="19065" cap="sq">
              <a:solidFill>
                <a:srgbClr val="DEE6F0"/>
              </a:solidFill>
              <a:prstDash val="solid"/>
              <a:miter/>
            </a:ln>
          </p:spPr>
        </p:sp>
      </p:grpSp>
      <p:sp>
        <p:nvSpPr>
          <p:cNvPr name="TextBox 28" id="28"/>
          <p:cNvSpPr txBox="true"/>
          <p:nvPr/>
        </p:nvSpPr>
        <p:spPr>
          <a:xfrm rot="0">
            <a:off x="2905420" y="9421073"/>
            <a:ext cx="12445708" cy="251727"/>
          </a:xfrm>
          <a:prstGeom prst="rect">
            <a:avLst/>
          </a:prstGeom>
        </p:spPr>
        <p:txBody>
          <a:bodyPr anchor="t" rtlCol="false" tIns="0" lIns="0" bIns="0" rIns="0">
            <a:spAutoFit/>
          </a:bodyPr>
          <a:lstStyle/>
          <a:p>
            <a:pPr algn="ctr">
              <a:lnSpc>
                <a:spcPts val="1891"/>
              </a:lnSpc>
            </a:pPr>
            <a:r>
              <a:rPr lang="en-US" sz="1576" b="true">
                <a:solidFill>
                  <a:srgbClr val="667180"/>
                </a:solidFill>
                <a:latin typeface="Aptos Bold"/>
                <a:ea typeface="Aptos Bold"/>
                <a:cs typeface="Aptos Bold"/>
                <a:sym typeface="Aptos Bold"/>
              </a:rPr>
              <a:t>Six records added • IDs 101–106 • Semester 3 • Marks entered by user</a:t>
            </a:r>
          </a:p>
        </p:txBody>
      </p:sp>
      <p:grpSp>
        <p:nvGrpSpPr>
          <p:cNvPr name="Group 29" id="29"/>
          <p:cNvGrpSpPr/>
          <p:nvPr/>
        </p:nvGrpSpPr>
        <p:grpSpPr>
          <a:xfrm rot="0">
            <a:off x="892235" y="9800882"/>
            <a:ext cx="16472068" cy="13726"/>
            <a:chOff x="0" y="0"/>
            <a:chExt cx="21962758" cy="18301"/>
          </a:xfrm>
        </p:grpSpPr>
        <p:sp>
          <p:nvSpPr>
            <p:cNvPr name="Freeform 30" id="30"/>
            <p:cNvSpPr/>
            <p:nvPr/>
          </p:nvSpPr>
          <p:spPr>
            <a:xfrm flipH="false" flipV="false" rot="0">
              <a:off x="0" y="0"/>
              <a:ext cx="21962745" cy="18288"/>
            </a:xfrm>
            <a:custGeom>
              <a:avLst/>
              <a:gdLst/>
              <a:ahLst/>
              <a:cxnLst/>
              <a:rect r="r" b="b" t="t" l="l"/>
              <a:pathLst>
                <a:path h="18288" w="21962745">
                  <a:moveTo>
                    <a:pt x="0" y="0"/>
                  </a:moveTo>
                  <a:lnTo>
                    <a:pt x="21962745" y="0"/>
                  </a:lnTo>
                  <a:lnTo>
                    <a:pt x="21962745" y="18288"/>
                  </a:lnTo>
                  <a:lnTo>
                    <a:pt x="0" y="18288"/>
                  </a:lnTo>
                  <a:close/>
                </a:path>
              </a:pathLst>
            </a:custGeom>
            <a:solidFill>
              <a:srgbClr val="DEE6F0"/>
            </a:solidFill>
          </p:spPr>
        </p:sp>
      </p:grpSp>
      <p:sp>
        <p:nvSpPr>
          <p:cNvPr name="TextBox 31" id="31"/>
          <p:cNvSpPr txBox="true"/>
          <p:nvPr/>
        </p:nvSpPr>
        <p:spPr>
          <a:xfrm rot="0">
            <a:off x="983675" y="9915239"/>
            <a:ext cx="10798502" cy="183099"/>
          </a:xfrm>
          <a:prstGeom prst="rect">
            <a:avLst/>
          </a:prstGeom>
        </p:spPr>
        <p:txBody>
          <a:bodyPr anchor="t" rtlCol="false" tIns="0" lIns="0" bIns="0" rIns="0">
            <a:spAutoFit/>
          </a:bodyPr>
          <a:lstStyle/>
          <a:p>
            <a:pPr algn="l">
              <a:lnSpc>
                <a:spcPts val="1441"/>
              </a:lnSpc>
            </a:pPr>
            <a:r>
              <a:rPr lang="en-US" sz="1200">
                <a:solidFill>
                  <a:srgbClr val="667180"/>
                </a:solidFill>
                <a:latin typeface="Aptos"/>
                <a:ea typeface="Aptos"/>
                <a:cs typeface="Aptos"/>
                <a:sym typeface="Aptos"/>
              </a:rPr>
              <a:t>Smart Student Search &amp; Ranking System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4" id="4"/>
          <p:cNvGrpSpPr/>
          <p:nvPr/>
        </p:nvGrpSpPr>
        <p:grpSpPr>
          <a:xfrm rot="0">
            <a:off x="0" y="0"/>
            <a:ext cx="18301840" cy="178451"/>
            <a:chOff x="0" y="0"/>
            <a:chExt cx="24402453" cy="237934"/>
          </a:xfrm>
        </p:grpSpPr>
        <p:sp>
          <p:nvSpPr>
            <p:cNvPr name="Freeform 5" id="5"/>
            <p:cNvSpPr/>
            <p:nvPr/>
          </p:nvSpPr>
          <p:spPr>
            <a:xfrm flipH="false" flipV="false" rot="0">
              <a:off x="0" y="0"/>
              <a:ext cx="24402414" cy="237871"/>
            </a:xfrm>
            <a:custGeom>
              <a:avLst/>
              <a:gdLst/>
              <a:ahLst/>
              <a:cxnLst/>
              <a:rect r="r" b="b" t="t" l="l"/>
              <a:pathLst>
                <a:path h="237871" w="24402414">
                  <a:moveTo>
                    <a:pt x="0" y="0"/>
                  </a:moveTo>
                  <a:lnTo>
                    <a:pt x="24402414" y="0"/>
                  </a:lnTo>
                  <a:lnTo>
                    <a:pt x="24402414" y="237871"/>
                  </a:lnTo>
                  <a:lnTo>
                    <a:pt x="0" y="237871"/>
                  </a:lnTo>
                  <a:close/>
                </a:path>
              </a:pathLst>
            </a:custGeom>
            <a:solidFill>
              <a:srgbClr val="1A9191"/>
            </a:solidFill>
          </p:spPr>
        </p:sp>
      </p:grpSp>
      <p:sp>
        <p:nvSpPr>
          <p:cNvPr name="TextBox 6" id="6"/>
          <p:cNvSpPr txBox="true"/>
          <p:nvPr/>
        </p:nvSpPr>
        <p:spPr>
          <a:xfrm rot="0">
            <a:off x="983675" y="420548"/>
            <a:ext cx="6131414" cy="329889"/>
          </a:xfrm>
          <a:prstGeom prst="rect">
            <a:avLst/>
          </a:prstGeom>
        </p:spPr>
        <p:txBody>
          <a:bodyPr anchor="t" rtlCol="false" tIns="0" lIns="0" bIns="0" rIns="0">
            <a:spAutoFit/>
          </a:bodyPr>
          <a:lstStyle/>
          <a:p>
            <a:pPr algn="l">
              <a:lnSpc>
                <a:spcPts val="1621"/>
              </a:lnSpc>
            </a:pPr>
            <a:r>
              <a:rPr lang="en-US" sz="1351" b="true">
                <a:solidFill>
                  <a:srgbClr val="1A9191"/>
                </a:solidFill>
                <a:latin typeface="Aptos Bold"/>
                <a:ea typeface="Aptos Bold"/>
                <a:cs typeface="Aptos Bold"/>
                <a:sym typeface="Aptos Bold"/>
              </a:rPr>
              <a:t>PROGRAM OUTPUT</a:t>
            </a:r>
          </a:p>
        </p:txBody>
      </p:sp>
      <p:sp>
        <p:nvSpPr>
          <p:cNvPr name="TextBox 7" id="7"/>
          <p:cNvSpPr txBox="true"/>
          <p:nvPr/>
        </p:nvSpPr>
        <p:spPr>
          <a:xfrm rot="0">
            <a:off x="16700773" y="420548"/>
            <a:ext cx="572091" cy="329889"/>
          </a:xfrm>
          <a:prstGeom prst="rect">
            <a:avLst/>
          </a:prstGeom>
        </p:spPr>
        <p:txBody>
          <a:bodyPr anchor="t" rtlCol="false" tIns="0" lIns="0" bIns="0" rIns="0">
            <a:spAutoFit/>
          </a:bodyPr>
          <a:lstStyle/>
          <a:p>
            <a:pPr algn="r">
              <a:lnSpc>
                <a:spcPts val="1621"/>
              </a:lnSpc>
            </a:pPr>
            <a:r>
              <a:rPr lang="en-US" sz="1351" b="true">
                <a:solidFill>
                  <a:srgbClr val="667180"/>
                </a:solidFill>
                <a:latin typeface="Aptos Bold"/>
                <a:ea typeface="Aptos Bold"/>
                <a:cs typeface="Aptos Bold"/>
                <a:sym typeface="Aptos Bold"/>
              </a:rPr>
              <a:t>09</a:t>
            </a:r>
          </a:p>
        </p:txBody>
      </p:sp>
      <p:sp>
        <p:nvSpPr>
          <p:cNvPr name="TextBox 8" id="8"/>
          <p:cNvSpPr txBox="true"/>
          <p:nvPr/>
        </p:nvSpPr>
        <p:spPr>
          <a:xfrm rot="0">
            <a:off x="983675" y="1034044"/>
            <a:ext cx="16289188" cy="938060"/>
          </a:xfrm>
          <a:prstGeom prst="rect">
            <a:avLst/>
          </a:prstGeom>
        </p:spPr>
        <p:txBody>
          <a:bodyPr anchor="t" rtlCol="false" tIns="0" lIns="0" bIns="0" rIns="0">
            <a:spAutoFit/>
          </a:bodyPr>
          <a:lstStyle/>
          <a:p>
            <a:pPr algn="l">
              <a:lnSpc>
                <a:spcPts val="5043"/>
              </a:lnSpc>
            </a:pPr>
            <a:r>
              <a:rPr lang="en-US" sz="4203" b="true">
                <a:solidFill>
                  <a:srgbClr val="121F37"/>
                </a:solidFill>
                <a:latin typeface="Aptos Bold"/>
                <a:ea typeface="Aptos Bold"/>
                <a:cs typeface="Aptos Bold"/>
                <a:sym typeface="Aptos Bold"/>
              </a:rPr>
              <a:t>Output: Display &amp; Search</a:t>
            </a:r>
          </a:p>
        </p:txBody>
      </p:sp>
      <p:sp>
        <p:nvSpPr>
          <p:cNvPr name="TextBox 9" id="9"/>
          <p:cNvSpPr txBox="true"/>
          <p:nvPr/>
        </p:nvSpPr>
        <p:spPr>
          <a:xfrm rot="0">
            <a:off x="1011126" y="1967465"/>
            <a:ext cx="15877384" cy="567442"/>
          </a:xfrm>
          <a:prstGeom prst="rect">
            <a:avLst/>
          </a:prstGeom>
        </p:spPr>
        <p:txBody>
          <a:bodyPr anchor="t" rtlCol="false" tIns="0" lIns="0" bIns="0" rIns="0">
            <a:spAutoFit/>
          </a:bodyPr>
          <a:lstStyle/>
          <a:p>
            <a:pPr algn="l">
              <a:lnSpc>
                <a:spcPts val="2251"/>
              </a:lnSpc>
            </a:pPr>
            <a:r>
              <a:rPr lang="en-US" sz="1876">
                <a:solidFill>
                  <a:srgbClr val="667180"/>
                </a:solidFill>
                <a:latin typeface="Aptos"/>
                <a:ea typeface="Aptos"/>
                <a:cs typeface="Aptos"/>
                <a:sym typeface="Aptos"/>
              </a:rPr>
              <a:t>The program can display all records and then search for a specific student using the selected algorithm.</a:t>
            </a:r>
          </a:p>
        </p:txBody>
      </p:sp>
      <p:grpSp>
        <p:nvGrpSpPr>
          <p:cNvPr name="Group 10" id="10"/>
          <p:cNvGrpSpPr/>
          <p:nvPr/>
        </p:nvGrpSpPr>
        <p:grpSpPr>
          <a:xfrm rot="0">
            <a:off x="933421" y="2237461"/>
            <a:ext cx="2813980" cy="521618"/>
            <a:chOff x="0" y="0"/>
            <a:chExt cx="3751974" cy="695490"/>
          </a:xfrm>
        </p:grpSpPr>
        <p:sp>
          <p:nvSpPr>
            <p:cNvPr name="Freeform 11" id="11"/>
            <p:cNvSpPr/>
            <p:nvPr/>
          </p:nvSpPr>
          <p:spPr>
            <a:xfrm flipH="false" flipV="false" rot="0">
              <a:off x="0" y="0"/>
              <a:ext cx="3751961" cy="695579"/>
            </a:xfrm>
            <a:custGeom>
              <a:avLst/>
              <a:gdLst/>
              <a:ahLst/>
              <a:cxnLst/>
              <a:rect r="r" b="b" t="t" l="l"/>
              <a:pathLst>
                <a:path h="695579" w="3751961">
                  <a:moveTo>
                    <a:pt x="0" y="115951"/>
                  </a:moveTo>
                  <a:cubicBezTo>
                    <a:pt x="0" y="51943"/>
                    <a:pt x="51943" y="0"/>
                    <a:pt x="115951" y="0"/>
                  </a:cubicBezTo>
                  <a:lnTo>
                    <a:pt x="3636010" y="0"/>
                  </a:lnTo>
                  <a:cubicBezTo>
                    <a:pt x="3700018" y="0"/>
                    <a:pt x="3751961" y="51943"/>
                    <a:pt x="3751961" y="115951"/>
                  </a:cubicBezTo>
                  <a:lnTo>
                    <a:pt x="3751961" y="579628"/>
                  </a:lnTo>
                  <a:cubicBezTo>
                    <a:pt x="3751961" y="643636"/>
                    <a:pt x="3700018" y="695579"/>
                    <a:pt x="3636010" y="695579"/>
                  </a:cubicBezTo>
                  <a:lnTo>
                    <a:pt x="115951" y="695579"/>
                  </a:lnTo>
                  <a:cubicBezTo>
                    <a:pt x="51943" y="695452"/>
                    <a:pt x="0" y="643636"/>
                    <a:pt x="0" y="579628"/>
                  </a:cubicBezTo>
                  <a:close/>
                </a:path>
              </a:pathLst>
            </a:custGeom>
            <a:solidFill>
              <a:srgbClr val="2B5DA6"/>
            </a:solidFill>
          </p:spPr>
        </p:sp>
      </p:grpSp>
      <p:grpSp>
        <p:nvGrpSpPr>
          <p:cNvPr name="Group 12" id="12"/>
          <p:cNvGrpSpPr/>
          <p:nvPr/>
        </p:nvGrpSpPr>
        <p:grpSpPr>
          <a:xfrm rot="0">
            <a:off x="933421" y="2264912"/>
            <a:ext cx="2813980" cy="411804"/>
            <a:chOff x="0" y="0"/>
            <a:chExt cx="3751974" cy="549072"/>
          </a:xfrm>
        </p:grpSpPr>
        <p:sp>
          <p:nvSpPr>
            <p:cNvPr name="Freeform 13" id="13"/>
            <p:cNvSpPr/>
            <p:nvPr/>
          </p:nvSpPr>
          <p:spPr>
            <a:xfrm flipH="false" flipV="false" rot="0">
              <a:off x="0" y="0"/>
              <a:ext cx="3751969" cy="549069"/>
            </a:xfrm>
            <a:custGeom>
              <a:avLst/>
              <a:gdLst/>
              <a:ahLst/>
              <a:cxnLst/>
              <a:rect r="r" b="b" t="t" l="l"/>
              <a:pathLst>
                <a:path h="549069" w="3751969">
                  <a:moveTo>
                    <a:pt x="0" y="0"/>
                  </a:moveTo>
                  <a:lnTo>
                    <a:pt x="3751969" y="0"/>
                  </a:lnTo>
                  <a:lnTo>
                    <a:pt x="3751969" y="549069"/>
                  </a:lnTo>
                  <a:lnTo>
                    <a:pt x="0" y="549069"/>
                  </a:lnTo>
                  <a:close/>
                </a:path>
              </a:pathLst>
            </a:custGeom>
            <a:blipFill>
              <a:blip r:embed="rId2">
                <a:alphaModFix amt="0"/>
              </a:blip>
              <a:stretch>
                <a:fillRect l="0" t="-83147" r="0" b="-83148"/>
              </a:stretch>
            </a:blipFill>
          </p:spPr>
        </p:sp>
        <p:sp>
          <p:nvSpPr>
            <p:cNvPr name="TextBox 14" id="14"/>
            <p:cNvSpPr txBox="true"/>
            <p:nvPr/>
          </p:nvSpPr>
          <p:spPr>
            <a:xfrm>
              <a:off x="0" y="0"/>
              <a:ext cx="3751974" cy="549072"/>
            </a:xfrm>
            <a:prstGeom prst="rect">
              <a:avLst/>
            </a:prstGeom>
          </p:spPr>
          <p:txBody>
            <a:bodyPr anchor="ctr" rtlCol="false" tIns="0" lIns="0" bIns="0" rIns="0"/>
            <a:lstStyle/>
            <a:p>
              <a:pPr algn="ctr">
                <a:lnSpc>
                  <a:spcPts val="1801"/>
                </a:lnSpc>
              </a:pPr>
              <a:r>
                <a:rPr lang="en-US" sz="1501" b="true">
                  <a:solidFill>
                    <a:srgbClr val="FFFFFF"/>
                  </a:solidFill>
                  <a:latin typeface="Aptos Bold"/>
                  <a:ea typeface="Aptos Bold"/>
                  <a:cs typeface="Aptos Bold"/>
                  <a:sym typeface="Aptos Bold"/>
                </a:rPr>
                <a:t>DISPLAY ALL STUDENTS</a:t>
              </a:r>
            </a:p>
          </p:txBody>
        </p:sp>
      </p:grpSp>
      <p:grpSp>
        <p:nvGrpSpPr>
          <p:cNvPr name="Group 15" id="15"/>
          <p:cNvGrpSpPr/>
          <p:nvPr/>
        </p:nvGrpSpPr>
        <p:grpSpPr>
          <a:xfrm rot="0">
            <a:off x="9608706" y="2237461"/>
            <a:ext cx="2745343" cy="521618"/>
            <a:chOff x="0" y="0"/>
            <a:chExt cx="3660458" cy="695490"/>
          </a:xfrm>
        </p:grpSpPr>
        <p:sp>
          <p:nvSpPr>
            <p:cNvPr name="Freeform 16" id="16"/>
            <p:cNvSpPr/>
            <p:nvPr/>
          </p:nvSpPr>
          <p:spPr>
            <a:xfrm flipH="false" flipV="false" rot="0">
              <a:off x="0" y="0"/>
              <a:ext cx="3660521" cy="695579"/>
            </a:xfrm>
            <a:custGeom>
              <a:avLst/>
              <a:gdLst/>
              <a:ahLst/>
              <a:cxnLst/>
              <a:rect r="r" b="b" t="t" l="l"/>
              <a:pathLst>
                <a:path h="695579" w="3660521">
                  <a:moveTo>
                    <a:pt x="0" y="115951"/>
                  </a:moveTo>
                  <a:cubicBezTo>
                    <a:pt x="0" y="51943"/>
                    <a:pt x="51943" y="0"/>
                    <a:pt x="115951" y="0"/>
                  </a:cubicBezTo>
                  <a:lnTo>
                    <a:pt x="3544570" y="0"/>
                  </a:lnTo>
                  <a:cubicBezTo>
                    <a:pt x="3608578" y="0"/>
                    <a:pt x="3660521" y="51943"/>
                    <a:pt x="3660521" y="115951"/>
                  </a:cubicBezTo>
                  <a:lnTo>
                    <a:pt x="3660521" y="579628"/>
                  </a:lnTo>
                  <a:cubicBezTo>
                    <a:pt x="3660521" y="643636"/>
                    <a:pt x="3608578" y="695579"/>
                    <a:pt x="3544570" y="695579"/>
                  </a:cubicBezTo>
                  <a:lnTo>
                    <a:pt x="115951" y="695579"/>
                  </a:lnTo>
                  <a:cubicBezTo>
                    <a:pt x="51943" y="695452"/>
                    <a:pt x="0" y="643636"/>
                    <a:pt x="0" y="579628"/>
                  </a:cubicBezTo>
                  <a:close/>
                </a:path>
              </a:pathLst>
            </a:custGeom>
            <a:solidFill>
              <a:srgbClr val="1A9191"/>
            </a:solidFill>
          </p:spPr>
        </p:sp>
      </p:grpSp>
      <p:grpSp>
        <p:nvGrpSpPr>
          <p:cNvPr name="Group 17" id="17"/>
          <p:cNvGrpSpPr/>
          <p:nvPr/>
        </p:nvGrpSpPr>
        <p:grpSpPr>
          <a:xfrm rot="0">
            <a:off x="9608706" y="2264912"/>
            <a:ext cx="2745343" cy="411804"/>
            <a:chOff x="0" y="0"/>
            <a:chExt cx="3660458" cy="549072"/>
          </a:xfrm>
        </p:grpSpPr>
        <p:sp>
          <p:nvSpPr>
            <p:cNvPr name="Freeform 18" id="18"/>
            <p:cNvSpPr/>
            <p:nvPr/>
          </p:nvSpPr>
          <p:spPr>
            <a:xfrm flipH="false" flipV="false" rot="0">
              <a:off x="0" y="0"/>
              <a:ext cx="3660460" cy="549069"/>
            </a:xfrm>
            <a:custGeom>
              <a:avLst/>
              <a:gdLst/>
              <a:ahLst/>
              <a:cxnLst/>
              <a:rect r="r" b="b" t="t" l="l"/>
              <a:pathLst>
                <a:path h="549069" w="3660460">
                  <a:moveTo>
                    <a:pt x="0" y="0"/>
                  </a:moveTo>
                  <a:lnTo>
                    <a:pt x="3660460" y="0"/>
                  </a:lnTo>
                  <a:lnTo>
                    <a:pt x="3660460" y="549069"/>
                  </a:lnTo>
                  <a:lnTo>
                    <a:pt x="0" y="549069"/>
                  </a:lnTo>
                  <a:close/>
                </a:path>
              </a:pathLst>
            </a:custGeom>
            <a:blipFill>
              <a:blip r:embed="rId2">
                <a:alphaModFix amt="0"/>
              </a:blip>
              <a:stretch>
                <a:fillRect l="0" t="-79899" r="0" b="-79900"/>
              </a:stretch>
            </a:blipFill>
          </p:spPr>
        </p:sp>
        <p:sp>
          <p:nvSpPr>
            <p:cNvPr name="TextBox 19" id="19"/>
            <p:cNvSpPr txBox="true"/>
            <p:nvPr/>
          </p:nvSpPr>
          <p:spPr>
            <a:xfrm>
              <a:off x="0" y="0"/>
              <a:ext cx="3660458" cy="549072"/>
            </a:xfrm>
            <a:prstGeom prst="rect">
              <a:avLst/>
            </a:prstGeom>
          </p:spPr>
          <p:txBody>
            <a:bodyPr anchor="ctr" rtlCol="false" tIns="0" lIns="0" bIns="0" rIns="0"/>
            <a:lstStyle/>
            <a:p>
              <a:pPr algn="ctr">
                <a:lnSpc>
                  <a:spcPts val="1801"/>
                </a:lnSpc>
              </a:pPr>
              <a:r>
                <a:rPr lang="en-US" sz="1501" b="true">
                  <a:solidFill>
                    <a:srgbClr val="FFFFFF"/>
                  </a:solidFill>
                  <a:latin typeface="Aptos Bold"/>
                  <a:ea typeface="Aptos Bold"/>
                  <a:cs typeface="Aptos Bold"/>
                  <a:sym typeface="Aptos Bold"/>
                </a:rPr>
                <a:t>BINARY SEARCH RESULT</a:t>
              </a:r>
            </a:p>
          </p:txBody>
        </p:sp>
      </p:grpSp>
      <p:grpSp>
        <p:nvGrpSpPr>
          <p:cNvPr name="Group 20" id="20"/>
          <p:cNvGrpSpPr/>
          <p:nvPr/>
        </p:nvGrpSpPr>
        <p:grpSpPr>
          <a:xfrm rot="0">
            <a:off x="892235" y="2855995"/>
            <a:ext cx="8167402" cy="6285157"/>
            <a:chOff x="0" y="0"/>
            <a:chExt cx="10889869" cy="8380209"/>
          </a:xfrm>
        </p:grpSpPr>
        <p:sp>
          <p:nvSpPr>
            <p:cNvPr name="Freeform 21" id="21" descr="WhatsApp Image 2026-09-30 at 20.02.30.jpeg"/>
            <p:cNvSpPr/>
            <p:nvPr/>
          </p:nvSpPr>
          <p:spPr>
            <a:xfrm flipH="false" flipV="false" rot="0">
              <a:off x="0" y="0"/>
              <a:ext cx="10889869" cy="8380222"/>
            </a:xfrm>
            <a:custGeom>
              <a:avLst/>
              <a:gdLst/>
              <a:ahLst/>
              <a:cxnLst/>
              <a:rect r="r" b="b" t="t" l="l"/>
              <a:pathLst>
                <a:path h="8380222" w="10889869">
                  <a:moveTo>
                    <a:pt x="0" y="0"/>
                  </a:moveTo>
                  <a:lnTo>
                    <a:pt x="10889869" y="0"/>
                  </a:lnTo>
                  <a:lnTo>
                    <a:pt x="10889869" y="8380222"/>
                  </a:lnTo>
                  <a:lnTo>
                    <a:pt x="0" y="8380222"/>
                  </a:lnTo>
                  <a:lnTo>
                    <a:pt x="0" y="0"/>
                  </a:lnTo>
                  <a:close/>
                </a:path>
              </a:pathLst>
            </a:custGeom>
            <a:blipFill>
              <a:blip r:embed="rId3"/>
              <a:stretch>
                <a:fillRect l="0" t="0" r="0" b="0"/>
              </a:stretch>
            </a:blipFill>
          </p:spPr>
        </p:sp>
      </p:grpSp>
      <p:grpSp>
        <p:nvGrpSpPr>
          <p:cNvPr name="Group 22" id="22"/>
          <p:cNvGrpSpPr/>
          <p:nvPr/>
        </p:nvGrpSpPr>
        <p:grpSpPr>
          <a:xfrm rot="0">
            <a:off x="882701" y="2846470"/>
            <a:ext cx="8186461" cy="6304216"/>
            <a:chOff x="0" y="0"/>
            <a:chExt cx="10915282" cy="8405622"/>
          </a:xfrm>
        </p:grpSpPr>
        <p:sp>
          <p:nvSpPr>
            <p:cNvPr name="Freeform 23" id="23"/>
            <p:cNvSpPr/>
            <p:nvPr/>
          </p:nvSpPr>
          <p:spPr>
            <a:xfrm flipH="false" flipV="false" rot="0">
              <a:off x="0" y="0"/>
              <a:ext cx="10915269" cy="8405622"/>
            </a:xfrm>
            <a:custGeom>
              <a:avLst/>
              <a:gdLst/>
              <a:ahLst/>
              <a:cxnLst/>
              <a:rect r="r" b="b" t="t" l="l"/>
              <a:pathLst>
                <a:path h="8405622" w="10915269">
                  <a:moveTo>
                    <a:pt x="0" y="0"/>
                  </a:moveTo>
                  <a:lnTo>
                    <a:pt x="10915269" y="0"/>
                  </a:lnTo>
                  <a:lnTo>
                    <a:pt x="10915269" y="8405622"/>
                  </a:lnTo>
                  <a:lnTo>
                    <a:pt x="0" y="8405622"/>
                  </a:lnTo>
                  <a:close/>
                </a:path>
              </a:pathLst>
            </a:custGeom>
            <a:blipFill>
              <a:blip r:embed="rId2">
                <a:alphaModFix amt="0"/>
              </a:blip>
              <a:stretch>
                <a:fillRect l="-48803" t="0" r="-48803" b="0"/>
              </a:stretch>
            </a:blipFill>
            <a:ln w="19065" cap="sq">
              <a:solidFill>
                <a:srgbClr val="DEE6F0"/>
              </a:solidFill>
              <a:prstDash val="solid"/>
              <a:miter/>
            </a:ln>
          </p:spPr>
        </p:sp>
      </p:grpSp>
      <p:grpSp>
        <p:nvGrpSpPr>
          <p:cNvPr name="Group 24" id="24"/>
          <p:cNvGrpSpPr/>
          <p:nvPr/>
        </p:nvGrpSpPr>
        <p:grpSpPr>
          <a:xfrm rot="0">
            <a:off x="9407614" y="2772794"/>
            <a:ext cx="7883252" cy="6451559"/>
            <a:chOff x="0" y="0"/>
            <a:chExt cx="10511003" cy="8602078"/>
          </a:xfrm>
        </p:grpSpPr>
        <p:sp>
          <p:nvSpPr>
            <p:cNvPr name="Freeform 25" id="25" descr="WhatsApp Image 2026-09-30 at 20.02.31.jpeg"/>
            <p:cNvSpPr/>
            <p:nvPr/>
          </p:nvSpPr>
          <p:spPr>
            <a:xfrm flipH="false" flipV="false" rot="0">
              <a:off x="0" y="0"/>
              <a:ext cx="10511028" cy="8602091"/>
            </a:xfrm>
            <a:custGeom>
              <a:avLst/>
              <a:gdLst/>
              <a:ahLst/>
              <a:cxnLst/>
              <a:rect r="r" b="b" t="t" l="l"/>
              <a:pathLst>
                <a:path h="8602091" w="10511028">
                  <a:moveTo>
                    <a:pt x="0" y="0"/>
                  </a:moveTo>
                  <a:lnTo>
                    <a:pt x="10511028" y="0"/>
                  </a:lnTo>
                  <a:lnTo>
                    <a:pt x="10511028" y="8602091"/>
                  </a:lnTo>
                  <a:lnTo>
                    <a:pt x="0" y="8602091"/>
                  </a:lnTo>
                  <a:lnTo>
                    <a:pt x="0" y="0"/>
                  </a:lnTo>
                  <a:close/>
                </a:path>
              </a:pathLst>
            </a:custGeom>
            <a:blipFill>
              <a:blip r:embed="rId4"/>
              <a:stretch>
                <a:fillRect l="0" t="0" r="0" b="0"/>
              </a:stretch>
            </a:blipFill>
          </p:spPr>
        </p:sp>
      </p:grpSp>
      <p:grpSp>
        <p:nvGrpSpPr>
          <p:cNvPr name="Group 26" id="26"/>
          <p:cNvGrpSpPr/>
          <p:nvPr/>
        </p:nvGrpSpPr>
        <p:grpSpPr>
          <a:xfrm rot="0">
            <a:off x="9398079" y="2763269"/>
            <a:ext cx="7902311" cy="6470628"/>
            <a:chOff x="0" y="0"/>
            <a:chExt cx="10536415" cy="8627504"/>
          </a:xfrm>
        </p:grpSpPr>
        <p:sp>
          <p:nvSpPr>
            <p:cNvPr name="Freeform 27" id="27"/>
            <p:cNvSpPr/>
            <p:nvPr/>
          </p:nvSpPr>
          <p:spPr>
            <a:xfrm flipH="false" flipV="false" rot="0">
              <a:off x="0" y="0"/>
              <a:ext cx="10536428" cy="8627491"/>
            </a:xfrm>
            <a:custGeom>
              <a:avLst/>
              <a:gdLst/>
              <a:ahLst/>
              <a:cxnLst/>
              <a:rect r="r" b="b" t="t" l="l"/>
              <a:pathLst>
                <a:path h="8627491" w="10536428">
                  <a:moveTo>
                    <a:pt x="0" y="0"/>
                  </a:moveTo>
                  <a:lnTo>
                    <a:pt x="10536428" y="0"/>
                  </a:lnTo>
                  <a:lnTo>
                    <a:pt x="10536428" y="8627491"/>
                  </a:lnTo>
                  <a:lnTo>
                    <a:pt x="0" y="8627491"/>
                  </a:lnTo>
                  <a:close/>
                </a:path>
              </a:pathLst>
            </a:custGeom>
            <a:blipFill>
              <a:blip r:embed="rId2">
                <a:alphaModFix amt="0"/>
              </a:blip>
              <a:stretch>
                <a:fillRect l="-55058" t="0" r="-55058" b="0"/>
              </a:stretch>
            </a:blipFill>
            <a:ln w="19065" cap="sq">
              <a:solidFill>
                <a:srgbClr val="DEE6F0"/>
              </a:solidFill>
              <a:prstDash val="solid"/>
              <a:miter/>
            </a:ln>
          </p:spPr>
        </p:sp>
      </p:grpSp>
      <p:sp>
        <p:nvSpPr>
          <p:cNvPr name="TextBox 28" id="28"/>
          <p:cNvSpPr txBox="true"/>
          <p:nvPr/>
        </p:nvSpPr>
        <p:spPr>
          <a:xfrm rot="0">
            <a:off x="9631509" y="9421073"/>
            <a:ext cx="7435453" cy="251727"/>
          </a:xfrm>
          <a:prstGeom prst="rect">
            <a:avLst/>
          </a:prstGeom>
        </p:spPr>
        <p:txBody>
          <a:bodyPr anchor="t" rtlCol="false" tIns="0" lIns="0" bIns="0" rIns="0">
            <a:spAutoFit/>
          </a:bodyPr>
          <a:lstStyle/>
          <a:p>
            <a:pPr algn="ctr">
              <a:lnSpc>
                <a:spcPts val="1745"/>
              </a:lnSpc>
            </a:pPr>
            <a:r>
              <a:rPr lang="en-US" sz="1454" b="true">
                <a:solidFill>
                  <a:srgbClr val="667180"/>
                </a:solidFill>
                <a:latin typeface="Aptos Bold"/>
                <a:ea typeface="Aptos Bold"/>
                <a:cs typeface="Aptos Bold"/>
                <a:sym typeface="Aptos Bold"/>
              </a:rPr>
              <a:t>Example: ID 103 → Rohan → CSF → 78.5 marks → found in 1 comparison</a:t>
            </a:r>
          </a:p>
        </p:txBody>
      </p:sp>
      <p:grpSp>
        <p:nvGrpSpPr>
          <p:cNvPr name="Group 29" id="29"/>
          <p:cNvGrpSpPr/>
          <p:nvPr/>
        </p:nvGrpSpPr>
        <p:grpSpPr>
          <a:xfrm rot="0">
            <a:off x="892235" y="9800882"/>
            <a:ext cx="16472068" cy="13726"/>
            <a:chOff x="0" y="0"/>
            <a:chExt cx="21962758" cy="18301"/>
          </a:xfrm>
        </p:grpSpPr>
        <p:sp>
          <p:nvSpPr>
            <p:cNvPr name="Freeform 30" id="30"/>
            <p:cNvSpPr/>
            <p:nvPr/>
          </p:nvSpPr>
          <p:spPr>
            <a:xfrm flipH="false" flipV="false" rot="0">
              <a:off x="0" y="0"/>
              <a:ext cx="21962745" cy="18288"/>
            </a:xfrm>
            <a:custGeom>
              <a:avLst/>
              <a:gdLst/>
              <a:ahLst/>
              <a:cxnLst/>
              <a:rect r="r" b="b" t="t" l="l"/>
              <a:pathLst>
                <a:path h="18288" w="21962745">
                  <a:moveTo>
                    <a:pt x="0" y="0"/>
                  </a:moveTo>
                  <a:lnTo>
                    <a:pt x="21962745" y="0"/>
                  </a:lnTo>
                  <a:lnTo>
                    <a:pt x="21962745" y="18288"/>
                  </a:lnTo>
                  <a:lnTo>
                    <a:pt x="0" y="18288"/>
                  </a:lnTo>
                  <a:close/>
                </a:path>
              </a:pathLst>
            </a:custGeom>
            <a:solidFill>
              <a:srgbClr val="DEE6F0"/>
            </a:solidFill>
          </p:spPr>
        </p:sp>
      </p:grpSp>
      <p:sp>
        <p:nvSpPr>
          <p:cNvPr name="TextBox 31" id="31"/>
          <p:cNvSpPr txBox="true"/>
          <p:nvPr/>
        </p:nvSpPr>
        <p:spPr>
          <a:xfrm rot="0">
            <a:off x="983675" y="9915239"/>
            <a:ext cx="10798502" cy="183099"/>
          </a:xfrm>
          <a:prstGeom prst="rect">
            <a:avLst/>
          </a:prstGeom>
        </p:spPr>
        <p:txBody>
          <a:bodyPr anchor="t" rtlCol="false" tIns="0" lIns="0" bIns="0" rIns="0">
            <a:spAutoFit/>
          </a:bodyPr>
          <a:lstStyle/>
          <a:p>
            <a:pPr algn="l">
              <a:lnSpc>
                <a:spcPts val="1441"/>
              </a:lnSpc>
            </a:pPr>
            <a:r>
              <a:rPr lang="en-US" sz="1200">
                <a:solidFill>
                  <a:srgbClr val="667180"/>
                </a:solidFill>
                <a:latin typeface="Aptos"/>
                <a:ea typeface="Aptos"/>
                <a:cs typeface="Aptos"/>
                <a:sym typeface="Aptos"/>
              </a:rPr>
              <a:t>Smart Student Search &amp; Ranking System</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4" id="4"/>
          <p:cNvGrpSpPr/>
          <p:nvPr/>
        </p:nvGrpSpPr>
        <p:grpSpPr>
          <a:xfrm rot="0">
            <a:off x="0" y="0"/>
            <a:ext cx="18301840" cy="178451"/>
            <a:chOff x="0" y="0"/>
            <a:chExt cx="24402453" cy="237934"/>
          </a:xfrm>
        </p:grpSpPr>
        <p:sp>
          <p:nvSpPr>
            <p:cNvPr name="Freeform 5" id="5"/>
            <p:cNvSpPr/>
            <p:nvPr/>
          </p:nvSpPr>
          <p:spPr>
            <a:xfrm flipH="false" flipV="false" rot="0">
              <a:off x="0" y="0"/>
              <a:ext cx="24402414" cy="237871"/>
            </a:xfrm>
            <a:custGeom>
              <a:avLst/>
              <a:gdLst/>
              <a:ahLst/>
              <a:cxnLst/>
              <a:rect r="r" b="b" t="t" l="l"/>
              <a:pathLst>
                <a:path h="237871" w="24402414">
                  <a:moveTo>
                    <a:pt x="0" y="0"/>
                  </a:moveTo>
                  <a:lnTo>
                    <a:pt x="24402414" y="0"/>
                  </a:lnTo>
                  <a:lnTo>
                    <a:pt x="24402414" y="237871"/>
                  </a:lnTo>
                  <a:lnTo>
                    <a:pt x="0" y="237871"/>
                  </a:lnTo>
                  <a:close/>
                </a:path>
              </a:pathLst>
            </a:custGeom>
            <a:solidFill>
              <a:srgbClr val="1A9191"/>
            </a:solidFill>
          </p:spPr>
        </p:sp>
      </p:grpSp>
      <p:sp>
        <p:nvSpPr>
          <p:cNvPr name="TextBox 6" id="6"/>
          <p:cNvSpPr txBox="true"/>
          <p:nvPr/>
        </p:nvSpPr>
        <p:spPr>
          <a:xfrm rot="0">
            <a:off x="983675" y="420548"/>
            <a:ext cx="5994149" cy="329889"/>
          </a:xfrm>
          <a:prstGeom prst="rect">
            <a:avLst/>
          </a:prstGeom>
        </p:spPr>
        <p:txBody>
          <a:bodyPr anchor="t" rtlCol="false" tIns="0" lIns="0" bIns="0" rIns="0">
            <a:spAutoFit/>
          </a:bodyPr>
          <a:lstStyle/>
          <a:p>
            <a:pPr algn="l">
              <a:lnSpc>
                <a:spcPts val="1621"/>
              </a:lnSpc>
            </a:pPr>
            <a:r>
              <a:rPr lang="en-US" sz="1351" b="true">
                <a:solidFill>
                  <a:srgbClr val="1A9191"/>
                </a:solidFill>
                <a:latin typeface="Aptos Bold"/>
                <a:ea typeface="Aptos Bold"/>
                <a:cs typeface="Aptos Bold"/>
                <a:sym typeface="Aptos Bold"/>
              </a:rPr>
              <a:t>DATA EXPLANATION</a:t>
            </a:r>
          </a:p>
        </p:txBody>
      </p:sp>
      <p:sp>
        <p:nvSpPr>
          <p:cNvPr name="TextBox 7" id="7"/>
          <p:cNvSpPr txBox="true"/>
          <p:nvPr/>
        </p:nvSpPr>
        <p:spPr>
          <a:xfrm rot="0">
            <a:off x="16700773" y="420548"/>
            <a:ext cx="572091" cy="329889"/>
          </a:xfrm>
          <a:prstGeom prst="rect">
            <a:avLst/>
          </a:prstGeom>
        </p:spPr>
        <p:txBody>
          <a:bodyPr anchor="t" rtlCol="false" tIns="0" lIns="0" bIns="0" rIns="0">
            <a:spAutoFit/>
          </a:bodyPr>
          <a:lstStyle/>
          <a:p>
            <a:pPr algn="r">
              <a:lnSpc>
                <a:spcPts val="1621"/>
              </a:lnSpc>
            </a:pPr>
            <a:r>
              <a:rPr lang="en-US" sz="1351" b="true">
                <a:solidFill>
                  <a:srgbClr val="667180"/>
                </a:solidFill>
                <a:latin typeface="Aptos Bold"/>
                <a:ea typeface="Aptos Bold"/>
                <a:cs typeface="Aptos Bold"/>
                <a:sym typeface="Aptos Bold"/>
              </a:rPr>
              <a:t>11</a:t>
            </a:r>
          </a:p>
        </p:txBody>
      </p:sp>
      <p:sp>
        <p:nvSpPr>
          <p:cNvPr name="TextBox 8" id="8"/>
          <p:cNvSpPr txBox="true"/>
          <p:nvPr/>
        </p:nvSpPr>
        <p:spPr>
          <a:xfrm rot="0">
            <a:off x="983675" y="1034044"/>
            <a:ext cx="16289188" cy="663531"/>
          </a:xfrm>
          <a:prstGeom prst="rect">
            <a:avLst/>
          </a:prstGeom>
        </p:spPr>
        <p:txBody>
          <a:bodyPr anchor="t" rtlCol="false" tIns="0" lIns="0" bIns="0" rIns="0">
            <a:spAutoFit/>
          </a:bodyPr>
          <a:lstStyle/>
          <a:p>
            <a:pPr algn="l">
              <a:lnSpc>
                <a:spcPts val="5043"/>
              </a:lnSpc>
            </a:pPr>
            <a:r>
              <a:rPr lang="en-US" sz="4203" b="true">
                <a:solidFill>
                  <a:srgbClr val="121F37"/>
                </a:solidFill>
                <a:latin typeface="Aptos Bold"/>
                <a:ea typeface="Aptos Bold"/>
                <a:cs typeface="Aptos Bold"/>
                <a:sym typeface="Aptos Bold"/>
              </a:rPr>
              <a:t>What Does Our Input Data Actually Mean?</a:t>
            </a:r>
          </a:p>
        </p:txBody>
      </p:sp>
      <p:sp>
        <p:nvSpPr>
          <p:cNvPr name="TextBox 9" id="9"/>
          <p:cNvSpPr txBox="true"/>
          <p:nvPr/>
        </p:nvSpPr>
        <p:spPr>
          <a:xfrm rot="0">
            <a:off x="1011126" y="1967465"/>
            <a:ext cx="15877384" cy="457629"/>
          </a:xfrm>
          <a:prstGeom prst="rect">
            <a:avLst/>
          </a:prstGeom>
        </p:spPr>
        <p:txBody>
          <a:bodyPr anchor="t" rtlCol="false" tIns="0" lIns="0" bIns="0" rIns="0">
            <a:spAutoFit/>
          </a:bodyPr>
          <a:lstStyle/>
          <a:p>
            <a:pPr algn="l">
              <a:lnSpc>
                <a:spcPts val="2251"/>
              </a:lnSpc>
            </a:pPr>
            <a:r>
              <a:rPr lang="en-US" sz="1876">
                <a:solidFill>
                  <a:srgbClr val="667180"/>
                </a:solidFill>
                <a:latin typeface="Aptos"/>
                <a:ea typeface="Aptos"/>
                <a:cs typeface="Aptos"/>
                <a:sym typeface="Aptos"/>
              </a:rPr>
              <a:t>The six records shown in the program are not just sample output—they are the dataset used by the algorithms.</a:t>
            </a:r>
          </a:p>
        </p:txBody>
      </p:sp>
      <p:graphicFrame>
        <p:nvGraphicFramePr>
          <p:cNvPr name="Table 10" id="10"/>
          <p:cNvGraphicFramePr>
            <a:graphicFrameLocks noGrp="true"/>
          </p:cNvGraphicFramePr>
          <p:nvPr/>
        </p:nvGraphicFramePr>
        <p:xfrm>
          <a:off x="892237" y="2676711"/>
          <a:ext cx="16433939" cy="4670899"/>
        </p:xfrm>
        <a:graphic>
          <a:graphicData uri="http://schemas.openxmlformats.org/drawingml/2006/table">
            <a:tbl>
              <a:tblPr/>
              <a:tblGrid>
                <a:gridCol w="1369495"/>
                <a:gridCol w="2465091"/>
                <a:gridCol w="2122717"/>
                <a:gridCol w="1369495"/>
                <a:gridCol w="1643394"/>
                <a:gridCol w="7463747"/>
              </a:tblGrid>
              <a:tr h="667270">
                <a:tc>
                  <a:txBody>
                    <a:bodyPr anchor="t" rtlCol="false"/>
                    <a:lstStyle/>
                    <a:p>
                      <a:pPr algn="ctr">
                        <a:lnSpc>
                          <a:spcPts val="1891"/>
                        </a:lnSpc>
                        <a:defRPr/>
                      </a:pPr>
                      <a:r>
                        <a:rPr lang="en-US" sz="1576" b="true">
                          <a:solidFill>
                            <a:srgbClr val="FFFFFF"/>
                          </a:solidFill>
                          <a:latin typeface="Aptos Bold"/>
                          <a:ea typeface="Aptos Bold"/>
                          <a:cs typeface="Aptos Bold"/>
                          <a:sym typeface="Aptos Bold"/>
                        </a:rPr>
                        <a:t>ID</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21F37"/>
                    </a:solidFill>
                  </a:tcPr>
                </a:tc>
                <a:tc>
                  <a:txBody>
                    <a:bodyPr anchor="t" rtlCol="false"/>
                    <a:lstStyle/>
                    <a:p>
                      <a:pPr algn="ctr">
                        <a:lnSpc>
                          <a:spcPts val="1891"/>
                        </a:lnSpc>
                        <a:defRPr/>
                      </a:pPr>
                      <a:r>
                        <a:rPr lang="en-US" sz="1576" b="true">
                          <a:solidFill>
                            <a:srgbClr val="FFFFFF"/>
                          </a:solidFill>
                          <a:latin typeface="Aptos Bold"/>
                          <a:ea typeface="Aptos Bold"/>
                          <a:cs typeface="Aptos Bold"/>
                          <a:sym typeface="Aptos Bold"/>
                        </a:rPr>
                        <a:t>Name</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21F37"/>
                    </a:solidFill>
                  </a:tcPr>
                </a:tc>
                <a:tc>
                  <a:txBody>
                    <a:bodyPr anchor="t" rtlCol="false"/>
                    <a:lstStyle/>
                    <a:p>
                      <a:pPr algn="ctr">
                        <a:lnSpc>
                          <a:spcPts val="1891"/>
                        </a:lnSpc>
                        <a:defRPr/>
                      </a:pPr>
                      <a:r>
                        <a:rPr lang="en-US" sz="1576" b="true">
                          <a:solidFill>
                            <a:srgbClr val="FFFFFF"/>
                          </a:solidFill>
                          <a:latin typeface="Aptos Bold"/>
                          <a:ea typeface="Aptos Bold"/>
                          <a:cs typeface="Aptos Bold"/>
                          <a:sym typeface="Aptos Bold"/>
                        </a:rPr>
                        <a:t>Branch</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21F37"/>
                    </a:solidFill>
                  </a:tcPr>
                </a:tc>
                <a:tc>
                  <a:txBody>
                    <a:bodyPr anchor="t" rtlCol="false"/>
                    <a:lstStyle/>
                    <a:p>
                      <a:pPr algn="ctr">
                        <a:lnSpc>
                          <a:spcPts val="1891"/>
                        </a:lnSpc>
                        <a:defRPr/>
                      </a:pPr>
                      <a:r>
                        <a:rPr lang="en-US" sz="1576" b="true">
                          <a:solidFill>
                            <a:srgbClr val="FFFFFF"/>
                          </a:solidFill>
                          <a:latin typeface="Aptos Bold"/>
                          <a:ea typeface="Aptos Bold"/>
                          <a:cs typeface="Aptos Bold"/>
                          <a:sym typeface="Aptos Bold"/>
                        </a:rPr>
                        <a:t>Sem.</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21F37"/>
                    </a:solidFill>
                  </a:tcPr>
                </a:tc>
                <a:tc>
                  <a:txBody>
                    <a:bodyPr anchor="t" rtlCol="false"/>
                    <a:lstStyle/>
                    <a:p>
                      <a:pPr algn="ctr">
                        <a:lnSpc>
                          <a:spcPts val="1891"/>
                        </a:lnSpc>
                        <a:defRPr/>
                      </a:pPr>
                      <a:r>
                        <a:rPr lang="en-US" sz="1576" b="true">
                          <a:solidFill>
                            <a:srgbClr val="FFFFFF"/>
                          </a:solidFill>
                          <a:latin typeface="Aptos Bold"/>
                          <a:ea typeface="Aptos Bold"/>
                          <a:cs typeface="Aptos Bold"/>
                          <a:sym typeface="Aptos Bold"/>
                        </a:rPr>
                        <a:t>Marks</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21F37"/>
                    </a:solidFill>
                  </a:tcPr>
                </a:tc>
                <a:tc>
                  <a:txBody>
                    <a:bodyPr anchor="t" rtlCol="false"/>
                    <a:lstStyle/>
                    <a:p>
                      <a:pPr algn="ctr">
                        <a:lnSpc>
                          <a:spcPts val="1891"/>
                        </a:lnSpc>
                        <a:defRPr/>
                      </a:pPr>
                      <a:r>
                        <a:rPr lang="en-US" sz="1576" b="true">
                          <a:solidFill>
                            <a:srgbClr val="FFFFFF"/>
                          </a:solidFill>
                          <a:latin typeface="Aptos Bold"/>
                          <a:ea typeface="Aptos Bold"/>
                          <a:cs typeface="Aptos Bold"/>
                          <a:sym typeface="Aptos Bold"/>
                        </a:rPr>
                        <a:t>Interpretation</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21F37"/>
                    </a:solidFill>
                  </a:tcPr>
                </a:tc>
              </a:tr>
              <a:tr h="667270">
                <a:tc>
                  <a:txBody>
                    <a:bodyPr anchor="t" rtlCol="false"/>
                    <a:lstStyle/>
                    <a:p>
                      <a:pPr algn="ctr">
                        <a:lnSpc>
                          <a:spcPts val="1891"/>
                        </a:lnSpc>
                        <a:defRPr/>
                      </a:pPr>
                      <a:r>
                        <a:rPr lang="en-US" sz="1576">
                          <a:solidFill>
                            <a:srgbClr val="273140"/>
                          </a:solidFill>
                          <a:latin typeface="Aptos"/>
                          <a:ea typeface="Aptos"/>
                          <a:cs typeface="Aptos"/>
                          <a:sym typeface="Aptos"/>
                        </a:rPr>
                        <a:t>101</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Rahul</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CSE</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3</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87.5</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High score</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67270">
                <a:tc>
                  <a:txBody>
                    <a:bodyPr anchor="t" rtlCol="false"/>
                    <a:lstStyle/>
                    <a:p>
                      <a:pPr algn="ctr">
                        <a:lnSpc>
                          <a:spcPts val="1891"/>
                        </a:lnSpc>
                        <a:defRPr/>
                      </a:pPr>
                      <a:r>
                        <a:rPr lang="en-US" sz="1576">
                          <a:solidFill>
                            <a:srgbClr val="273140"/>
                          </a:solidFill>
                          <a:latin typeface="Aptos"/>
                          <a:ea typeface="Aptos"/>
                          <a:cs typeface="Aptos"/>
                          <a:sym typeface="Aptos"/>
                        </a:rPr>
                        <a:t>102</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Aditya</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AIDS</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3</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92.0</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Joint high score</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r>
              <a:tr h="667270">
                <a:tc>
                  <a:txBody>
                    <a:bodyPr anchor="t" rtlCol="false"/>
                    <a:lstStyle/>
                    <a:p>
                      <a:pPr algn="ctr">
                        <a:lnSpc>
                          <a:spcPts val="1891"/>
                        </a:lnSpc>
                        <a:defRPr/>
                      </a:pPr>
                      <a:r>
                        <a:rPr lang="en-US" sz="1576">
                          <a:solidFill>
                            <a:srgbClr val="273140"/>
                          </a:solidFill>
                          <a:latin typeface="Aptos"/>
                          <a:ea typeface="Aptos"/>
                          <a:cs typeface="Aptos"/>
                          <a:sym typeface="Aptos"/>
                        </a:rPr>
                        <a:t>103</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Rohan</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CSF</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3</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78.5</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Lowest in sample</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67270">
                <a:tc>
                  <a:txBody>
                    <a:bodyPr anchor="t" rtlCol="false"/>
                    <a:lstStyle/>
                    <a:p>
                      <a:pPr algn="ctr">
                        <a:lnSpc>
                          <a:spcPts val="1891"/>
                        </a:lnSpc>
                        <a:defRPr/>
                      </a:pPr>
                      <a:r>
                        <a:rPr lang="en-US" sz="1576">
                          <a:solidFill>
                            <a:srgbClr val="273140"/>
                          </a:solidFill>
                          <a:latin typeface="Aptos"/>
                          <a:ea typeface="Aptos"/>
                          <a:cs typeface="Aptos"/>
                          <a:sym typeface="Aptos"/>
                        </a:rPr>
                        <a:t>104</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Aryan</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CSE</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3</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95.0</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Highest score</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r>
              <a:tr h="667270">
                <a:tc>
                  <a:txBody>
                    <a:bodyPr anchor="t" rtlCol="false"/>
                    <a:lstStyle/>
                    <a:p>
                      <a:pPr algn="ctr">
                        <a:lnSpc>
                          <a:spcPts val="1891"/>
                        </a:lnSpc>
                        <a:defRPr/>
                      </a:pPr>
                      <a:r>
                        <a:rPr lang="en-US" sz="1576">
                          <a:solidFill>
                            <a:srgbClr val="273140"/>
                          </a:solidFill>
                          <a:latin typeface="Aptos"/>
                          <a:ea typeface="Aptos"/>
                          <a:cs typeface="Aptos"/>
                          <a:sym typeface="Aptos"/>
                        </a:rPr>
                        <a:t>105</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Manav</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AIDS</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3</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92.0</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Tie with ID 102</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67276">
                <a:tc>
                  <a:txBody>
                    <a:bodyPr anchor="t" rtlCol="false"/>
                    <a:lstStyle/>
                    <a:p>
                      <a:pPr algn="ctr">
                        <a:lnSpc>
                          <a:spcPts val="1891"/>
                        </a:lnSpc>
                        <a:defRPr/>
                      </a:pPr>
                      <a:r>
                        <a:rPr lang="en-US" sz="1576">
                          <a:solidFill>
                            <a:srgbClr val="273140"/>
                          </a:solidFill>
                          <a:latin typeface="Aptos"/>
                          <a:ea typeface="Aptos"/>
                          <a:cs typeface="Aptos"/>
                          <a:sym typeface="Aptos"/>
                        </a:rPr>
                        <a:t>106</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Neha</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CSE</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3</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85.0</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Middle score</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r>
            </a:tbl>
          </a:graphicData>
        </a:graphic>
      </p:graphicFrame>
      <p:grpSp>
        <p:nvGrpSpPr>
          <p:cNvPr name="Group 11" id="11"/>
          <p:cNvGrpSpPr/>
          <p:nvPr/>
        </p:nvGrpSpPr>
        <p:grpSpPr>
          <a:xfrm rot="0">
            <a:off x="885092" y="7817082"/>
            <a:ext cx="5161817" cy="1318336"/>
            <a:chOff x="0" y="0"/>
            <a:chExt cx="6882422" cy="1757782"/>
          </a:xfrm>
        </p:grpSpPr>
        <p:sp>
          <p:nvSpPr>
            <p:cNvPr name="Freeform 12" id="12"/>
            <p:cNvSpPr/>
            <p:nvPr/>
          </p:nvSpPr>
          <p:spPr>
            <a:xfrm flipH="false" flipV="false" rot="0">
              <a:off x="0" y="0"/>
              <a:ext cx="6882384" cy="1757807"/>
            </a:xfrm>
            <a:custGeom>
              <a:avLst/>
              <a:gdLst/>
              <a:ahLst/>
              <a:cxnLst/>
              <a:rect r="r" b="b" t="t" l="l"/>
              <a:pathLst>
                <a:path h="1757807" w="6882384">
                  <a:moveTo>
                    <a:pt x="0" y="292989"/>
                  </a:moveTo>
                  <a:cubicBezTo>
                    <a:pt x="0" y="131191"/>
                    <a:pt x="131191" y="0"/>
                    <a:pt x="292989" y="0"/>
                  </a:cubicBezTo>
                  <a:lnTo>
                    <a:pt x="6589395" y="0"/>
                  </a:lnTo>
                  <a:cubicBezTo>
                    <a:pt x="6751193" y="0"/>
                    <a:pt x="6882384" y="131191"/>
                    <a:pt x="6882384" y="292989"/>
                  </a:cubicBezTo>
                  <a:lnTo>
                    <a:pt x="6882384" y="1464818"/>
                  </a:lnTo>
                  <a:cubicBezTo>
                    <a:pt x="6882384" y="1626616"/>
                    <a:pt x="6751193" y="1757807"/>
                    <a:pt x="6589395" y="1757807"/>
                  </a:cubicBezTo>
                  <a:lnTo>
                    <a:pt x="292989" y="1757807"/>
                  </a:lnTo>
                  <a:cubicBezTo>
                    <a:pt x="131191" y="1757807"/>
                    <a:pt x="0" y="1626616"/>
                    <a:pt x="0" y="1464818"/>
                  </a:cubicBezTo>
                  <a:close/>
                </a:path>
              </a:pathLst>
            </a:custGeom>
            <a:solidFill>
              <a:srgbClr val="F5F8FC"/>
            </a:solidFill>
            <a:ln w="14299" cap="sq">
              <a:solidFill>
                <a:srgbClr val="DEE6F0"/>
              </a:solidFill>
              <a:prstDash val="solid"/>
              <a:miter/>
            </a:ln>
          </p:spPr>
        </p:sp>
      </p:grpSp>
      <p:grpSp>
        <p:nvGrpSpPr>
          <p:cNvPr name="Group 13" id="13"/>
          <p:cNvGrpSpPr/>
          <p:nvPr/>
        </p:nvGrpSpPr>
        <p:grpSpPr>
          <a:xfrm rot="0">
            <a:off x="892235" y="7824235"/>
            <a:ext cx="96088" cy="1304039"/>
            <a:chOff x="0" y="0"/>
            <a:chExt cx="128118" cy="1738719"/>
          </a:xfrm>
        </p:grpSpPr>
        <p:sp>
          <p:nvSpPr>
            <p:cNvPr name="Freeform 14" id="14"/>
            <p:cNvSpPr/>
            <p:nvPr/>
          </p:nvSpPr>
          <p:spPr>
            <a:xfrm flipH="false" flipV="false" rot="0">
              <a:off x="0" y="0"/>
              <a:ext cx="128143" cy="1738757"/>
            </a:xfrm>
            <a:custGeom>
              <a:avLst/>
              <a:gdLst/>
              <a:ahLst/>
              <a:cxnLst/>
              <a:rect r="r" b="b" t="t" l="l"/>
              <a:pathLst>
                <a:path h="1738757" w="128143">
                  <a:moveTo>
                    <a:pt x="0" y="0"/>
                  </a:moveTo>
                  <a:lnTo>
                    <a:pt x="128143" y="0"/>
                  </a:lnTo>
                  <a:lnTo>
                    <a:pt x="128143" y="1738757"/>
                  </a:lnTo>
                  <a:lnTo>
                    <a:pt x="0" y="1738757"/>
                  </a:lnTo>
                  <a:close/>
                </a:path>
              </a:pathLst>
            </a:custGeom>
            <a:solidFill>
              <a:srgbClr val="1A9191"/>
            </a:solidFill>
          </p:spPr>
        </p:sp>
      </p:grpSp>
      <p:sp>
        <p:nvSpPr>
          <p:cNvPr name="TextBox 15" id="15"/>
          <p:cNvSpPr txBox="true"/>
          <p:nvPr/>
        </p:nvSpPr>
        <p:spPr>
          <a:xfrm rot="0">
            <a:off x="1285665" y="8089582"/>
            <a:ext cx="4415571" cy="388991"/>
          </a:xfrm>
          <a:prstGeom prst="rect">
            <a:avLst/>
          </a:prstGeom>
        </p:spPr>
        <p:txBody>
          <a:bodyPr anchor="t" rtlCol="false" tIns="0" lIns="0" bIns="0" rIns="0">
            <a:spAutoFit/>
          </a:bodyPr>
          <a:lstStyle/>
          <a:p>
            <a:pPr algn="l">
              <a:lnSpc>
                <a:spcPts val="2702"/>
              </a:lnSpc>
            </a:pPr>
            <a:r>
              <a:rPr lang="en-US" sz="2251" b="true">
                <a:solidFill>
                  <a:srgbClr val="121F37"/>
                </a:solidFill>
                <a:latin typeface="Aptos Bold"/>
                <a:ea typeface="Aptos Bold"/>
                <a:cs typeface="Aptos Bold"/>
                <a:sym typeface="Aptos Bold"/>
              </a:rPr>
              <a:t>Dataset size</a:t>
            </a:r>
          </a:p>
        </p:txBody>
      </p:sp>
      <p:sp>
        <p:nvSpPr>
          <p:cNvPr name="TextBox 16" id="16"/>
          <p:cNvSpPr txBox="true"/>
          <p:nvPr/>
        </p:nvSpPr>
        <p:spPr>
          <a:xfrm rot="0">
            <a:off x="1285665" y="8721014"/>
            <a:ext cx="4415571" cy="183090"/>
          </a:xfrm>
          <a:prstGeom prst="rect">
            <a:avLst/>
          </a:prstGeom>
        </p:spPr>
        <p:txBody>
          <a:bodyPr anchor="t" rtlCol="false" tIns="0" lIns="0" bIns="0" rIns="0">
            <a:spAutoFit/>
          </a:bodyPr>
          <a:lstStyle/>
          <a:p>
            <a:pPr algn="l">
              <a:lnSpc>
                <a:spcPts val="2071"/>
              </a:lnSpc>
            </a:pPr>
            <a:r>
              <a:rPr lang="en-US" sz="1726">
                <a:solidFill>
                  <a:srgbClr val="273140"/>
                </a:solidFill>
                <a:latin typeface="Aptos"/>
                <a:ea typeface="Aptos"/>
                <a:cs typeface="Aptos"/>
                <a:sym typeface="Aptos"/>
              </a:rPr>
              <a:t>6 records are currently entered; the program can store up to 100.</a:t>
            </a:r>
          </a:p>
        </p:txBody>
      </p:sp>
      <p:grpSp>
        <p:nvGrpSpPr>
          <p:cNvPr name="Group 17" id="17"/>
          <p:cNvGrpSpPr/>
          <p:nvPr/>
        </p:nvGrpSpPr>
        <p:grpSpPr>
          <a:xfrm rot="0">
            <a:off x="6554229" y="7817082"/>
            <a:ext cx="5161817" cy="1318336"/>
            <a:chOff x="0" y="0"/>
            <a:chExt cx="6882422" cy="1757782"/>
          </a:xfrm>
        </p:grpSpPr>
        <p:sp>
          <p:nvSpPr>
            <p:cNvPr name="Freeform 18" id="18"/>
            <p:cNvSpPr/>
            <p:nvPr/>
          </p:nvSpPr>
          <p:spPr>
            <a:xfrm flipH="false" flipV="false" rot="0">
              <a:off x="0" y="0"/>
              <a:ext cx="6882384" cy="1757807"/>
            </a:xfrm>
            <a:custGeom>
              <a:avLst/>
              <a:gdLst/>
              <a:ahLst/>
              <a:cxnLst/>
              <a:rect r="r" b="b" t="t" l="l"/>
              <a:pathLst>
                <a:path h="1757807" w="6882384">
                  <a:moveTo>
                    <a:pt x="0" y="292989"/>
                  </a:moveTo>
                  <a:cubicBezTo>
                    <a:pt x="0" y="131191"/>
                    <a:pt x="131191" y="0"/>
                    <a:pt x="292989" y="0"/>
                  </a:cubicBezTo>
                  <a:lnTo>
                    <a:pt x="6589395" y="0"/>
                  </a:lnTo>
                  <a:cubicBezTo>
                    <a:pt x="6751193" y="0"/>
                    <a:pt x="6882384" y="131191"/>
                    <a:pt x="6882384" y="292989"/>
                  </a:cubicBezTo>
                  <a:lnTo>
                    <a:pt x="6882384" y="1464818"/>
                  </a:lnTo>
                  <a:cubicBezTo>
                    <a:pt x="6882384" y="1626616"/>
                    <a:pt x="6751193" y="1757807"/>
                    <a:pt x="6589395" y="1757807"/>
                  </a:cubicBezTo>
                  <a:lnTo>
                    <a:pt x="292989" y="1757807"/>
                  </a:lnTo>
                  <a:cubicBezTo>
                    <a:pt x="131191" y="1757807"/>
                    <a:pt x="0" y="1626616"/>
                    <a:pt x="0" y="1464818"/>
                  </a:cubicBezTo>
                  <a:close/>
                </a:path>
              </a:pathLst>
            </a:custGeom>
            <a:solidFill>
              <a:srgbClr val="F5F8FC"/>
            </a:solidFill>
            <a:ln w="14299" cap="sq">
              <a:solidFill>
                <a:srgbClr val="DEE6F0"/>
              </a:solidFill>
              <a:prstDash val="solid"/>
              <a:miter/>
            </a:ln>
          </p:spPr>
        </p:sp>
      </p:grpSp>
      <p:grpSp>
        <p:nvGrpSpPr>
          <p:cNvPr name="Group 19" id="19"/>
          <p:cNvGrpSpPr/>
          <p:nvPr/>
        </p:nvGrpSpPr>
        <p:grpSpPr>
          <a:xfrm rot="0">
            <a:off x="6561372" y="7824235"/>
            <a:ext cx="96088" cy="1304039"/>
            <a:chOff x="0" y="0"/>
            <a:chExt cx="128118" cy="1738719"/>
          </a:xfrm>
        </p:grpSpPr>
        <p:sp>
          <p:nvSpPr>
            <p:cNvPr name="Freeform 20" id="20"/>
            <p:cNvSpPr/>
            <p:nvPr/>
          </p:nvSpPr>
          <p:spPr>
            <a:xfrm flipH="false" flipV="false" rot="0">
              <a:off x="0" y="0"/>
              <a:ext cx="128143" cy="1738757"/>
            </a:xfrm>
            <a:custGeom>
              <a:avLst/>
              <a:gdLst/>
              <a:ahLst/>
              <a:cxnLst/>
              <a:rect r="r" b="b" t="t" l="l"/>
              <a:pathLst>
                <a:path h="1738757" w="128143">
                  <a:moveTo>
                    <a:pt x="0" y="0"/>
                  </a:moveTo>
                  <a:lnTo>
                    <a:pt x="128143" y="0"/>
                  </a:lnTo>
                  <a:lnTo>
                    <a:pt x="128143" y="1738757"/>
                  </a:lnTo>
                  <a:lnTo>
                    <a:pt x="0" y="1738757"/>
                  </a:lnTo>
                  <a:close/>
                </a:path>
              </a:pathLst>
            </a:custGeom>
            <a:solidFill>
              <a:srgbClr val="EF8F3E"/>
            </a:solidFill>
          </p:spPr>
        </p:sp>
      </p:grpSp>
      <p:sp>
        <p:nvSpPr>
          <p:cNvPr name="TextBox 21" id="21"/>
          <p:cNvSpPr txBox="true"/>
          <p:nvPr/>
        </p:nvSpPr>
        <p:spPr>
          <a:xfrm rot="0">
            <a:off x="6954803" y="8089582"/>
            <a:ext cx="4415571" cy="388991"/>
          </a:xfrm>
          <a:prstGeom prst="rect">
            <a:avLst/>
          </a:prstGeom>
        </p:spPr>
        <p:txBody>
          <a:bodyPr anchor="t" rtlCol="false" tIns="0" lIns="0" bIns="0" rIns="0">
            <a:spAutoFit/>
          </a:bodyPr>
          <a:lstStyle/>
          <a:p>
            <a:pPr algn="l">
              <a:lnSpc>
                <a:spcPts val="2702"/>
              </a:lnSpc>
            </a:pPr>
            <a:r>
              <a:rPr lang="en-US" sz="2251" b="true">
                <a:solidFill>
                  <a:srgbClr val="121F37"/>
                </a:solidFill>
                <a:latin typeface="Aptos Bold"/>
                <a:ea typeface="Aptos Bold"/>
                <a:cs typeface="Aptos Bold"/>
                <a:sym typeface="Aptos Bold"/>
              </a:rPr>
              <a:t>Important tie</a:t>
            </a:r>
          </a:p>
        </p:txBody>
      </p:sp>
      <p:sp>
        <p:nvSpPr>
          <p:cNvPr name="TextBox 22" id="22"/>
          <p:cNvSpPr txBox="true"/>
          <p:nvPr/>
        </p:nvSpPr>
        <p:spPr>
          <a:xfrm rot="0">
            <a:off x="6954803" y="8721014"/>
            <a:ext cx="4415571" cy="183090"/>
          </a:xfrm>
          <a:prstGeom prst="rect">
            <a:avLst/>
          </a:prstGeom>
        </p:spPr>
        <p:txBody>
          <a:bodyPr anchor="t" rtlCol="false" tIns="0" lIns="0" bIns="0" rIns="0">
            <a:spAutoFit/>
          </a:bodyPr>
          <a:lstStyle/>
          <a:p>
            <a:pPr algn="l">
              <a:lnSpc>
                <a:spcPts val="2071"/>
              </a:lnSpc>
            </a:pPr>
            <a:r>
              <a:rPr lang="en-US" sz="1726">
                <a:solidFill>
                  <a:srgbClr val="273140"/>
                </a:solidFill>
                <a:latin typeface="Aptos"/>
                <a:ea typeface="Aptos"/>
                <a:cs typeface="Aptos"/>
                <a:sym typeface="Aptos"/>
              </a:rPr>
              <a:t>Aditya and Manav both have 92.0 marks.</a:t>
            </a:r>
          </a:p>
        </p:txBody>
      </p:sp>
      <p:grpSp>
        <p:nvGrpSpPr>
          <p:cNvPr name="Group 23" id="23"/>
          <p:cNvGrpSpPr/>
          <p:nvPr/>
        </p:nvGrpSpPr>
        <p:grpSpPr>
          <a:xfrm rot="0">
            <a:off x="12209631" y="7817082"/>
            <a:ext cx="5161817" cy="1318336"/>
            <a:chOff x="0" y="0"/>
            <a:chExt cx="6882422" cy="1757782"/>
          </a:xfrm>
        </p:grpSpPr>
        <p:sp>
          <p:nvSpPr>
            <p:cNvPr name="Freeform 24" id="24"/>
            <p:cNvSpPr/>
            <p:nvPr/>
          </p:nvSpPr>
          <p:spPr>
            <a:xfrm flipH="false" flipV="false" rot="0">
              <a:off x="0" y="0"/>
              <a:ext cx="6882384" cy="1757807"/>
            </a:xfrm>
            <a:custGeom>
              <a:avLst/>
              <a:gdLst/>
              <a:ahLst/>
              <a:cxnLst/>
              <a:rect r="r" b="b" t="t" l="l"/>
              <a:pathLst>
                <a:path h="1757807" w="6882384">
                  <a:moveTo>
                    <a:pt x="0" y="292989"/>
                  </a:moveTo>
                  <a:cubicBezTo>
                    <a:pt x="0" y="131191"/>
                    <a:pt x="131191" y="0"/>
                    <a:pt x="292989" y="0"/>
                  </a:cubicBezTo>
                  <a:lnTo>
                    <a:pt x="6589395" y="0"/>
                  </a:lnTo>
                  <a:cubicBezTo>
                    <a:pt x="6751193" y="0"/>
                    <a:pt x="6882384" y="131191"/>
                    <a:pt x="6882384" y="292989"/>
                  </a:cubicBezTo>
                  <a:lnTo>
                    <a:pt x="6882384" y="1464818"/>
                  </a:lnTo>
                  <a:cubicBezTo>
                    <a:pt x="6882384" y="1626616"/>
                    <a:pt x="6751193" y="1757807"/>
                    <a:pt x="6589395" y="1757807"/>
                  </a:cubicBezTo>
                  <a:lnTo>
                    <a:pt x="292989" y="1757807"/>
                  </a:lnTo>
                  <a:cubicBezTo>
                    <a:pt x="131191" y="1757807"/>
                    <a:pt x="0" y="1626616"/>
                    <a:pt x="0" y="1464818"/>
                  </a:cubicBezTo>
                  <a:close/>
                </a:path>
              </a:pathLst>
            </a:custGeom>
            <a:solidFill>
              <a:srgbClr val="F5F8FC"/>
            </a:solidFill>
            <a:ln w="14299" cap="sq">
              <a:solidFill>
                <a:srgbClr val="DEE6F0"/>
              </a:solidFill>
              <a:prstDash val="solid"/>
              <a:miter/>
            </a:ln>
          </p:spPr>
        </p:sp>
      </p:grpSp>
      <p:grpSp>
        <p:nvGrpSpPr>
          <p:cNvPr name="Group 25" id="25"/>
          <p:cNvGrpSpPr/>
          <p:nvPr/>
        </p:nvGrpSpPr>
        <p:grpSpPr>
          <a:xfrm rot="0">
            <a:off x="12216784" y="7824235"/>
            <a:ext cx="96088" cy="1304039"/>
            <a:chOff x="0" y="0"/>
            <a:chExt cx="128118" cy="1738719"/>
          </a:xfrm>
        </p:grpSpPr>
        <p:sp>
          <p:nvSpPr>
            <p:cNvPr name="Freeform 26" id="26"/>
            <p:cNvSpPr/>
            <p:nvPr/>
          </p:nvSpPr>
          <p:spPr>
            <a:xfrm flipH="false" flipV="false" rot="0">
              <a:off x="0" y="0"/>
              <a:ext cx="128143" cy="1738757"/>
            </a:xfrm>
            <a:custGeom>
              <a:avLst/>
              <a:gdLst/>
              <a:ahLst/>
              <a:cxnLst/>
              <a:rect r="r" b="b" t="t" l="l"/>
              <a:pathLst>
                <a:path h="1738757" w="128143">
                  <a:moveTo>
                    <a:pt x="0" y="0"/>
                  </a:moveTo>
                  <a:lnTo>
                    <a:pt x="128143" y="0"/>
                  </a:lnTo>
                  <a:lnTo>
                    <a:pt x="128143" y="1738757"/>
                  </a:lnTo>
                  <a:lnTo>
                    <a:pt x="0" y="1738757"/>
                  </a:lnTo>
                  <a:close/>
                </a:path>
              </a:pathLst>
            </a:custGeom>
            <a:solidFill>
              <a:srgbClr val="2B5DA6"/>
            </a:solidFill>
          </p:spPr>
        </p:sp>
      </p:grpSp>
      <p:sp>
        <p:nvSpPr>
          <p:cNvPr name="TextBox 27" id="27"/>
          <p:cNvSpPr txBox="true"/>
          <p:nvPr/>
        </p:nvSpPr>
        <p:spPr>
          <a:xfrm rot="0">
            <a:off x="12610214" y="8089582"/>
            <a:ext cx="4415571" cy="388991"/>
          </a:xfrm>
          <a:prstGeom prst="rect">
            <a:avLst/>
          </a:prstGeom>
        </p:spPr>
        <p:txBody>
          <a:bodyPr anchor="t" rtlCol="false" tIns="0" lIns="0" bIns="0" rIns="0">
            <a:spAutoFit/>
          </a:bodyPr>
          <a:lstStyle/>
          <a:p>
            <a:pPr algn="l">
              <a:lnSpc>
                <a:spcPts val="2702"/>
              </a:lnSpc>
            </a:pPr>
            <a:r>
              <a:rPr lang="en-US" sz="2251" b="true">
                <a:solidFill>
                  <a:srgbClr val="121F37"/>
                </a:solidFill>
                <a:latin typeface="Aptos Bold"/>
                <a:ea typeface="Aptos Bold"/>
                <a:cs typeface="Aptos Bold"/>
                <a:sym typeface="Aptos Bold"/>
              </a:rPr>
              <a:t>Why this matters</a:t>
            </a:r>
          </a:p>
        </p:txBody>
      </p:sp>
      <p:sp>
        <p:nvSpPr>
          <p:cNvPr name="TextBox 28" id="28"/>
          <p:cNvSpPr txBox="true"/>
          <p:nvPr/>
        </p:nvSpPr>
        <p:spPr>
          <a:xfrm rot="0">
            <a:off x="12610214" y="8721014"/>
            <a:ext cx="4415571" cy="183090"/>
          </a:xfrm>
          <a:prstGeom prst="rect">
            <a:avLst/>
          </a:prstGeom>
        </p:spPr>
        <p:txBody>
          <a:bodyPr anchor="t" rtlCol="false" tIns="0" lIns="0" bIns="0" rIns="0">
            <a:spAutoFit/>
          </a:bodyPr>
          <a:lstStyle/>
          <a:p>
            <a:pPr algn="l">
              <a:lnSpc>
                <a:spcPts val="2071"/>
              </a:lnSpc>
            </a:pPr>
            <a:r>
              <a:rPr lang="en-US" sz="1726">
                <a:solidFill>
                  <a:srgbClr val="273140"/>
                </a:solidFill>
                <a:latin typeface="Aptos"/>
                <a:ea typeface="Aptos"/>
                <a:cs typeface="Aptos"/>
                <a:sym typeface="Aptos"/>
              </a:rPr>
              <a:t>The tie is used to demonstrate rank handling.</a:t>
            </a:r>
          </a:p>
        </p:txBody>
      </p:sp>
      <p:grpSp>
        <p:nvGrpSpPr>
          <p:cNvPr name="Group 29" id="29"/>
          <p:cNvGrpSpPr/>
          <p:nvPr/>
        </p:nvGrpSpPr>
        <p:grpSpPr>
          <a:xfrm rot="0">
            <a:off x="892235" y="9800882"/>
            <a:ext cx="16472068" cy="13726"/>
            <a:chOff x="0" y="0"/>
            <a:chExt cx="21962758" cy="18301"/>
          </a:xfrm>
        </p:grpSpPr>
        <p:sp>
          <p:nvSpPr>
            <p:cNvPr name="Freeform 30" id="30"/>
            <p:cNvSpPr/>
            <p:nvPr/>
          </p:nvSpPr>
          <p:spPr>
            <a:xfrm flipH="false" flipV="false" rot="0">
              <a:off x="0" y="0"/>
              <a:ext cx="21962745" cy="18288"/>
            </a:xfrm>
            <a:custGeom>
              <a:avLst/>
              <a:gdLst/>
              <a:ahLst/>
              <a:cxnLst/>
              <a:rect r="r" b="b" t="t" l="l"/>
              <a:pathLst>
                <a:path h="18288" w="21962745">
                  <a:moveTo>
                    <a:pt x="0" y="0"/>
                  </a:moveTo>
                  <a:lnTo>
                    <a:pt x="21962745" y="0"/>
                  </a:lnTo>
                  <a:lnTo>
                    <a:pt x="21962745" y="18288"/>
                  </a:lnTo>
                  <a:lnTo>
                    <a:pt x="0" y="18288"/>
                  </a:lnTo>
                  <a:close/>
                </a:path>
              </a:pathLst>
            </a:custGeom>
            <a:solidFill>
              <a:srgbClr val="DEE6F0"/>
            </a:solidFill>
          </p:spPr>
        </p:sp>
      </p:grpSp>
      <p:sp>
        <p:nvSpPr>
          <p:cNvPr name="TextBox 31" id="31"/>
          <p:cNvSpPr txBox="true"/>
          <p:nvPr/>
        </p:nvSpPr>
        <p:spPr>
          <a:xfrm rot="0">
            <a:off x="983675" y="9915239"/>
            <a:ext cx="10798502" cy="183099"/>
          </a:xfrm>
          <a:prstGeom prst="rect">
            <a:avLst/>
          </a:prstGeom>
        </p:spPr>
        <p:txBody>
          <a:bodyPr anchor="t" rtlCol="false" tIns="0" lIns="0" bIns="0" rIns="0">
            <a:spAutoFit/>
          </a:bodyPr>
          <a:lstStyle/>
          <a:p>
            <a:pPr algn="l">
              <a:lnSpc>
                <a:spcPts val="1441"/>
              </a:lnSpc>
            </a:pPr>
            <a:r>
              <a:rPr lang="en-US" sz="1200">
                <a:solidFill>
                  <a:srgbClr val="667180"/>
                </a:solidFill>
                <a:latin typeface="Aptos"/>
                <a:ea typeface="Aptos"/>
                <a:cs typeface="Aptos"/>
                <a:sym typeface="Aptos"/>
              </a:rPr>
              <a:t>Smart Student Search &amp; Ranking System</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4" id="4"/>
          <p:cNvGrpSpPr/>
          <p:nvPr/>
        </p:nvGrpSpPr>
        <p:grpSpPr>
          <a:xfrm rot="0">
            <a:off x="0" y="0"/>
            <a:ext cx="18301840" cy="178451"/>
            <a:chOff x="0" y="0"/>
            <a:chExt cx="24402453" cy="237934"/>
          </a:xfrm>
        </p:grpSpPr>
        <p:sp>
          <p:nvSpPr>
            <p:cNvPr name="Freeform 5" id="5"/>
            <p:cNvSpPr/>
            <p:nvPr/>
          </p:nvSpPr>
          <p:spPr>
            <a:xfrm flipH="false" flipV="false" rot="0">
              <a:off x="0" y="0"/>
              <a:ext cx="24402414" cy="237871"/>
            </a:xfrm>
            <a:custGeom>
              <a:avLst/>
              <a:gdLst/>
              <a:ahLst/>
              <a:cxnLst/>
              <a:rect r="r" b="b" t="t" l="l"/>
              <a:pathLst>
                <a:path h="237871" w="24402414">
                  <a:moveTo>
                    <a:pt x="0" y="0"/>
                  </a:moveTo>
                  <a:lnTo>
                    <a:pt x="24402414" y="0"/>
                  </a:lnTo>
                  <a:lnTo>
                    <a:pt x="24402414" y="237871"/>
                  </a:lnTo>
                  <a:lnTo>
                    <a:pt x="0" y="237871"/>
                  </a:lnTo>
                  <a:close/>
                </a:path>
              </a:pathLst>
            </a:custGeom>
            <a:solidFill>
              <a:srgbClr val="1A9191"/>
            </a:solidFill>
          </p:spPr>
        </p:sp>
      </p:grpSp>
      <p:sp>
        <p:nvSpPr>
          <p:cNvPr name="TextBox 6" id="6"/>
          <p:cNvSpPr txBox="true"/>
          <p:nvPr/>
        </p:nvSpPr>
        <p:spPr>
          <a:xfrm rot="0">
            <a:off x="983675" y="420548"/>
            <a:ext cx="5994149" cy="329889"/>
          </a:xfrm>
          <a:prstGeom prst="rect">
            <a:avLst/>
          </a:prstGeom>
        </p:spPr>
        <p:txBody>
          <a:bodyPr anchor="t" rtlCol="false" tIns="0" lIns="0" bIns="0" rIns="0">
            <a:spAutoFit/>
          </a:bodyPr>
          <a:lstStyle/>
          <a:p>
            <a:pPr algn="l">
              <a:lnSpc>
                <a:spcPts val="1621"/>
              </a:lnSpc>
            </a:pPr>
            <a:r>
              <a:rPr lang="en-US" sz="1351" b="true">
                <a:solidFill>
                  <a:srgbClr val="1A9191"/>
                </a:solidFill>
                <a:latin typeface="Aptos Bold"/>
                <a:ea typeface="Aptos Bold"/>
                <a:cs typeface="Aptos Bold"/>
                <a:sym typeface="Aptos Bold"/>
              </a:rPr>
              <a:t>DATA EXPLANATION</a:t>
            </a:r>
          </a:p>
        </p:txBody>
      </p:sp>
      <p:sp>
        <p:nvSpPr>
          <p:cNvPr name="TextBox 7" id="7"/>
          <p:cNvSpPr txBox="true"/>
          <p:nvPr/>
        </p:nvSpPr>
        <p:spPr>
          <a:xfrm rot="0">
            <a:off x="16700773" y="420548"/>
            <a:ext cx="572091" cy="329889"/>
          </a:xfrm>
          <a:prstGeom prst="rect">
            <a:avLst/>
          </a:prstGeom>
        </p:spPr>
        <p:txBody>
          <a:bodyPr anchor="t" rtlCol="false" tIns="0" lIns="0" bIns="0" rIns="0">
            <a:spAutoFit/>
          </a:bodyPr>
          <a:lstStyle/>
          <a:p>
            <a:pPr algn="r">
              <a:lnSpc>
                <a:spcPts val="1621"/>
              </a:lnSpc>
            </a:pPr>
            <a:r>
              <a:rPr lang="en-US" sz="1351" b="true">
                <a:solidFill>
                  <a:srgbClr val="667180"/>
                </a:solidFill>
                <a:latin typeface="Aptos Bold"/>
                <a:ea typeface="Aptos Bold"/>
                <a:cs typeface="Aptos Bold"/>
                <a:sym typeface="Aptos Bold"/>
              </a:rPr>
              <a:t>12</a:t>
            </a:r>
          </a:p>
        </p:txBody>
      </p:sp>
      <p:sp>
        <p:nvSpPr>
          <p:cNvPr name="TextBox 8" id="8"/>
          <p:cNvSpPr txBox="true"/>
          <p:nvPr/>
        </p:nvSpPr>
        <p:spPr>
          <a:xfrm rot="0">
            <a:off x="983675" y="1034044"/>
            <a:ext cx="16289188" cy="663531"/>
          </a:xfrm>
          <a:prstGeom prst="rect">
            <a:avLst/>
          </a:prstGeom>
        </p:spPr>
        <p:txBody>
          <a:bodyPr anchor="t" rtlCol="false" tIns="0" lIns="0" bIns="0" rIns="0">
            <a:spAutoFit/>
          </a:bodyPr>
          <a:lstStyle/>
          <a:p>
            <a:pPr algn="l">
              <a:lnSpc>
                <a:spcPts val="5043"/>
              </a:lnSpc>
            </a:pPr>
            <a:r>
              <a:rPr lang="en-US" sz="4203" b="true">
                <a:solidFill>
                  <a:srgbClr val="121F37"/>
                </a:solidFill>
                <a:latin typeface="Aptos Bold"/>
                <a:ea typeface="Aptos Bold"/>
                <a:cs typeface="Aptos Bold"/>
                <a:sym typeface="Aptos Bold"/>
              </a:rPr>
              <a:t>How to Read the Algorithm Results</a:t>
            </a:r>
          </a:p>
        </p:txBody>
      </p:sp>
      <p:sp>
        <p:nvSpPr>
          <p:cNvPr name="TextBox 9" id="9"/>
          <p:cNvSpPr txBox="true"/>
          <p:nvPr/>
        </p:nvSpPr>
        <p:spPr>
          <a:xfrm rot="0">
            <a:off x="1011126" y="1967465"/>
            <a:ext cx="15877384" cy="457629"/>
          </a:xfrm>
          <a:prstGeom prst="rect">
            <a:avLst/>
          </a:prstGeom>
        </p:spPr>
        <p:txBody>
          <a:bodyPr anchor="t" rtlCol="false" tIns="0" lIns="0" bIns="0" rIns="0">
            <a:spAutoFit/>
          </a:bodyPr>
          <a:lstStyle/>
          <a:p>
            <a:pPr algn="l">
              <a:lnSpc>
                <a:spcPts val="2251"/>
              </a:lnSpc>
            </a:pPr>
            <a:r>
              <a:rPr lang="en-US" sz="1876">
                <a:solidFill>
                  <a:srgbClr val="667180"/>
                </a:solidFill>
                <a:latin typeface="Aptos"/>
                <a:ea typeface="Aptos"/>
                <a:cs typeface="Aptos"/>
                <a:sym typeface="Aptos"/>
              </a:rPr>
              <a:t>The numbers help us connect Big-O complexity with the amount of work observed during actual runs.</a:t>
            </a:r>
          </a:p>
        </p:txBody>
      </p:sp>
      <p:graphicFrame>
        <p:nvGraphicFramePr>
          <p:cNvPr name="Table 10" id="10"/>
          <p:cNvGraphicFramePr>
            <a:graphicFrameLocks noGrp="true"/>
          </p:cNvGraphicFramePr>
          <p:nvPr/>
        </p:nvGraphicFramePr>
        <p:xfrm>
          <a:off x="892237" y="2470810"/>
          <a:ext cx="16453004" cy="5948247"/>
        </p:xfrm>
        <a:graphic>
          <a:graphicData uri="http://schemas.openxmlformats.org/drawingml/2006/table">
            <a:tbl>
              <a:tblPr/>
              <a:tblGrid>
                <a:gridCol w="2742167"/>
                <a:gridCol w="4250359"/>
                <a:gridCol w="9460477"/>
              </a:tblGrid>
              <a:tr h="743530">
                <a:tc>
                  <a:txBody>
                    <a:bodyPr anchor="t" rtlCol="false"/>
                    <a:lstStyle/>
                    <a:p>
                      <a:pPr algn="ctr">
                        <a:lnSpc>
                          <a:spcPts val="1891"/>
                        </a:lnSpc>
                        <a:defRPr/>
                      </a:pPr>
                      <a:r>
                        <a:rPr lang="en-US" sz="1576" b="true">
                          <a:solidFill>
                            <a:srgbClr val="FFFFFF"/>
                          </a:solidFill>
                          <a:latin typeface="Aptos Bold"/>
                          <a:ea typeface="Aptos Bold"/>
                          <a:cs typeface="Aptos Bold"/>
                          <a:sym typeface="Aptos Bold"/>
                        </a:rPr>
                        <a:t>Operation</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21F37"/>
                    </a:solidFill>
                  </a:tcPr>
                </a:tc>
                <a:tc>
                  <a:txBody>
                    <a:bodyPr anchor="t" rtlCol="false"/>
                    <a:lstStyle/>
                    <a:p>
                      <a:pPr algn="ctr">
                        <a:lnSpc>
                          <a:spcPts val="1891"/>
                        </a:lnSpc>
                        <a:defRPr/>
                      </a:pPr>
                      <a:r>
                        <a:rPr lang="en-US" sz="1576" b="true">
                          <a:solidFill>
                            <a:srgbClr val="FFFFFF"/>
                          </a:solidFill>
                          <a:latin typeface="Aptos Bold"/>
                          <a:ea typeface="Aptos Bold"/>
                          <a:cs typeface="Aptos Bold"/>
                          <a:sym typeface="Aptos Bold"/>
                        </a:rPr>
                        <a:t>Observed / stated result</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21F37"/>
                    </a:solidFill>
                  </a:tcPr>
                </a:tc>
                <a:tc>
                  <a:txBody>
                    <a:bodyPr anchor="t" rtlCol="false"/>
                    <a:lstStyle/>
                    <a:p>
                      <a:pPr algn="ctr">
                        <a:lnSpc>
                          <a:spcPts val="1891"/>
                        </a:lnSpc>
                        <a:defRPr/>
                      </a:pPr>
                      <a:r>
                        <a:rPr lang="en-US" sz="1576" b="true">
                          <a:solidFill>
                            <a:srgbClr val="FFFFFF"/>
                          </a:solidFill>
                          <a:latin typeface="Aptos Bold"/>
                          <a:ea typeface="Aptos Bold"/>
                          <a:cs typeface="Aptos Bold"/>
                          <a:sym typeface="Aptos Bold"/>
                        </a:rPr>
                        <a:t>What it tells us</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21F37"/>
                    </a:solidFill>
                  </a:tcPr>
                </a:tc>
              </a:tr>
              <a:tr h="743530">
                <a:tc>
                  <a:txBody>
                    <a:bodyPr anchor="t" rtlCol="false"/>
                    <a:lstStyle/>
                    <a:p>
                      <a:pPr algn="ctr">
                        <a:lnSpc>
                          <a:spcPts val="1891"/>
                        </a:lnSpc>
                        <a:defRPr/>
                      </a:pPr>
                      <a:r>
                        <a:rPr lang="en-US" sz="1576">
                          <a:solidFill>
                            <a:srgbClr val="273140"/>
                          </a:solidFill>
                          <a:latin typeface="Aptos"/>
                          <a:ea typeface="Aptos"/>
                          <a:cs typeface="Aptos"/>
                          <a:sym typeface="Aptos"/>
                        </a:rPr>
                        <a:t>Linear Search</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ID 103 → 3 comparisons</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Checks records sequentially</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43530">
                <a:tc>
                  <a:txBody>
                    <a:bodyPr anchor="t" rtlCol="false"/>
                    <a:lstStyle/>
                    <a:p>
                      <a:pPr algn="ctr">
                        <a:lnSpc>
                          <a:spcPts val="1891"/>
                        </a:lnSpc>
                        <a:defRPr/>
                      </a:pPr>
                      <a:r>
                        <a:rPr lang="en-US" sz="1576">
                          <a:solidFill>
                            <a:srgbClr val="273140"/>
                          </a:solidFill>
                          <a:latin typeface="Aptos"/>
                          <a:ea typeface="Aptos"/>
                          <a:cs typeface="Aptos"/>
                          <a:sym typeface="Aptos"/>
                        </a:rPr>
                        <a:t>Binary Search</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ID 103 → 1 comparison</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Can eliminate half the range each step</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r>
              <a:tr h="743530">
                <a:tc>
                  <a:txBody>
                    <a:bodyPr anchor="t" rtlCol="false"/>
                    <a:lstStyle/>
                    <a:p>
                      <a:pPr algn="ctr">
                        <a:lnSpc>
                          <a:spcPts val="1891"/>
                        </a:lnSpc>
                        <a:defRPr/>
                      </a:pPr>
                      <a:r>
                        <a:rPr lang="en-US" sz="1576">
                          <a:solidFill>
                            <a:srgbClr val="273140"/>
                          </a:solidFill>
                          <a:latin typeface="Aptos"/>
                          <a:ea typeface="Aptos"/>
                          <a:cs typeface="Aptos"/>
                          <a:sym typeface="Aptos"/>
                        </a:rPr>
                        <a:t>Bubble Sort</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 5,000 comparisons / 100 records</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Quadratic growth becomes expensive</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43530">
                <a:tc>
                  <a:txBody>
                    <a:bodyPr anchor="t" rtlCol="false"/>
                    <a:lstStyle/>
                    <a:p>
                      <a:pPr algn="ctr">
                        <a:lnSpc>
                          <a:spcPts val="1891"/>
                        </a:lnSpc>
                        <a:defRPr/>
                      </a:pPr>
                      <a:r>
                        <a:rPr lang="en-US" sz="1576">
                          <a:solidFill>
                            <a:srgbClr val="273140"/>
                          </a:solidFill>
                          <a:latin typeface="Aptos"/>
                          <a:ea typeface="Aptos"/>
                          <a:cs typeface="Aptos"/>
                          <a:sym typeface="Aptos"/>
                        </a:rPr>
                        <a:t>Selection Sort</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 5,000 comparisons / 100 records</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Also performs many pairwise checks</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r>
              <a:tr h="743530">
                <a:tc>
                  <a:txBody>
                    <a:bodyPr anchor="t" rtlCol="false"/>
                    <a:lstStyle/>
                    <a:p>
                      <a:pPr algn="ctr">
                        <a:lnSpc>
                          <a:spcPts val="1891"/>
                        </a:lnSpc>
                        <a:defRPr/>
                      </a:pPr>
                      <a:r>
                        <a:rPr lang="en-US" sz="1576">
                          <a:solidFill>
                            <a:srgbClr val="273140"/>
                          </a:solidFill>
                          <a:latin typeface="Aptos"/>
                          <a:ea typeface="Aptos"/>
                          <a:cs typeface="Aptos"/>
                          <a:sym typeface="Aptos"/>
                        </a:rPr>
                        <a:t>Merge Sort</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 550–600 comparisons</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Scales much better for larger n</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43530">
                <a:tc>
                  <a:txBody>
                    <a:bodyPr anchor="t" rtlCol="false"/>
                    <a:lstStyle/>
                    <a:p>
                      <a:pPr algn="ctr">
                        <a:lnSpc>
                          <a:spcPts val="1891"/>
                        </a:lnSpc>
                        <a:defRPr/>
                      </a:pPr>
                      <a:r>
                        <a:rPr lang="en-US" sz="1576">
                          <a:solidFill>
                            <a:srgbClr val="273140"/>
                          </a:solidFill>
                          <a:latin typeface="Aptos"/>
                          <a:ea typeface="Aptos"/>
                          <a:cs typeface="Aptos"/>
                          <a:sym typeface="Aptos"/>
                        </a:rPr>
                        <a:t>Quick Sort</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 550–600 comparisons</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c>
                  <a:txBody>
                    <a:bodyPr anchor="t" rtlCol="false"/>
                    <a:lstStyle/>
                    <a:p>
                      <a:pPr algn="ctr">
                        <a:lnSpc>
                          <a:spcPts val="1891"/>
                        </a:lnSpc>
                        <a:defRPr/>
                      </a:pPr>
                      <a:r>
                        <a:rPr lang="en-US" sz="1576">
                          <a:solidFill>
                            <a:srgbClr val="273140"/>
                          </a:solidFill>
                          <a:latin typeface="Aptos"/>
                          <a:ea typeface="Aptos"/>
                          <a:cs typeface="Aptos"/>
                          <a:sym typeface="Aptos"/>
                        </a:rPr>
                        <a:t>Efficient typical behaviour</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C"/>
                    </a:solidFill>
                  </a:tcPr>
                </a:tc>
              </a:tr>
              <a:tr h="743540">
                <a:tc>
                  <a:txBody>
                    <a:bodyPr anchor="t" rtlCol="false"/>
                    <a:lstStyle/>
                    <a:p>
                      <a:pPr algn="ctr">
                        <a:lnSpc>
                          <a:spcPts val="1891"/>
                        </a:lnSpc>
                        <a:defRPr/>
                      </a:pPr>
                      <a:r>
                        <a:rPr lang="en-US" sz="1576">
                          <a:solidFill>
                            <a:srgbClr val="273140"/>
                          </a:solidFill>
                          <a:latin typeface="Aptos"/>
                          <a:ea typeface="Aptos"/>
                          <a:cs typeface="Aptos"/>
                          <a:sym typeface="Aptos"/>
                        </a:rPr>
                        <a:t>Radix Sort</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0 comparisons</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891"/>
                        </a:lnSpc>
                        <a:defRPr/>
                      </a:pPr>
                      <a:r>
                        <a:rPr lang="en-US" sz="1576">
                          <a:solidFill>
                            <a:srgbClr val="273140"/>
                          </a:solidFill>
                          <a:latin typeface="Aptos"/>
                          <a:ea typeface="Aptos"/>
                          <a:cs typeface="Aptos"/>
                          <a:sym typeface="Aptos"/>
                        </a:rPr>
                        <a:t>Orders by digits rather than comparing pairs</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sp>
        <p:nvSpPr>
          <p:cNvPr name="TextBox 11" id="11"/>
          <p:cNvSpPr txBox="true"/>
          <p:nvPr/>
        </p:nvSpPr>
        <p:spPr>
          <a:xfrm rot="0">
            <a:off x="1120940" y="8803367"/>
            <a:ext cx="1189796" cy="320364"/>
          </a:xfrm>
          <a:prstGeom prst="rect">
            <a:avLst/>
          </a:prstGeom>
        </p:spPr>
        <p:txBody>
          <a:bodyPr anchor="t" rtlCol="false" tIns="0" lIns="0" bIns="0" rIns="0">
            <a:spAutoFit/>
          </a:bodyPr>
          <a:lstStyle/>
          <a:p>
            <a:pPr algn="l">
              <a:lnSpc>
                <a:spcPts val="1981"/>
              </a:lnSpc>
            </a:pPr>
            <a:r>
              <a:rPr lang="en-US" sz="1651" b="true">
                <a:solidFill>
                  <a:srgbClr val="1A9191"/>
                </a:solidFill>
                <a:latin typeface="Aptos Bold"/>
                <a:ea typeface="Aptos Bold"/>
                <a:cs typeface="Aptos Bold"/>
                <a:sym typeface="Aptos Bold"/>
              </a:rPr>
              <a:t>Key idea:</a:t>
            </a:r>
          </a:p>
        </p:txBody>
      </p:sp>
      <p:sp>
        <p:nvSpPr>
          <p:cNvPr name="TextBox 12" id="12"/>
          <p:cNvSpPr txBox="true"/>
          <p:nvPr/>
        </p:nvSpPr>
        <p:spPr>
          <a:xfrm rot="0">
            <a:off x="2493616" y="8748465"/>
            <a:ext cx="14504718" cy="485080"/>
          </a:xfrm>
          <a:prstGeom prst="rect">
            <a:avLst/>
          </a:prstGeom>
        </p:spPr>
        <p:txBody>
          <a:bodyPr anchor="t" rtlCol="false" tIns="0" lIns="0" bIns="0" rIns="0">
            <a:spAutoFit/>
          </a:bodyPr>
          <a:lstStyle/>
          <a:p>
            <a:pPr algn="l">
              <a:lnSpc>
                <a:spcPts val="2071"/>
              </a:lnSpc>
            </a:pPr>
            <a:r>
              <a:rPr lang="en-US" sz="1726" b="true">
                <a:solidFill>
                  <a:srgbClr val="121F37"/>
                </a:solidFill>
                <a:latin typeface="Aptos Bold"/>
                <a:ea typeface="Aptos Bold"/>
                <a:cs typeface="Aptos Bold"/>
                <a:sym typeface="Aptos Bold"/>
              </a:rPr>
              <a:t>Big-O gives the expected growth pattern; operation counters show what actually happened on this dataset.</a:t>
            </a:r>
          </a:p>
        </p:txBody>
      </p:sp>
      <p:grpSp>
        <p:nvGrpSpPr>
          <p:cNvPr name="Group 13" id="13"/>
          <p:cNvGrpSpPr/>
          <p:nvPr/>
        </p:nvGrpSpPr>
        <p:grpSpPr>
          <a:xfrm rot="0">
            <a:off x="892235" y="9800882"/>
            <a:ext cx="16472068" cy="13726"/>
            <a:chOff x="0" y="0"/>
            <a:chExt cx="21962758" cy="18301"/>
          </a:xfrm>
        </p:grpSpPr>
        <p:sp>
          <p:nvSpPr>
            <p:cNvPr name="Freeform 14" id="14"/>
            <p:cNvSpPr/>
            <p:nvPr/>
          </p:nvSpPr>
          <p:spPr>
            <a:xfrm flipH="false" flipV="false" rot="0">
              <a:off x="0" y="0"/>
              <a:ext cx="21962745" cy="18288"/>
            </a:xfrm>
            <a:custGeom>
              <a:avLst/>
              <a:gdLst/>
              <a:ahLst/>
              <a:cxnLst/>
              <a:rect r="r" b="b" t="t" l="l"/>
              <a:pathLst>
                <a:path h="18288" w="21962745">
                  <a:moveTo>
                    <a:pt x="0" y="0"/>
                  </a:moveTo>
                  <a:lnTo>
                    <a:pt x="21962745" y="0"/>
                  </a:lnTo>
                  <a:lnTo>
                    <a:pt x="21962745" y="18288"/>
                  </a:lnTo>
                  <a:lnTo>
                    <a:pt x="0" y="18288"/>
                  </a:lnTo>
                  <a:close/>
                </a:path>
              </a:pathLst>
            </a:custGeom>
            <a:solidFill>
              <a:srgbClr val="DEE6F0"/>
            </a:solidFill>
          </p:spPr>
        </p:sp>
      </p:grpSp>
      <p:sp>
        <p:nvSpPr>
          <p:cNvPr name="TextBox 15" id="15"/>
          <p:cNvSpPr txBox="true"/>
          <p:nvPr/>
        </p:nvSpPr>
        <p:spPr>
          <a:xfrm rot="0">
            <a:off x="983675" y="9915239"/>
            <a:ext cx="10798502" cy="183099"/>
          </a:xfrm>
          <a:prstGeom prst="rect">
            <a:avLst/>
          </a:prstGeom>
        </p:spPr>
        <p:txBody>
          <a:bodyPr anchor="t" rtlCol="false" tIns="0" lIns="0" bIns="0" rIns="0">
            <a:spAutoFit/>
          </a:bodyPr>
          <a:lstStyle/>
          <a:p>
            <a:pPr algn="l">
              <a:lnSpc>
                <a:spcPts val="1441"/>
              </a:lnSpc>
            </a:pPr>
            <a:r>
              <a:rPr lang="en-US" sz="1200">
                <a:solidFill>
                  <a:srgbClr val="667180"/>
                </a:solidFill>
                <a:latin typeface="Aptos"/>
                <a:ea typeface="Aptos"/>
                <a:cs typeface="Aptos"/>
                <a:sym typeface="Aptos"/>
              </a:rPr>
              <a:t>Smart Student Search &amp; Ranking System</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4" id="4"/>
          <p:cNvGrpSpPr/>
          <p:nvPr/>
        </p:nvGrpSpPr>
        <p:grpSpPr>
          <a:xfrm rot="0">
            <a:off x="0" y="0"/>
            <a:ext cx="18301840" cy="178451"/>
            <a:chOff x="0" y="0"/>
            <a:chExt cx="24402453" cy="237934"/>
          </a:xfrm>
        </p:grpSpPr>
        <p:sp>
          <p:nvSpPr>
            <p:cNvPr name="Freeform 5" id="5"/>
            <p:cNvSpPr/>
            <p:nvPr/>
          </p:nvSpPr>
          <p:spPr>
            <a:xfrm flipH="false" flipV="false" rot="0">
              <a:off x="0" y="0"/>
              <a:ext cx="24402414" cy="237871"/>
            </a:xfrm>
            <a:custGeom>
              <a:avLst/>
              <a:gdLst/>
              <a:ahLst/>
              <a:cxnLst/>
              <a:rect r="r" b="b" t="t" l="l"/>
              <a:pathLst>
                <a:path h="237871" w="24402414">
                  <a:moveTo>
                    <a:pt x="0" y="0"/>
                  </a:moveTo>
                  <a:lnTo>
                    <a:pt x="24402414" y="0"/>
                  </a:lnTo>
                  <a:lnTo>
                    <a:pt x="24402414" y="237871"/>
                  </a:lnTo>
                  <a:lnTo>
                    <a:pt x="0" y="237871"/>
                  </a:lnTo>
                  <a:close/>
                </a:path>
              </a:pathLst>
            </a:custGeom>
            <a:solidFill>
              <a:srgbClr val="1A9191"/>
            </a:solidFill>
          </p:spPr>
        </p:sp>
      </p:grpSp>
      <p:sp>
        <p:nvSpPr>
          <p:cNvPr name="TextBox 6" id="6"/>
          <p:cNvSpPr txBox="true"/>
          <p:nvPr/>
        </p:nvSpPr>
        <p:spPr>
          <a:xfrm rot="0">
            <a:off x="983675" y="420548"/>
            <a:ext cx="6131414" cy="329889"/>
          </a:xfrm>
          <a:prstGeom prst="rect">
            <a:avLst/>
          </a:prstGeom>
        </p:spPr>
        <p:txBody>
          <a:bodyPr anchor="t" rtlCol="false" tIns="0" lIns="0" bIns="0" rIns="0">
            <a:spAutoFit/>
          </a:bodyPr>
          <a:lstStyle/>
          <a:p>
            <a:pPr algn="l">
              <a:lnSpc>
                <a:spcPts val="1621"/>
              </a:lnSpc>
            </a:pPr>
            <a:r>
              <a:rPr lang="en-US" sz="1351" b="true">
                <a:solidFill>
                  <a:srgbClr val="1A9191"/>
                </a:solidFill>
                <a:latin typeface="Aptos Bold"/>
                <a:ea typeface="Aptos Bold"/>
                <a:cs typeface="Aptos Bold"/>
                <a:sym typeface="Aptos Bold"/>
              </a:rPr>
              <a:t>CONCLUSION</a:t>
            </a:r>
          </a:p>
        </p:txBody>
      </p:sp>
      <p:sp>
        <p:nvSpPr>
          <p:cNvPr name="TextBox 7" id="7"/>
          <p:cNvSpPr txBox="true"/>
          <p:nvPr/>
        </p:nvSpPr>
        <p:spPr>
          <a:xfrm rot="0">
            <a:off x="16700773" y="420548"/>
            <a:ext cx="572091" cy="329889"/>
          </a:xfrm>
          <a:prstGeom prst="rect">
            <a:avLst/>
          </a:prstGeom>
        </p:spPr>
        <p:txBody>
          <a:bodyPr anchor="t" rtlCol="false" tIns="0" lIns="0" bIns="0" rIns="0">
            <a:spAutoFit/>
          </a:bodyPr>
          <a:lstStyle/>
          <a:p>
            <a:pPr algn="r">
              <a:lnSpc>
                <a:spcPts val="1621"/>
              </a:lnSpc>
            </a:pPr>
            <a:r>
              <a:rPr lang="en-US" sz="1351" b="true">
                <a:solidFill>
                  <a:srgbClr val="667180"/>
                </a:solidFill>
                <a:latin typeface="Aptos Bold"/>
                <a:ea typeface="Aptos Bold"/>
                <a:cs typeface="Aptos Bold"/>
                <a:sym typeface="Aptos Bold"/>
              </a:rPr>
              <a:t>10</a:t>
            </a:r>
          </a:p>
        </p:txBody>
      </p:sp>
      <p:sp>
        <p:nvSpPr>
          <p:cNvPr name="TextBox 8" id="8"/>
          <p:cNvSpPr txBox="true"/>
          <p:nvPr/>
        </p:nvSpPr>
        <p:spPr>
          <a:xfrm rot="0">
            <a:off x="983675" y="1034044"/>
            <a:ext cx="16289188" cy="938060"/>
          </a:xfrm>
          <a:prstGeom prst="rect">
            <a:avLst/>
          </a:prstGeom>
        </p:spPr>
        <p:txBody>
          <a:bodyPr anchor="t" rtlCol="false" tIns="0" lIns="0" bIns="0" rIns="0">
            <a:spAutoFit/>
          </a:bodyPr>
          <a:lstStyle/>
          <a:p>
            <a:pPr algn="l">
              <a:lnSpc>
                <a:spcPts val="5043"/>
              </a:lnSpc>
            </a:pPr>
            <a:r>
              <a:rPr lang="en-US" sz="4203" b="true">
                <a:solidFill>
                  <a:srgbClr val="121F37"/>
                </a:solidFill>
                <a:latin typeface="Aptos Bold"/>
                <a:ea typeface="Aptos Bold"/>
                <a:cs typeface="Aptos Bold"/>
                <a:sym typeface="Aptos Bold"/>
              </a:rPr>
              <a:t>Key Results, Limitations &amp; Takeaway</a:t>
            </a:r>
          </a:p>
        </p:txBody>
      </p:sp>
      <p:sp>
        <p:nvSpPr>
          <p:cNvPr name="TextBox 9" id="9"/>
          <p:cNvSpPr txBox="true"/>
          <p:nvPr/>
        </p:nvSpPr>
        <p:spPr>
          <a:xfrm rot="0">
            <a:off x="983675" y="1747942"/>
            <a:ext cx="15877384" cy="567442"/>
          </a:xfrm>
          <a:prstGeom prst="rect">
            <a:avLst/>
          </a:prstGeom>
        </p:spPr>
        <p:txBody>
          <a:bodyPr anchor="t" rtlCol="false" tIns="0" lIns="0" bIns="0" rIns="0">
            <a:spAutoFit/>
          </a:bodyPr>
          <a:lstStyle/>
          <a:p>
            <a:pPr algn="l">
              <a:lnSpc>
                <a:spcPts val="2251"/>
              </a:lnSpc>
            </a:pPr>
            <a:r>
              <a:rPr lang="en-US" sz="1876">
                <a:solidFill>
                  <a:srgbClr val="667180"/>
                </a:solidFill>
                <a:latin typeface="Aptos"/>
                <a:ea typeface="Aptos"/>
                <a:cs typeface="Aptos"/>
                <a:sym typeface="Aptos"/>
              </a:rPr>
              <a:t>A compact project that connects classroom algorithms to measurable program behaviour.</a:t>
            </a:r>
          </a:p>
        </p:txBody>
      </p:sp>
      <p:grpSp>
        <p:nvGrpSpPr>
          <p:cNvPr name="Group 10" id="10"/>
          <p:cNvGrpSpPr/>
          <p:nvPr/>
        </p:nvGrpSpPr>
        <p:grpSpPr>
          <a:xfrm rot="0">
            <a:off x="882701" y="2255377"/>
            <a:ext cx="5235216" cy="4137079"/>
            <a:chOff x="0" y="0"/>
            <a:chExt cx="6980288" cy="5516105"/>
          </a:xfrm>
        </p:grpSpPr>
        <p:sp>
          <p:nvSpPr>
            <p:cNvPr name="Freeform 11" id="11"/>
            <p:cNvSpPr/>
            <p:nvPr/>
          </p:nvSpPr>
          <p:spPr>
            <a:xfrm flipH="false" flipV="false" rot="0">
              <a:off x="0" y="0"/>
              <a:ext cx="6980301" cy="5516118"/>
            </a:xfrm>
            <a:custGeom>
              <a:avLst/>
              <a:gdLst/>
              <a:ahLst/>
              <a:cxnLst/>
              <a:rect r="r" b="b" t="t" l="l"/>
              <a:pathLst>
                <a:path h="5516118" w="6980301">
                  <a:moveTo>
                    <a:pt x="0" y="919353"/>
                  </a:moveTo>
                  <a:cubicBezTo>
                    <a:pt x="0" y="411607"/>
                    <a:pt x="411607" y="0"/>
                    <a:pt x="919353" y="0"/>
                  </a:cubicBezTo>
                  <a:lnTo>
                    <a:pt x="6060948" y="0"/>
                  </a:lnTo>
                  <a:cubicBezTo>
                    <a:pt x="6568694" y="0"/>
                    <a:pt x="6980301" y="411607"/>
                    <a:pt x="6980301" y="919353"/>
                  </a:cubicBezTo>
                  <a:lnTo>
                    <a:pt x="6980301" y="4596765"/>
                  </a:lnTo>
                  <a:cubicBezTo>
                    <a:pt x="6980301" y="5104511"/>
                    <a:pt x="6568694" y="5516118"/>
                    <a:pt x="6060948" y="5516118"/>
                  </a:cubicBezTo>
                  <a:lnTo>
                    <a:pt x="919353" y="5516118"/>
                  </a:lnTo>
                  <a:cubicBezTo>
                    <a:pt x="411607" y="5516118"/>
                    <a:pt x="0" y="5104511"/>
                    <a:pt x="0" y="4596765"/>
                  </a:cubicBezTo>
                  <a:close/>
                </a:path>
              </a:pathLst>
            </a:custGeom>
            <a:solidFill>
              <a:srgbClr val="F5F8FC"/>
            </a:solidFill>
            <a:ln w="19065" cap="sq">
              <a:solidFill>
                <a:srgbClr val="DEE6F0"/>
              </a:solidFill>
              <a:prstDash val="solid"/>
              <a:miter/>
            </a:ln>
          </p:spPr>
        </p:sp>
      </p:grpSp>
      <p:grpSp>
        <p:nvGrpSpPr>
          <p:cNvPr name="Group 12" id="12"/>
          <p:cNvGrpSpPr/>
          <p:nvPr/>
        </p:nvGrpSpPr>
        <p:grpSpPr>
          <a:xfrm rot="0">
            <a:off x="615163" y="2274437"/>
            <a:ext cx="96088" cy="4118019"/>
            <a:chOff x="0" y="0"/>
            <a:chExt cx="128118" cy="5490693"/>
          </a:xfrm>
        </p:grpSpPr>
        <p:sp>
          <p:nvSpPr>
            <p:cNvPr name="Freeform 13" id="13"/>
            <p:cNvSpPr/>
            <p:nvPr/>
          </p:nvSpPr>
          <p:spPr>
            <a:xfrm flipH="false" flipV="false" rot="0">
              <a:off x="0" y="0"/>
              <a:ext cx="128143" cy="5490718"/>
            </a:xfrm>
            <a:custGeom>
              <a:avLst/>
              <a:gdLst/>
              <a:ahLst/>
              <a:cxnLst/>
              <a:rect r="r" b="b" t="t" l="l"/>
              <a:pathLst>
                <a:path h="5490718" w="128143">
                  <a:moveTo>
                    <a:pt x="0" y="0"/>
                  </a:moveTo>
                  <a:lnTo>
                    <a:pt x="128143" y="0"/>
                  </a:lnTo>
                  <a:lnTo>
                    <a:pt x="128143" y="5490718"/>
                  </a:lnTo>
                  <a:lnTo>
                    <a:pt x="0" y="5490718"/>
                  </a:lnTo>
                  <a:close/>
                </a:path>
              </a:pathLst>
            </a:custGeom>
            <a:solidFill>
              <a:srgbClr val="1A9191"/>
            </a:solidFill>
          </p:spPr>
        </p:sp>
      </p:grpSp>
      <p:sp>
        <p:nvSpPr>
          <p:cNvPr name="TextBox 14" id="14"/>
          <p:cNvSpPr txBox="true"/>
          <p:nvPr/>
        </p:nvSpPr>
        <p:spPr>
          <a:xfrm rot="0">
            <a:off x="1285665" y="2543985"/>
            <a:ext cx="4511659" cy="388991"/>
          </a:xfrm>
          <a:prstGeom prst="rect">
            <a:avLst/>
          </a:prstGeom>
        </p:spPr>
        <p:txBody>
          <a:bodyPr anchor="t" rtlCol="false" tIns="0" lIns="0" bIns="0" rIns="0">
            <a:spAutoFit/>
          </a:bodyPr>
          <a:lstStyle/>
          <a:p>
            <a:pPr algn="l">
              <a:lnSpc>
                <a:spcPts val="2882"/>
              </a:lnSpc>
            </a:pPr>
            <a:r>
              <a:rPr lang="en-US" sz="2401" b="true">
                <a:solidFill>
                  <a:srgbClr val="121F37"/>
                </a:solidFill>
                <a:latin typeface="Aptos Bold"/>
                <a:ea typeface="Aptos Bold"/>
                <a:cs typeface="Aptos Bold"/>
                <a:sym typeface="Aptos Bold"/>
              </a:rPr>
              <a:t>Key results</a:t>
            </a:r>
          </a:p>
        </p:txBody>
      </p:sp>
      <p:sp>
        <p:nvSpPr>
          <p:cNvPr name="TextBox 15" id="15"/>
          <p:cNvSpPr txBox="true"/>
          <p:nvPr/>
        </p:nvSpPr>
        <p:spPr>
          <a:xfrm rot="0">
            <a:off x="1285665" y="3161690"/>
            <a:ext cx="4511659" cy="2955893"/>
          </a:xfrm>
          <a:prstGeom prst="rect">
            <a:avLst/>
          </a:prstGeom>
        </p:spPr>
        <p:txBody>
          <a:bodyPr anchor="t" rtlCol="false" tIns="0" lIns="0" bIns="0" rIns="0">
            <a:spAutoFit/>
          </a:bodyPr>
          <a:lstStyle/>
          <a:p>
            <a:pPr algn="l">
              <a:lnSpc>
                <a:spcPts val="2161"/>
              </a:lnSpc>
            </a:pPr>
            <a:r>
              <a:rPr lang="en-US" sz="1801">
                <a:solidFill>
                  <a:srgbClr val="273140"/>
                </a:solidFill>
                <a:latin typeface="Aptos"/>
                <a:ea typeface="Aptos"/>
                <a:cs typeface="Aptos"/>
                <a:sym typeface="Aptos"/>
              </a:rPr>
              <a:t>• Bubble &amp; Selection: ≈ 5,000 comparisons for 100 records</a:t>
            </a:r>
          </a:p>
          <a:p>
            <a:pPr algn="l">
              <a:lnSpc>
                <a:spcPts val="2161"/>
              </a:lnSpc>
            </a:pPr>
            <a:r>
              <a:rPr lang="en-US" sz="1801">
                <a:solidFill>
                  <a:srgbClr val="273140"/>
                </a:solidFill>
                <a:latin typeface="Aptos"/>
                <a:ea typeface="Aptos"/>
                <a:cs typeface="Aptos"/>
                <a:sym typeface="Aptos"/>
              </a:rPr>
              <a:t>• Merge &amp; Quick: ≈ 550–600 comparisons</a:t>
            </a:r>
          </a:p>
          <a:p>
            <a:pPr algn="l">
              <a:lnSpc>
                <a:spcPts val="2161"/>
              </a:lnSpc>
            </a:pPr>
            <a:r>
              <a:rPr lang="en-US" sz="1801">
                <a:solidFill>
                  <a:srgbClr val="273140"/>
                </a:solidFill>
                <a:latin typeface="Aptos"/>
                <a:ea typeface="Aptos"/>
                <a:cs typeface="Aptos"/>
                <a:sym typeface="Aptos"/>
              </a:rPr>
              <a:t>• Binary search example: 1 comparison</a:t>
            </a:r>
          </a:p>
          <a:p>
            <a:pPr algn="l">
              <a:lnSpc>
                <a:spcPts val="2161"/>
              </a:lnSpc>
            </a:pPr>
            <a:r>
              <a:rPr lang="en-US" sz="1801">
                <a:solidFill>
                  <a:srgbClr val="273140"/>
                </a:solidFill>
                <a:latin typeface="Aptos"/>
                <a:ea typeface="Aptos"/>
                <a:cs typeface="Aptos"/>
                <a:sym typeface="Aptos"/>
              </a:rPr>
              <a:t>• Linear search example: 3 comparisons</a:t>
            </a:r>
          </a:p>
          <a:p>
            <a:pPr algn="l">
              <a:lnSpc>
                <a:spcPts val="2161"/>
              </a:lnSpc>
            </a:pPr>
            <a:r>
              <a:rPr lang="en-US" sz="1801">
                <a:solidFill>
                  <a:srgbClr val="273140"/>
                </a:solidFill>
                <a:latin typeface="Aptos"/>
                <a:ea typeface="Aptos"/>
                <a:cs typeface="Aptos"/>
                <a:sym typeface="Aptos"/>
              </a:rPr>
              <a:t>• Radix: 0 comparisons</a:t>
            </a:r>
          </a:p>
        </p:txBody>
      </p:sp>
      <p:grpSp>
        <p:nvGrpSpPr>
          <p:cNvPr name="Group 16" id="16"/>
          <p:cNvGrpSpPr/>
          <p:nvPr/>
        </p:nvGrpSpPr>
        <p:grpSpPr>
          <a:xfrm rot="0">
            <a:off x="6538112" y="2255377"/>
            <a:ext cx="5235216" cy="4137079"/>
            <a:chOff x="0" y="0"/>
            <a:chExt cx="6980288" cy="5516105"/>
          </a:xfrm>
        </p:grpSpPr>
        <p:sp>
          <p:nvSpPr>
            <p:cNvPr name="Freeform 17" id="17"/>
            <p:cNvSpPr/>
            <p:nvPr/>
          </p:nvSpPr>
          <p:spPr>
            <a:xfrm flipH="false" flipV="false" rot="0">
              <a:off x="0" y="0"/>
              <a:ext cx="6980301" cy="5516118"/>
            </a:xfrm>
            <a:custGeom>
              <a:avLst/>
              <a:gdLst/>
              <a:ahLst/>
              <a:cxnLst/>
              <a:rect r="r" b="b" t="t" l="l"/>
              <a:pathLst>
                <a:path h="5516118" w="6980301">
                  <a:moveTo>
                    <a:pt x="0" y="919353"/>
                  </a:moveTo>
                  <a:cubicBezTo>
                    <a:pt x="0" y="411607"/>
                    <a:pt x="411607" y="0"/>
                    <a:pt x="919353" y="0"/>
                  </a:cubicBezTo>
                  <a:lnTo>
                    <a:pt x="6060948" y="0"/>
                  </a:lnTo>
                  <a:cubicBezTo>
                    <a:pt x="6568694" y="0"/>
                    <a:pt x="6980301" y="411607"/>
                    <a:pt x="6980301" y="919353"/>
                  </a:cubicBezTo>
                  <a:lnTo>
                    <a:pt x="6980301" y="4596765"/>
                  </a:lnTo>
                  <a:cubicBezTo>
                    <a:pt x="6980301" y="5104511"/>
                    <a:pt x="6568694" y="5516118"/>
                    <a:pt x="6060948" y="5516118"/>
                  </a:cubicBezTo>
                  <a:lnTo>
                    <a:pt x="919353" y="5516118"/>
                  </a:lnTo>
                  <a:cubicBezTo>
                    <a:pt x="411607" y="5516118"/>
                    <a:pt x="0" y="5104511"/>
                    <a:pt x="0" y="4596765"/>
                  </a:cubicBezTo>
                  <a:close/>
                </a:path>
              </a:pathLst>
            </a:custGeom>
            <a:solidFill>
              <a:srgbClr val="F5F8FC"/>
            </a:solidFill>
            <a:ln w="19065" cap="sq">
              <a:solidFill>
                <a:srgbClr val="DEE6F0"/>
              </a:solidFill>
              <a:prstDash val="solid"/>
              <a:miter/>
            </a:ln>
          </p:spPr>
        </p:sp>
      </p:grpSp>
      <p:grpSp>
        <p:nvGrpSpPr>
          <p:cNvPr name="Group 18" id="18"/>
          <p:cNvGrpSpPr/>
          <p:nvPr/>
        </p:nvGrpSpPr>
        <p:grpSpPr>
          <a:xfrm rot="0">
            <a:off x="6279971" y="2274437"/>
            <a:ext cx="96088" cy="4118019"/>
            <a:chOff x="0" y="0"/>
            <a:chExt cx="128118" cy="5490693"/>
          </a:xfrm>
        </p:grpSpPr>
        <p:sp>
          <p:nvSpPr>
            <p:cNvPr name="Freeform 19" id="19"/>
            <p:cNvSpPr/>
            <p:nvPr/>
          </p:nvSpPr>
          <p:spPr>
            <a:xfrm flipH="false" flipV="false" rot="0">
              <a:off x="0" y="0"/>
              <a:ext cx="128143" cy="5490718"/>
            </a:xfrm>
            <a:custGeom>
              <a:avLst/>
              <a:gdLst/>
              <a:ahLst/>
              <a:cxnLst/>
              <a:rect r="r" b="b" t="t" l="l"/>
              <a:pathLst>
                <a:path h="5490718" w="128143">
                  <a:moveTo>
                    <a:pt x="0" y="0"/>
                  </a:moveTo>
                  <a:lnTo>
                    <a:pt x="128143" y="0"/>
                  </a:lnTo>
                  <a:lnTo>
                    <a:pt x="128143" y="5490718"/>
                  </a:lnTo>
                  <a:lnTo>
                    <a:pt x="0" y="5490718"/>
                  </a:lnTo>
                  <a:close/>
                </a:path>
              </a:pathLst>
            </a:custGeom>
            <a:solidFill>
              <a:srgbClr val="EF8F3E"/>
            </a:solidFill>
          </p:spPr>
        </p:sp>
      </p:grpSp>
      <p:sp>
        <p:nvSpPr>
          <p:cNvPr name="TextBox 20" id="20"/>
          <p:cNvSpPr txBox="true"/>
          <p:nvPr/>
        </p:nvSpPr>
        <p:spPr>
          <a:xfrm rot="0">
            <a:off x="6941077" y="2543985"/>
            <a:ext cx="4511659" cy="388991"/>
          </a:xfrm>
          <a:prstGeom prst="rect">
            <a:avLst/>
          </a:prstGeom>
        </p:spPr>
        <p:txBody>
          <a:bodyPr anchor="t" rtlCol="false" tIns="0" lIns="0" bIns="0" rIns="0">
            <a:spAutoFit/>
          </a:bodyPr>
          <a:lstStyle/>
          <a:p>
            <a:pPr algn="l">
              <a:lnSpc>
                <a:spcPts val="2882"/>
              </a:lnSpc>
            </a:pPr>
            <a:r>
              <a:rPr lang="en-US" sz="2401" b="true">
                <a:solidFill>
                  <a:srgbClr val="121F37"/>
                </a:solidFill>
                <a:latin typeface="Aptos Bold"/>
                <a:ea typeface="Aptos Bold"/>
                <a:cs typeface="Aptos Bold"/>
                <a:sym typeface="Aptos Bold"/>
              </a:rPr>
              <a:t>Limitations</a:t>
            </a:r>
          </a:p>
        </p:txBody>
      </p:sp>
      <p:sp>
        <p:nvSpPr>
          <p:cNvPr name="TextBox 21" id="21"/>
          <p:cNvSpPr txBox="true"/>
          <p:nvPr/>
        </p:nvSpPr>
        <p:spPr>
          <a:xfrm rot="0">
            <a:off x="6941077" y="3161690"/>
            <a:ext cx="4511659" cy="2955893"/>
          </a:xfrm>
          <a:prstGeom prst="rect">
            <a:avLst/>
          </a:prstGeom>
        </p:spPr>
        <p:txBody>
          <a:bodyPr anchor="t" rtlCol="false" tIns="0" lIns="0" bIns="0" rIns="0">
            <a:spAutoFit/>
          </a:bodyPr>
          <a:lstStyle/>
          <a:p>
            <a:pPr algn="l">
              <a:lnSpc>
                <a:spcPts val="2161"/>
              </a:lnSpc>
            </a:pPr>
            <a:r>
              <a:rPr lang="en-US" sz="1801">
                <a:solidFill>
                  <a:srgbClr val="273140"/>
                </a:solidFill>
                <a:latin typeface="Aptos"/>
                <a:ea typeface="Aptos"/>
                <a:cs typeface="Aptos"/>
                <a:sym typeface="Aptos"/>
              </a:rPr>
              <a:t>• Capacity is fixed at 100 students</a:t>
            </a:r>
          </a:p>
          <a:p>
            <a:pPr algn="l">
              <a:lnSpc>
                <a:spcPts val="2161"/>
              </a:lnSpc>
            </a:pPr>
            <a:r>
              <a:rPr lang="en-US" sz="1801">
                <a:solidFill>
                  <a:srgbClr val="273140"/>
                </a:solidFill>
                <a:latin typeface="Aptos"/>
                <a:ea typeface="Aptos"/>
                <a:cs typeface="Aptos"/>
                <a:sym typeface="Aptos"/>
              </a:rPr>
              <a:t>• Records are lost when the program exits</a:t>
            </a:r>
          </a:p>
          <a:p>
            <a:pPr algn="l">
              <a:lnSpc>
                <a:spcPts val="2161"/>
              </a:lnSpc>
            </a:pPr>
            <a:r>
              <a:rPr lang="en-US" sz="1801">
                <a:solidFill>
                  <a:srgbClr val="273140"/>
                </a:solidFill>
                <a:latin typeface="Aptos"/>
                <a:ea typeface="Aptos"/>
                <a:cs typeface="Aptos"/>
                <a:sym typeface="Aptos"/>
              </a:rPr>
              <a:t>• Search is by ID only</a:t>
            </a:r>
          </a:p>
          <a:p>
            <a:pPr algn="l">
              <a:lnSpc>
                <a:spcPts val="2161"/>
              </a:lnSpc>
            </a:pPr>
            <a:r>
              <a:rPr lang="en-US" sz="1801">
                <a:solidFill>
                  <a:srgbClr val="273140"/>
                </a:solidFill>
                <a:latin typeface="Aptos"/>
                <a:ea typeface="Aptos"/>
                <a:cs typeface="Aptos"/>
                <a:sym typeface="Aptos"/>
              </a:rPr>
              <a:t>• Console interface only</a:t>
            </a:r>
          </a:p>
        </p:txBody>
      </p:sp>
      <p:grpSp>
        <p:nvGrpSpPr>
          <p:cNvPr name="Group 22" id="22"/>
          <p:cNvGrpSpPr/>
          <p:nvPr/>
        </p:nvGrpSpPr>
        <p:grpSpPr>
          <a:xfrm rot="0">
            <a:off x="12207250" y="2255377"/>
            <a:ext cx="5166589" cy="4137079"/>
            <a:chOff x="0" y="0"/>
            <a:chExt cx="6888785" cy="5516105"/>
          </a:xfrm>
        </p:grpSpPr>
        <p:sp>
          <p:nvSpPr>
            <p:cNvPr name="Freeform 23" id="23"/>
            <p:cNvSpPr/>
            <p:nvPr/>
          </p:nvSpPr>
          <p:spPr>
            <a:xfrm flipH="false" flipV="false" rot="0">
              <a:off x="0" y="0"/>
              <a:ext cx="6888734" cy="5516118"/>
            </a:xfrm>
            <a:custGeom>
              <a:avLst/>
              <a:gdLst/>
              <a:ahLst/>
              <a:cxnLst/>
              <a:rect r="r" b="b" t="t" l="l"/>
              <a:pathLst>
                <a:path h="5516118" w="6888734">
                  <a:moveTo>
                    <a:pt x="0" y="919353"/>
                  </a:moveTo>
                  <a:cubicBezTo>
                    <a:pt x="0" y="411607"/>
                    <a:pt x="411607" y="0"/>
                    <a:pt x="919353" y="0"/>
                  </a:cubicBezTo>
                  <a:lnTo>
                    <a:pt x="5969381" y="0"/>
                  </a:lnTo>
                  <a:cubicBezTo>
                    <a:pt x="6477127" y="0"/>
                    <a:pt x="6888734" y="411607"/>
                    <a:pt x="6888734" y="919353"/>
                  </a:cubicBezTo>
                  <a:lnTo>
                    <a:pt x="6888734" y="4596765"/>
                  </a:lnTo>
                  <a:cubicBezTo>
                    <a:pt x="6888734" y="5104511"/>
                    <a:pt x="6477127" y="5516118"/>
                    <a:pt x="5969381" y="5516118"/>
                  </a:cubicBezTo>
                  <a:lnTo>
                    <a:pt x="919353" y="5516118"/>
                  </a:lnTo>
                  <a:cubicBezTo>
                    <a:pt x="411607" y="5516118"/>
                    <a:pt x="0" y="5104511"/>
                    <a:pt x="0" y="4596765"/>
                  </a:cubicBezTo>
                  <a:close/>
                </a:path>
              </a:pathLst>
            </a:custGeom>
            <a:solidFill>
              <a:srgbClr val="F5F8FC"/>
            </a:solidFill>
            <a:ln w="19065" cap="sq">
              <a:solidFill>
                <a:srgbClr val="DEE6F0"/>
              </a:solidFill>
              <a:prstDash val="solid"/>
              <a:miter/>
            </a:ln>
          </p:spPr>
        </p:sp>
      </p:grpSp>
      <p:grpSp>
        <p:nvGrpSpPr>
          <p:cNvPr name="Group 24" id="24"/>
          <p:cNvGrpSpPr/>
          <p:nvPr/>
        </p:nvGrpSpPr>
        <p:grpSpPr>
          <a:xfrm rot="0">
            <a:off x="11942245" y="2251186"/>
            <a:ext cx="96088" cy="4118019"/>
            <a:chOff x="0" y="0"/>
            <a:chExt cx="128118" cy="5490693"/>
          </a:xfrm>
        </p:grpSpPr>
        <p:sp>
          <p:nvSpPr>
            <p:cNvPr name="Freeform 25" id="25"/>
            <p:cNvSpPr/>
            <p:nvPr/>
          </p:nvSpPr>
          <p:spPr>
            <a:xfrm flipH="false" flipV="false" rot="0">
              <a:off x="0" y="0"/>
              <a:ext cx="128143" cy="5490718"/>
            </a:xfrm>
            <a:custGeom>
              <a:avLst/>
              <a:gdLst/>
              <a:ahLst/>
              <a:cxnLst/>
              <a:rect r="r" b="b" t="t" l="l"/>
              <a:pathLst>
                <a:path h="5490718" w="128143">
                  <a:moveTo>
                    <a:pt x="0" y="0"/>
                  </a:moveTo>
                  <a:lnTo>
                    <a:pt x="128143" y="0"/>
                  </a:lnTo>
                  <a:lnTo>
                    <a:pt x="128143" y="5490718"/>
                  </a:lnTo>
                  <a:lnTo>
                    <a:pt x="0" y="5490718"/>
                  </a:lnTo>
                  <a:close/>
                </a:path>
              </a:pathLst>
            </a:custGeom>
            <a:solidFill>
              <a:srgbClr val="2B5DA6"/>
            </a:solidFill>
          </p:spPr>
        </p:sp>
      </p:grpSp>
      <p:sp>
        <p:nvSpPr>
          <p:cNvPr name="TextBox 26" id="26"/>
          <p:cNvSpPr txBox="true"/>
          <p:nvPr/>
        </p:nvSpPr>
        <p:spPr>
          <a:xfrm rot="0">
            <a:off x="12610214" y="2543985"/>
            <a:ext cx="4443022" cy="388991"/>
          </a:xfrm>
          <a:prstGeom prst="rect">
            <a:avLst/>
          </a:prstGeom>
        </p:spPr>
        <p:txBody>
          <a:bodyPr anchor="t" rtlCol="false" tIns="0" lIns="0" bIns="0" rIns="0">
            <a:spAutoFit/>
          </a:bodyPr>
          <a:lstStyle/>
          <a:p>
            <a:pPr algn="l">
              <a:lnSpc>
                <a:spcPts val="2882"/>
              </a:lnSpc>
            </a:pPr>
            <a:r>
              <a:rPr lang="en-US" sz="2401" b="true">
                <a:solidFill>
                  <a:srgbClr val="121F37"/>
                </a:solidFill>
                <a:latin typeface="Aptos Bold"/>
                <a:ea typeface="Aptos Bold"/>
                <a:cs typeface="Aptos Bold"/>
                <a:sym typeface="Aptos Bold"/>
              </a:rPr>
              <a:t>What we demonstrated</a:t>
            </a:r>
          </a:p>
        </p:txBody>
      </p:sp>
      <p:sp>
        <p:nvSpPr>
          <p:cNvPr name="TextBox 27" id="27"/>
          <p:cNvSpPr txBox="true"/>
          <p:nvPr/>
        </p:nvSpPr>
        <p:spPr>
          <a:xfrm rot="0">
            <a:off x="12610214" y="3161690"/>
            <a:ext cx="4443022" cy="2955893"/>
          </a:xfrm>
          <a:prstGeom prst="rect">
            <a:avLst/>
          </a:prstGeom>
        </p:spPr>
        <p:txBody>
          <a:bodyPr anchor="t" rtlCol="false" tIns="0" lIns="0" bIns="0" rIns="0">
            <a:spAutoFit/>
          </a:bodyPr>
          <a:lstStyle/>
          <a:p>
            <a:pPr algn="l">
              <a:lnSpc>
                <a:spcPts val="2161"/>
              </a:lnSpc>
            </a:pPr>
            <a:r>
              <a:rPr lang="en-US" sz="1801">
                <a:solidFill>
                  <a:srgbClr val="273140"/>
                </a:solidFill>
                <a:latin typeface="Aptos"/>
                <a:ea typeface="Aptos"/>
                <a:cs typeface="Aptos"/>
                <a:sym typeface="Aptos"/>
              </a:rPr>
              <a:t>• Structures &amp; arrays</a:t>
            </a:r>
          </a:p>
          <a:p>
            <a:pPr algn="l">
              <a:lnSpc>
                <a:spcPts val="2161"/>
              </a:lnSpc>
            </a:pPr>
            <a:r>
              <a:rPr lang="en-US" sz="1801">
                <a:solidFill>
                  <a:srgbClr val="273140"/>
                </a:solidFill>
                <a:latin typeface="Aptos"/>
                <a:ea typeface="Aptos"/>
                <a:cs typeface="Aptos"/>
                <a:sym typeface="Aptos"/>
              </a:rPr>
              <a:t>• Big-O thinking</a:t>
            </a:r>
          </a:p>
          <a:p>
            <a:pPr algn="l">
              <a:lnSpc>
                <a:spcPts val="2161"/>
              </a:lnSpc>
            </a:pPr>
            <a:r>
              <a:rPr lang="en-US" sz="1801">
                <a:solidFill>
                  <a:srgbClr val="273140"/>
                </a:solidFill>
                <a:latin typeface="Aptos"/>
                <a:ea typeface="Aptos"/>
                <a:cs typeface="Aptos"/>
                <a:sym typeface="Aptos"/>
              </a:rPr>
              <a:t>• 4 searching methods</a:t>
            </a:r>
          </a:p>
          <a:p>
            <a:pPr algn="l">
              <a:lnSpc>
                <a:spcPts val="2161"/>
              </a:lnSpc>
            </a:pPr>
            <a:r>
              <a:rPr lang="en-US" sz="1801">
                <a:solidFill>
                  <a:srgbClr val="273140"/>
                </a:solidFill>
                <a:latin typeface="Aptos"/>
                <a:ea typeface="Aptos"/>
                <a:cs typeface="Aptos"/>
                <a:sym typeface="Aptos"/>
              </a:rPr>
              <a:t>• 8 sorting methods</a:t>
            </a:r>
          </a:p>
          <a:p>
            <a:pPr algn="l">
              <a:lnSpc>
                <a:spcPts val="2161"/>
              </a:lnSpc>
            </a:pPr>
            <a:r>
              <a:rPr lang="en-US" sz="1801">
                <a:solidFill>
                  <a:srgbClr val="273140"/>
                </a:solidFill>
                <a:latin typeface="Aptos"/>
                <a:ea typeface="Aptos"/>
                <a:cs typeface="Aptos"/>
                <a:sym typeface="Aptos"/>
              </a:rPr>
              <a:t>• Ranking with ties</a:t>
            </a:r>
          </a:p>
          <a:p>
            <a:pPr algn="l">
              <a:lnSpc>
                <a:spcPts val="2161"/>
              </a:lnSpc>
            </a:pPr>
            <a:r>
              <a:rPr lang="en-US" sz="1801">
                <a:solidFill>
                  <a:srgbClr val="273140"/>
                </a:solidFill>
                <a:latin typeface="Aptos"/>
                <a:ea typeface="Aptos"/>
                <a:cs typeface="Aptos"/>
                <a:sym typeface="Aptos"/>
              </a:rPr>
              <a:t>• Real operation counts &amp; timing</a:t>
            </a:r>
          </a:p>
          <a:p>
            <a:pPr algn="l">
              <a:lnSpc>
                <a:spcPts val="2161"/>
              </a:lnSpc>
            </a:pPr>
            <a:r>
              <a:rPr lang="en-US" sz="1801">
                <a:solidFill>
                  <a:srgbClr val="273140"/>
                </a:solidFill>
                <a:latin typeface="Aptos"/>
                <a:ea typeface="Aptos"/>
                <a:cs typeface="Aptos"/>
                <a:sym typeface="Aptos"/>
              </a:rPr>
              <a:t>• Modular C programming</a:t>
            </a:r>
          </a:p>
        </p:txBody>
      </p:sp>
      <p:grpSp>
        <p:nvGrpSpPr>
          <p:cNvPr name="Group 28" id="28"/>
          <p:cNvGrpSpPr/>
          <p:nvPr/>
        </p:nvGrpSpPr>
        <p:grpSpPr>
          <a:xfrm rot="0">
            <a:off x="1166774" y="7137892"/>
            <a:ext cx="15991637" cy="1509941"/>
            <a:chOff x="0" y="0"/>
            <a:chExt cx="21322182" cy="2013255"/>
          </a:xfrm>
        </p:grpSpPr>
        <p:sp>
          <p:nvSpPr>
            <p:cNvPr name="Freeform 29" id="29"/>
            <p:cNvSpPr/>
            <p:nvPr/>
          </p:nvSpPr>
          <p:spPr>
            <a:xfrm flipH="false" flipV="false" rot="0">
              <a:off x="0" y="0"/>
              <a:ext cx="21322157" cy="2013204"/>
            </a:xfrm>
            <a:custGeom>
              <a:avLst/>
              <a:gdLst/>
              <a:ahLst/>
              <a:cxnLst/>
              <a:rect r="r" b="b" t="t" l="l"/>
              <a:pathLst>
                <a:path h="2013204" w="21322157">
                  <a:moveTo>
                    <a:pt x="0" y="335534"/>
                  </a:moveTo>
                  <a:cubicBezTo>
                    <a:pt x="0" y="150241"/>
                    <a:pt x="150241" y="0"/>
                    <a:pt x="335534" y="0"/>
                  </a:cubicBezTo>
                  <a:lnTo>
                    <a:pt x="20986623" y="0"/>
                  </a:lnTo>
                  <a:cubicBezTo>
                    <a:pt x="21171915" y="0"/>
                    <a:pt x="21322157" y="150241"/>
                    <a:pt x="21322157" y="335534"/>
                  </a:cubicBezTo>
                  <a:lnTo>
                    <a:pt x="21322157" y="1677670"/>
                  </a:lnTo>
                  <a:cubicBezTo>
                    <a:pt x="21322157" y="1862963"/>
                    <a:pt x="21171915" y="2013204"/>
                    <a:pt x="20986623" y="2013204"/>
                  </a:cubicBezTo>
                  <a:lnTo>
                    <a:pt x="335534" y="2013204"/>
                  </a:lnTo>
                  <a:cubicBezTo>
                    <a:pt x="150241" y="2013204"/>
                    <a:pt x="0" y="1862963"/>
                    <a:pt x="0" y="1677670"/>
                  </a:cubicBezTo>
                  <a:close/>
                </a:path>
              </a:pathLst>
            </a:custGeom>
            <a:solidFill>
              <a:srgbClr val="121F37"/>
            </a:solidFill>
          </p:spPr>
        </p:sp>
      </p:grpSp>
      <p:sp>
        <p:nvSpPr>
          <p:cNvPr name="TextBox 30" id="30"/>
          <p:cNvSpPr txBox="true"/>
          <p:nvPr/>
        </p:nvSpPr>
        <p:spPr>
          <a:xfrm rot="0">
            <a:off x="1670009" y="7485602"/>
            <a:ext cx="2219296" cy="251727"/>
          </a:xfrm>
          <a:prstGeom prst="rect">
            <a:avLst/>
          </a:prstGeom>
        </p:spPr>
        <p:txBody>
          <a:bodyPr anchor="t" rtlCol="false" tIns="0" lIns="0" bIns="0" rIns="0">
            <a:spAutoFit/>
          </a:bodyPr>
          <a:lstStyle/>
          <a:p>
            <a:pPr algn="l">
              <a:lnSpc>
                <a:spcPts val="1801"/>
              </a:lnSpc>
            </a:pPr>
            <a:r>
              <a:rPr lang="en-US" sz="1501" b="true">
                <a:solidFill>
                  <a:srgbClr val="46B5C4"/>
                </a:solidFill>
                <a:latin typeface="Aptos Bold"/>
                <a:ea typeface="Aptos Bold"/>
                <a:cs typeface="Aptos Bold"/>
                <a:sym typeface="Aptos Bold"/>
              </a:rPr>
              <a:t>ONE-LINE SUMMARY</a:t>
            </a:r>
          </a:p>
        </p:txBody>
      </p:sp>
      <p:sp>
        <p:nvSpPr>
          <p:cNvPr name="TextBox 31" id="31"/>
          <p:cNvSpPr txBox="true"/>
          <p:nvPr/>
        </p:nvSpPr>
        <p:spPr>
          <a:xfrm rot="0">
            <a:off x="3771786" y="7513053"/>
            <a:ext cx="12377071" cy="759619"/>
          </a:xfrm>
          <a:prstGeom prst="rect">
            <a:avLst/>
          </a:prstGeom>
        </p:spPr>
        <p:txBody>
          <a:bodyPr anchor="t" rtlCol="false" tIns="0" lIns="0" bIns="0" rIns="0">
            <a:spAutoFit/>
          </a:bodyPr>
          <a:lstStyle/>
          <a:p>
            <a:pPr algn="l">
              <a:lnSpc>
                <a:spcPts val="2341"/>
              </a:lnSpc>
            </a:pPr>
            <a:r>
              <a:rPr lang="en-US" sz="1951" b="true">
                <a:solidFill>
                  <a:srgbClr val="FFFFFF"/>
                </a:solidFill>
                <a:latin typeface="Aptos Bold"/>
                <a:ea typeface="Aptos Bold"/>
                <a:cs typeface="Aptos Bold"/>
                <a:sym typeface="Aptos Bold"/>
              </a:rPr>
              <a:t>“We built a student record system in C using only arrays and structures, and used it to implement, test and compare 4 searching and 8 sorting algorithms with actual measured results.”</a:t>
            </a:r>
          </a:p>
        </p:txBody>
      </p:sp>
      <p:sp>
        <p:nvSpPr>
          <p:cNvPr name="TextBox 32" id="32"/>
          <p:cNvSpPr txBox="true"/>
          <p:nvPr/>
        </p:nvSpPr>
        <p:spPr>
          <a:xfrm rot="0">
            <a:off x="7366606" y="9036720"/>
            <a:ext cx="3523336" cy="457629"/>
          </a:xfrm>
          <a:prstGeom prst="rect">
            <a:avLst/>
          </a:prstGeom>
        </p:spPr>
        <p:txBody>
          <a:bodyPr anchor="t" rtlCol="false" tIns="0" lIns="0" bIns="0" rIns="0">
            <a:spAutoFit/>
          </a:bodyPr>
          <a:lstStyle/>
          <a:p>
            <a:pPr algn="ctr">
              <a:lnSpc>
                <a:spcPts val="3602"/>
              </a:lnSpc>
            </a:pPr>
            <a:r>
              <a:rPr lang="en-US" sz="3002" b="true">
                <a:solidFill>
                  <a:srgbClr val="121F37"/>
                </a:solidFill>
                <a:latin typeface="Aptos Bold"/>
                <a:ea typeface="Aptos Bold"/>
                <a:cs typeface="Aptos Bold"/>
                <a:sym typeface="Aptos Bold"/>
              </a:rPr>
              <a:t>Thank you</a:t>
            </a:r>
          </a:p>
        </p:txBody>
      </p:sp>
      <p:grpSp>
        <p:nvGrpSpPr>
          <p:cNvPr name="Group 33" id="33"/>
          <p:cNvGrpSpPr/>
          <p:nvPr/>
        </p:nvGrpSpPr>
        <p:grpSpPr>
          <a:xfrm rot="0">
            <a:off x="892235" y="9800882"/>
            <a:ext cx="16472068" cy="13726"/>
            <a:chOff x="0" y="0"/>
            <a:chExt cx="21962758" cy="18301"/>
          </a:xfrm>
        </p:grpSpPr>
        <p:sp>
          <p:nvSpPr>
            <p:cNvPr name="Freeform 34" id="34"/>
            <p:cNvSpPr/>
            <p:nvPr/>
          </p:nvSpPr>
          <p:spPr>
            <a:xfrm flipH="false" flipV="false" rot="0">
              <a:off x="0" y="0"/>
              <a:ext cx="21962745" cy="18288"/>
            </a:xfrm>
            <a:custGeom>
              <a:avLst/>
              <a:gdLst/>
              <a:ahLst/>
              <a:cxnLst/>
              <a:rect r="r" b="b" t="t" l="l"/>
              <a:pathLst>
                <a:path h="18288" w="21962745">
                  <a:moveTo>
                    <a:pt x="0" y="0"/>
                  </a:moveTo>
                  <a:lnTo>
                    <a:pt x="21962745" y="0"/>
                  </a:lnTo>
                  <a:lnTo>
                    <a:pt x="21962745" y="18288"/>
                  </a:lnTo>
                  <a:lnTo>
                    <a:pt x="0" y="18288"/>
                  </a:lnTo>
                  <a:close/>
                </a:path>
              </a:pathLst>
            </a:custGeom>
            <a:solidFill>
              <a:srgbClr val="DEE6F0"/>
            </a:solidFill>
          </p:spPr>
        </p:sp>
      </p:grpSp>
      <p:sp>
        <p:nvSpPr>
          <p:cNvPr name="TextBox 35" id="35"/>
          <p:cNvSpPr txBox="true"/>
          <p:nvPr/>
        </p:nvSpPr>
        <p:spPr>
          <a:xfrm rot="0">
            <a:off x="983675" y="9915239"/>
            <a:ext cx="10798502" cy="183099"/>
          </a:xfrm>
          <a:prstGeom prst="rect">
            <a:avLst/>
          </a:prstGeom>
        </p:spPr>
        <p:txBody>
          <a:bodyPr anchor="t" rtlCol="false" tIns="0" lIns="0" bIns="0" rIns="0">
            <a:spAutoFit/>
          </a:bodyPr>
          <a:lstStyle/>
          <a:p>
            <a:pPr algn="l">
              <a:lnSpc>
                <a:spcPts val="1441"/>
              </a:lnSpc>
            </a:pPr>
            <a:r>
              <a:rPr lang="en-US" sz="1200">
                <a:solidFill>
                  <a:srgbClr val="667180"/>
                </a:solidFill>
                <a:latin typeface="Aptos"/>
                <a:ea typeface="Aptos"/>
                <a:cs typeface="Aptos"/>
                <a:sym typeface="Aptos"/>
              </a:rPr>
              <a:t>Smart Student Search &amp; Ranking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DAHWr7xDwIU</dc:identifier>
  <dcterms:modified xsi:type="dcterms:W3CDTF">2011-08-01T06:04:30Z</dcterms:modified>
  <cp:revision>1</cp:revision>
  <dc:title>Smart_Student_Search_Ranking_System_Canva_Editable_12_Slides.pptx</dc:title>
</cp:coreProperties>
</file>